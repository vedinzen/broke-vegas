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docProps/app.xml" ContentType="application/vnd.openxmlformats-officedocument.extended-properties+xml"/>
  <Override PartName="/ppt/slideLayouts/slideLayout1.xml" ContentType="application/vnd.openxmlformats-officedocument.presentationml.slideLayout+xml"/>
  <Override PartName="/docProps/custom.xml" ContentType="application/vnd.openxmlformats-officedocument.custom-properties+xml"/>
  <Override PartName="/docProps/core.xml" ContentType="application/vnd.openxmlformats-package.core-properties+xml"/>
  <Override PartName="/ppt/slides/slide11.xml" ContentType="application/vnd.openxmlformats-officedocument.presentationml.slide+xml"/>
  <Override PartName="/ppt/theme/theme1.xml" ContentType="application/vnd.openxmlformats-officedocument.theme+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slides/slide7.xml" ContentType="application/vnd.openxmlformats-officedocument.presentationml.slide+xml"/>
  <Override PartName="/ppt/viewProps.xml" ContentType="application/vnd.openxmlformats-officedocument.presentationml.viewProps+xml"/>
  <Override PartName="/ppt/slides/slide10.xml" ContentType="application/vnd.openxmlformats-officedocument.presentationml.slide+xml"/>
  <Override PartName="/ppt/notesMasters/notesMaster1.xml" ContentType="application/vnd.openxmlformats-officedocument.presentationml.notesMaster+xml"/>
  <Override PartName="/ppt/slides/slide12.xml" ContentType="application/vnd.openxmlformats-officedocument.presentationml.slide+xml"/>
  <Override PartName="/ppt/tableStyles.xml" ContentType="application/vnd.openxmlformats-officedocument.presentationml.tableStyle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2.xml" ContentType="application/vnd.openxmlformats-officedocument.theme+xml"/>
  <Override PartName="/ppt/slides/charts/chart1.xml" ContentType="application/vnd.openxmlformats-officedocument.drawingml.chart+xml"/>
</Types>
</file>

<file path=_rels/.rels><?xml version="1.0" encoding="UTF-8" standalone="yes"?><Relationships xmlns="http://schemas.openxmlformats.org/package/2006/relationships"><Relationship Id="rId0" Type="http://schemas.openxmlformats.org/officeDocument/2006/relationships/officeDocument" Target="ppt/presentation.xml" /><Relationship Id="rId2" Type="http://schemas.openxmlformats.org/officeDocument/2006/relationships/extended-properties" Target="docProps/app.xml" /><Relationship Id="rId1" Type="http://schemas.openxmlformats.org/package/2006/relationships/metadata/core-properties" Target="docProps/core.xml" /><Relationship Id="rId3" Type="http://schemas.openxmlformats.org/officeDocument/2006/relationships/custom-properties" Target="docProps/custom.xml" /></Relationships>
</file>

<file path=ppt/presentation.xml><?xml version="1.0" encoding="utf-8"?>
<p:presentation xmlns:p="http://schemas.openxmlformats.org/presentationml/2006/main" xmlns:a="http://schemas.openxmlformats.org/drawingml/2006/main" xmlns:r="http://schemas.openxmlformats.org/officeDocument/2006/relationships" firstSlideNum="1">
  <p:sldMasterIdLst>
    <p:sldMasterId id="2147483648" r:id="rId0"/>
  </p:sldMasterIdLst>
  <p:notesMasterIdLst>
    <p:notesMasterId r:id="rId13"/>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0" Type="http://schemas.openxmlformats.org/officeDocument/2006/relationships/slideMaster" Target="slideMasters/slideMaster1.xml" /><Relationship Id="rId11" Type="http://schemas.openxmlformats.org/officeDocument/2006/relationships/slide" Target="slides/slide11.xml" /><Relationship Id="rId1" Type="http://schemas.openxmlformats.org/officeDocument/2006/relationships/slide" Target="slides/slide1.xml" /><Relationship Id="rId14" Type="http://schemas.openxmlformats.org/officeDocument/2006/relationships/presProps" Target="presProps.xml" /><Relationship Id="rId16" Type="http://schemas.openxmlformats.org/officeDocument/2006/relationships/viewProps" Target="viewProps.xml" /><Relationship Id="rId10" Type="http://schemas.openxmlformats.org/officeDocument/2006/relationships/slide" Target="slides/slide10.xml" /><Relationship Id="rId13" Type="http://schemas.openxmlformats.org/officeDocument/2006/relationships/notesMaster" Target="notesMasters/notesMaster1.xml" /><Relationship Id="rId12" Type="http://schemas.openxmlformats.org/officeDocument/2006/relationships/slide" Target="slides/slide12.xml" /><Relationship Id="rId15" Type="http://schemas.openxmlformats.org/officeDocument/2006/relationships/tableStyles" Target="tableStyles.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theme" Target="../theme/theme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1.png" /></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xml.rels><?xml version="1.0" encoding="UTF-8" standalone="yes"?><Relationships xmlns="http://schemas.openxmlformats.org/package/2006/relationships"><Relationship Id="rId0" Type="http://schemas.openxmlformats.org/officeDocument/2006/relationships/chart" Target="charts/chart1.xml" /><Relationship Id="rId1" Type="http://schemas.openxmlformats.org/officeDocument/2006/relationships/slideLayout" Target="../slideLayouts/slideLayout1.xml" /></Relationships>
</file>

<file path=ppt/slides/_rels/slide4.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5.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6.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7.xml.rels><?xml version="1.0" encoding="UTF-8" standalone="yes"?><Relationships xmlns="http://schemas.openxmlformats.org/package/2006/relationships"><Relationship Id="rId1" Type="http://schemas.openxmlformats.org/officeDocument/2006/relationships/image" Target="media/image2.png" /><Relationship Id="rId0" Type="http://schemas.openxmlformats.org/officeDocument/2006/relationships/slideLayout" Target="../slideLayouts/slideLayout1.xml" /></Relationships>
</file>

<file path=ppt/slides/_rels/slide8.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3.png" /></Relationships>
</file>

<file path=ppt/slides/_rels/slide9.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4.png" /></Relationships>
</file>

<file path=ppt/slides/_rels/slide10.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charts/chart1.xml><?xml version="1.0" encoding="utf-8"?>
<c:chartSpace xmlns:a="http://schemas.openxmlformats.org/drawingml/2006/main" xmlns:c="http://schemas.openxmlformats.org/drawingml/2006/chart">
  <c:chart>
    <c:title>
      <c:tx>
        <c:rich>
          <a:bodyPr/>
          <a:p>
            <a:pPr>
              <a:defRPr sz="1350">
                <a:solidFill>
                  <a:srgbClr val="F7F1E8"/>
                </a:solidFill>
              </a:defRPr>
            </a:pPr>
            <a:r>
              <a:rPr sz="1350">
                <a:solidFill>
                  <a:srgbClr val="F7F1E8"/>
                </a:solidFill>
              </a:rPr>
              <a:t>NEON · mid price, 120 ticks, one meltdown</a:t>
            </a:r>
          </a:p>
        </c:rich>
      </c:tx>
      <c:overlay val="0"/>
      <c:spPr>
        <a:noFill/>
        <a:ln>
          <a:noFill/>
        </a:ln>
        <a:effectLst/>
      </c:spPr>
      <c:txPr>
        <a:bodyPr/>
        <a:p>
          <a:pPr>
            <a:defRPr sz="1350">
              <a:solidFill>
                <a:srgbClr val="F7F1E8"/>
              </a:solidFill>
            </a:defRPr>
          </a:pPr>
        </a:p>
      </c:txPr>
    </c:title>
    <c:plotArea>
      <c:lineChart>
        <c:grouping val="stacked"/>
        <c:varyColors val="0"/>
        <c:ser>
          <c:idx val="0"/>
          <c:order val="0"/>
          <c:tx>
            <c:strRef>
              <c:f>sheet</c:f>
              <c:strCache>
                <c:ptCount val="1"/>
                <c:pt idx="0">
                  <c:v>NEON</c:v>
                </c:pt>
              </c:strCache>
            </c:strRef>
          </c:tx>
          <c:spPr>
            <a:ln w="19050" cap="flat">
              <a:solidFill>
                <a:srgbClr val="E73555"/>
              </a:solidFill>
              <a:round/>
            </a:ln>
          </c:spPr>
          <c:cat>
            <c:strRef>
              <c:strCache>
                <c:ptCount val="13"/>
                <c:pt idx="0">
                  <c:v>0</c:v>
                </c:pt>
                <c:pt idx="1">
                  <c:v>10</c:v>
                </c:pt>
                <c:pt idx="2">
                  <c:v>20</c:v>
                </c:pt>
                <c:pt idx="3">
                  <c:v>30</c:v>
                </c:pt>
                <c:pt idx="4">
                  <c:v>40</c:v>
                </c:pt>
                <c:pt idx="5">
                  <c:v>50</c:v>
                </c:pt>
                <c:pt idx="6">
                  <c:v>60</c:v>
                </c:pt>
                <c:pt idx="7">
                  <c:v>70</c:v>
                </c:pt>
                <c:pt idx="8">
                  <c:v>80</c:v>
                </c:pt>
                <c:pt idx="9">
                  <c:v>90</c:v>
                </c:pt>
                <c:pt idx="10">
                  <c:v>100</c:v>
                </c:pt>
                <c:pt idx="11">
                  <c:v>110</c:v>
                </c:pt>
                <c:pt idx="12">
                  <c:v>120</c:v>
                </c:pt>
              </c:strCache>
            </c:strRef>
          </c:cat>
          <c:val>
            <c:numRef>
              <c:numCache>
                <c:formatCode>General</c:formatCode>
                <c:ptCount val="13"/>
                <c:pt idx="0">
                  <c:v>420</c:v>
                </c:pt>
                <c:pt idx="1">
                  <c:v>422</c:v>
                </c:pt>
                <c:pt idx="2">
                  <c:v>421</c:v>
                </c:pt>
                <c:pt idx="3">
                  <c:v>422</c:v>
                </c:pt>
                <c:pt idx="4">
                  <c:v>413</c:v>
                </c:pt>
                <c:pt idx="5">
                  <c:v>415</c:v>
                </c:pt>
                <c:pt idx="6">
                  <c:v>417</c:v>
                </c:pt>
                <c:pt idx="7">
                  <c:v>402</c:v>
                </c:pt>
                <c:pt idx="8">
                  <c:v>355</c:v>
                </c:pt>
                <c:pt idx="9">
                  <c:v>370</c:v>
                </c:pt>
                <c:pt idx="10">
                  <c:v>366</c:v>
                </c:pt>
                <c:pt idx="11">
                  <c:v>366</c:v>
                </c:pt>
                <c:pt idx="12">
                  <c:v>366</c:v>
                </c:pt>
              </c:numCache>
            </c:numRef>
          </c:val>
        </c:ser>
        <c:marker val="1"/>
        <c:axId val="89736801"/>
        <c:axId val="89736802"/>
      </c:lineChart>
      <c:catAx>
        <c:axId val="89736801"/>
        <c:scaling>
          <c:orientation val="minMax"/>
        </c:scaling>
        <c:delete val="0"/>
        <c:axPos val="b"/>
        <c:numFmt formatCode="General" sourceLinked="0"/>
        <c:majorTickMark val="none"/>
        <c:minorTickMark val="none"/>
        <c:tickLblPos val="nextTo"/>
        <c:spPr>
          <a:noFill/>
          <a:ln w="9525" cap="flat">
            <a:solidFill>
              <a:srgbClr val="D9D9D9"/>
            </a:solidFill>
            <a:round/>
          </a:ln>
          <a:effectLst/>
        </c:spPr>
        <c:txPr>
          <a:bodyPr/>
          <a:p>
            <a:pPr>
              <a:defRPr sz="900">
                <a:solidFill>
                  <a:srgbClr val="F7F1E8">
                    <a:alpha val="45000"/>
                  </a:srgbClr>
                </a:solidFill>
              </a:defRPr>
            </a:pPr>
          </a:p>
        </c:txPr>
        <c:crossAx val="89736802"/>
      </c:catAx>
      <c:valAx>
        <c:axId val="89736802"/>
        <c:scaling>
          <c:orientation val="minMax"/>
        </c:scaling>
        <c:delete val="0"/>
        <c:axPos val="l"/>
        <c:majorGridlines>
          <c:spPr>
            <a:noFill/>
            <a:ln w="9525" cap="flat">
              <a:solidFill>
                <a:srgbClr val="D9D9D9"/>
              </a:solidFill>
              <a:round/>
            </a:ln>
            <a:effectLst/>
          </c:spPr>
        </c:majorGridlines>
        <c:numFmt formatCode="General" sourceLinked="0"/>
        <c:majorTickMark val="none"/>
        <c:minorTickMark val="none"/>
        <c:tickLblPos val="nextTo"/>
        <c:spPr>
          <a:noFill/>
          <a:ln>
            <a:noFill/>
          </a:ln>
          <a:effectLst/>
        </c:spPr>
        <c:txPr>
          <a:bodyPr/>
          <a:p>
            <a:pPr>
              <a:defRPr sz="900">
                <a:solidFill>
                  <a:srgbClr val="F7F1E8">
                    <a:alpha val="45000"/>
                  </a:srgbClr>
                </a:solidFill>
              </a:defRPr>
            </a:pPr>
          </a:p>
        </c:txPr>
        <c:crossAx val="89736801"/>
        <c:crossBetween val="between"/>
      </c:valAx>
      <c:spPr>
        <a:gradFill>
          <a:gsLst>
            <a:gs pos="0">
              <a:srgbClr val="0C0A12"/>
            </a:gs>
            <a:gs pos="100000">
              <a:srgbClr val="07060B"/>
            </a:gs>
          </a:gsLst>
          <a:lin ang="5400000" scaled="1"/>
        </a:gradFill>
        <a:ln>
          <a:noFill/>
        </a:ln>
        <a:effectLst/>
      </c:spPr>
    </c:plotArea>
    <c:legend>
      <c:legendPos val="b"/>
      <c:overlay val="0"/>
      <c:spPr>
        <a:noFill/>
        <a:ln>
          <a:noFill/>
        </a:ln>
        <a:effectLst/>
      </c:spPr>
      <c:txPr>
        <a:bodyPr/>
        <a:p>
          <a:pPr>
            <a:defRPr sz="900">
              <a:solidFill>
                <a:srgbClr val="F7F1E8">
                  <a:alpha val="60000"/>
                </a:srgbClr>
              </a:solidFill>
            </a:defRPr>
          </a:pPr>
        </a:p>
      </c:txPr>
    </c:legend>
    <c:dispBlanksAs val="gap"/>
  </c:chart>
</c:chartSpace>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
          <p:cNvSpPr/>
          <p:nvPr/>
        </p:nvSpPr>
        <p:spPr>
          <a:xfrm rot="0" flipH="0" flipV="0">
            <a:off x="0" y="0"/>
            <a:ext cx="12192000" cy="6858000"/>
          </a:xfrm>
          <a:prstGeom prst="rect">
            <a:avLst/>
          </a:prstGeom>
          <a:solidFill>
            <a:srgbClr val="07060B"/>
          </a:solidFill>
          <a:ln/>
        </p:spPr>
        <p:txBody>
          <a:bodyPr/>
          <a:p>
            <a:pPr/>
            <a:endParaRPr/>
          </a:p>
        </p:txBody>
      </p:sp>
      <p:pic>
        <p:nvPicPr>
          <p:cNvPr id="3" name=""/>
          <p:cNvPicPr>
            <a:picLocks noChangeAspect="1"/>
          </p:cNvPicPr>
          <p:nvPr/>
        </p:nvPicPr>
        <p:blipFill>
          <a:blip r:embed="rId1">
            <a:alphaModFix amt="90000"/>
          </a:blip>
          <a:srcRect l="0" t="5000" r="0" b="5000"/>
          <a:stretch>
            <a:fillRect/>
          </a:stretch>
        </p:blipFill>
        <p:spPr>
          <a:xfrm rot="0" flipH="0" flipV="0">
            <a:off x="0" y="0"/>
            <a:ext cx="12192000" cy="6858000"/>
          </a:xfrm>
          <a:prstGeom prst="rect">
            <a:avLst/>
          </a:prstGeom>
          <a:ln/>
        </p:spPr>
      </p:pic>
      <p:sp>
        <p:nvSpPr>
          <p:cNvPr id="4" name=""/>
          <p:cNvSpPr/>
          <p:nvPr/>
        </p:nvSpPr>
        <p:spPr>
          <a:xfrm rot="0" flipH="0" flipV="0">
            <a:off x="0" y="0"/>
            <a:ext cx="8191500" cy="6858000"/>
          </a:xfrm>
          <a:prstGeom prst="rect">
            <a:avLst/>
          </a:prstGeom>
          <a:gradFill>
            <a:gsLst>
              <a:gs pos="42000">
                <a:srgbClr val="07060B"/>
              </a:gs>
              <a:gs pos="68000">
                <a:srgbClr val="07060B">
                  <a:alpha val="82000"/>
                </a:srgbClr>
              </a:gs>
              <a:gs pos="100000">
                <a:srgbClr val="07060B">
                  <a:alpha val="0"/>
                </a:srgbClr>
              </a:gs>
            </a:gsLst>
            <a:lin ang="0" scaled="1"/>
          </a:gradFill>
          <a:ln/>
        </p:spPr>
        <p:txBody>
          <a:bodyPr/>
          <a:p>
            <a:pPr/>
            <a:endParaRPr/>
          </a:p>
        </p:txBody>
      </p:sp>
      <p:sp>
        <p:nvSpPr>
          <p:cNvPr id="5" name=""/>
          <p:cNvSpPr/>
          <p:nvPr/>
        </p:nvSpPr>
        <p:spPr>
          <a:xfrm rot="0" flipH="0" flipV="0">
            <a:off x="0" y="0"/>
            <a:ext cx="4953000" cy="6858000"/>
          </a:xfrm>
          <a:prstGeom prst="rect">
            <a:avLst/>
          </a:prstGeom>
          <a:gradFill>
            <a:gsLst>
              <a:gs pos="0">
                <a:srgbClr val="E73555">
                  <a:alpha val="16000"/>
                </a:srgbClr>
              </a:gs>
              <a:gs pos="62000">
                <a:srgbClr val="07060B">
                  <a:alpha val="0"/>
                </a:srgbClr>
              </a:gs>
            </a:gsLst>
            <a:path path="circle">
              <a:fillToRect l="12000" t="62000" r="88000" b="38000"/>
            </a:path>
          </a:gradFill>
          <a:ln/>
        </p:spPr>
        <p:txBody>
          <a:bodyPr/>
          <a:p>
            <a:pPr/>
            <a:endParaRPr/>
          </a:p>
        </p:txBody>
      </p:sp>
      <p:sp>
        <p:nvSpPr>
          <p:cNvPr id="6" name=""/>
          <p:cNvSpPr/>
          <p:nvPr/>
        </p:nvSpPr>
        <p:spPr>
          <a:xfrm rot="0" flipH="0" flipV="0">
            <a:off x="685800" y="628650"/>
            <a:ext cx="85725" cy="85725"/>
          </a:xfrm>
          <a:prstGeom prst="roundRect">
            <a:avLst>
              <a:gd name="adj" fmla="val 100000"/>
            </a:avLst>
          </a:prstGeom>
          <a:solidFill>
            <a:srgbClr val="F2C96D"/>
          </a:solidFill>
          <a:ln/>
        </p:spPr>
        <p:txBody>
          <a:bodyPr/>
          <a:p>
            <a:pPr/>
            <a:endParaRPr/>
          </a:p>
        </p:txBody>
      </p:sp>
      <p:sp>
        <p:nvSpPr>
          <p:cNvPr id="7" name="" descr="{&quot;isTemplate&quot;:true,&quot;type&quot;:&quot;text&quot;}"/>
          <p:cNvSpPr txBox="1"/>
          <p:nvPr/>
        </p:nvSpPr>
        <p:spPr>
          <a:xfrm rot="0" flipH="0" flipV="0">
            <a:off x="904875" y="514350"/>
            <a:ext cx="4924425" cy="304800"/>
          </a:xfrm>
          <a:prstGeom prst="rect"/>
        </p:spPr>
        <p:txBody>
          <a:bodyPr wrap="square" lIns="0" tIns="0" rIns="0" bIns="0">
            <a:normAutofit/>
          </a:bodyPr>
          <a:p>
            <a:pPr>
              <a:lnSpc>
                <a:spcPct val="100000"/>
              </a:lnSpc>
            </a:pPr>
            <a:r>
              <a:rPr lang="en-US" sz="975" b="1" spc="195">
                <a:solidFill>
                  <a:srgbClr val="F2C96D"/>
                </a:solidFill>
                <a:latin typeface="Microsoft YaHei"/>
                <a:ea typeface="Microsoft YaHei"/>
              </a:rPr>
              <a:t>A MULTIPLAYER TRADING ARENA · VIRTUAL MONEY ONLY</a:t>
            </a:r>
            <a:endParaRPr/>
          </a:p>
        </p:txBody>
      </p:sp>
      <p:sp>
        <p:nvSpPr>
          <p:cNvPr id="8" name="" descr="{&quot;isTemplate&quot;:true,&quot;type&quot;:&quot;text&quot;}"/>
          <p:cNvSpPr txBox="1"/>
          <p:nvPr/>
        </p:nvSpPr>
        <p:spPr>
          <a:xfrm rot="0" flipH="0" flipV="0">
            <a:off x="685800" y="1543050"/>
            <a:ext cx="10820400" cy="1619250"/>
          </a:xfrm>
          <a:prstGeom prst="rect"/>
        </p:spPr>
        <p:txBody>
          <a:bodyPr wrap="none" lIns="0" tIns="0" rIns="0" bIns="0"/>
          <a:p>
            <a:pPr>
              <a:lnSpc>
                <a:spcPct val="98000"/>
              </a:lnSpc>
            </a:pPr>
            <a:r>
              <a:rPr lang="en-US" sz="5400" b="1" spc="75">
                <a:solidFill>
                  <a:srgbClr val="F7F1E8"/>
                </a:solidFill>
                <a:latin typeface="Impact"/>
                <a:ea typeface="Impact"/>
              </a:rPr>
              <a:t>THE MARKET IS</a:t>
            </a:r>
            <a:endParaRPr/>
          </a:p>
          <a:p>
            <a:pPr>
              <a:lnSpc>
                <a:spcPct val="98000"/>
              </a:lnSpc>
            </a:pPr>
            <a:r>
              <a:rPr lang="en-US" sz="5400" b="1" spc="75">
                <a:solidFill>
                  <a:srgbClr val="F7F1E8"/>
                </a:solidFill>
                <a:latin typeface="Impact"/>
                <a:ea typeface="Impact"/>
              </a:rPr>
              <a:t>A CASINO.</a:t>
            </a:r>
            <a:endParaRPr/>
          </a:p>
        </p:txBody>
      </p:sp>
      <p:sp>
        <p:nvSpPr>
          <p:cNvPr id="9" name="" descr="{&quot;isTemplate&quot;:true,&quot;type&quot;:&quot;text&quot;}"/>
          <p:cNvSpPr txBox="1"/>
          <p:nvPr/>
        </p:nvSpPr>
        <p:spPr>
          <a:xfrm rot="0" flipH="0" flipV="0">
            <a:off x="685800" y="3333750"/>
            <a:ext cx="10820400" cy="447675"/>
          </a:xfrm>
          <a:prstGeom prst="rect"/>
        </p:spPr>
        <p:txBody>
          <a:bodyPr wrap="none" lIns="0" tIns="0" rIns="0" bIns="0"/>
          <a:p>
            <a:pPr>
              <a:lnSpc>
                <a:spcPct val="114999"/>
              </a:lnSpc>
            </a:pPr>
            <a:r>
              <a:rPr lang="en-US" sz="2550" b="1">
                <a:solidFill>
                  <a:srgbClr val="E73555"/>
                </a:solidFill>
                <a:latin typeface="Microsoft YaHei"/>
                <a:ea typeface="Microsoft YaHei"/>
              </a:rPr>
              <a:t>At least here, you know it.</a:t>
            </a:r>
            <a:endParaRPr/>
          </a:p>
        </p:txBody>
      </p:sp>
      <p:sp>
        <p:nvSpPr>
          <p:cNvPr id="10" name="" descr="{&quot;isTemplate&quot;:true,&quot;type&quot;:&quot;text&quot;}"/>
          <p:cNvSpPr txBox="1"/>
          <p:nvPr/>
        </p:nvSpPr>
        <p:spPr>
          <a:xfrm rot="0" flipH="0" flipV="0">
            <a:off x="685800" y="3952875"/>
            <a:ext cx="5334000" cy="1019175"/>
          </a:xfrm>
          <a:prstGeom prst="rect"/>
        </p:spPr>
        <p:txBody>
          <a:bodyPr wrap="square" lIns="0" tIns="0" rIns="0" bIns="0">
            <a:normAutofit/>
          </a:bodyPr>
          <a:p>
            <a:pPr>
              <a:lnSpc>
                <a:spcPct val="155000"/>
              </a:lnSpc>
            </a:pPr>
            <a:r>
              <a:rPr lang="en-US" sz="1425">
                <a:solidFill>
                  <a:srgbClr val="F7F1E8">
                    <a:alpha val="78000"/>
                  </a:srgbClr>
                </a:solidFill>
                <a:latin typeface="Microsoft YaHei"/>
                <a:ea typeface="Microsoft YaHei"/>
              </a:rPr>
              <a:t>Six fictional tickers. Three seats. ₹1,00,000 of money that has never existed. Trade the chaos, outsmart your friends, and try not to go broke.</a:t>
            </a:r>
            <a:endParaRPr/>
          </a:p>
        </p:txBody>
      </p:sp>
      <p:sp>
        <p:nvSpPr>
          <p:cNvPr id="11" name=""/>
          <p:cNvSpPr/>
          <p:nvPr/>
        </p:nvSpPr>
        <p:spPr>
          <a:xfrm rot="0" flipH="0" flipV="0">
            <a:off x="685800" y="5695950"/>
            <a:ext cx="4953000" cy="9525"/>
          </a:xfrm>
          <a:prstGeom prst="rect">
            <a:avLst/>
          </a:prstGeom>
          <a:solidFill>
            <a:srgbClr val="F7F1E8">
              <a:alpha val="22000"/>
            </a:srgbClr>
          </a:solidFill>
          <a:ln/>
        </p:spPr>
        <p:txBody>
          <a:bodyPr/>
          <a:p>
            <a:pPr/>
            <a:endParaRPr/>
          </a:p>
        </p:txBody>
      </p:sp>
      <p:sp>
        <p:nvSpPr>
          <p:cNvPr id="12" name="" descr="{&quot;isTemplate&quot;:true,&quot;type&quot;:&quot;text&quot;}"/>
          <p:cNvSpPr txBox="1"/>
          <p:nvPr/>
        </p:nvSpPr>
        <p:spPr>
          <a:xfrm rot="0" flipH="0" flipV="0">
            <a:off x="685800" y="5857875"/>
            <a:ext cx="809625" cy="142875"/>
          </a:xfrm>
          <a:prstGeom prst="rect"/>
        </p:spPr>
        <p:txBody>
          <a:bodyPr wrap="none" lIns="0" tIns="0" rIns="0" bIns="0"/>
          <a:p>
            <a:pPr>
              <a:lnSpc>
                <a:spcPct val="100000"/>
              </a:lnSpc>
            </a:pPr>
            <a:r>
              <a:rPr lang="en-US" sz="900" spc="150">
                <a:solidFill>
                  <a:srgbClr val="F7F1E8">
                    <a:alpha val="50000"/>
                  </a:srgbClr>
                </a:solidFill>
                <a:latin typeface="Microsoft YaHei"/>
                <a:ea typeface="Microsoft YaHei"/>
              </a:rPr>
              <a:t>LIVE INDEX</a:t>
            </a:r>
            <a:endParaRPr/>
          </a:p>
        </p:txBody>
      </p:sp>
      <p:sp>
        <p:nvSpPr>
          <p:cNvPr id="13" name="" descr="{&quot;isTemplate&quot;:true,&quot;type&quot;:&quot;text&quot;}"/>
          <p:cNvSpPr txBox="1"/>
          <p:nvPr/>
        </p:nvSpPr>
        <p:spPr>
          <a:xfrm rot="0" flipH="0" flipV="0">
            <a:off x="685800" y="6038850"/>
            <a:ext cx="809625" cy="304800"/>
          </a:xfrm>
          <a:prstGeom prst="rect"/>
        </p:spPr>
        <p:txBody>
          <a:bodyPr wrap="none" lIns="0" tIns="0" rIns="0" bIns="0"/>
          <a:p>
            <a:pPr>
              <a:lnSpc>
                <a:spcPct val="100000"/>
              </a:lnSpc>
            </a:pPr>
            <a:r>
              <a:rPr lang="en-US" sz="1950" b="1">
                <a:solidFill>
                  <a:srgbClr val="F7F1E8"/>
                </a:solidFill>
                <a:latin typeface="Microsoft YaHei"/>
                <a:ea typeface="Microsoft YaHei"/>
              </a:rPr>
              <a:t>99.95</a:t>
            </a:r>
            <a:endParaRPr/>
          </a:p>
        </p:txBody>
      </p:sp>
      <p:sp>
        <p:nvSpPr>
          <p:cNvPr id="14" name="" descr="{&quot;isTemplate&quot;:true,&quot;type&quot;:&quot;text&quot;}"/>
          <p:cNvSpPr txBox="1"/>
          <p:nvPr/>
        </p:nvSpPr>
        <p:spPr>
          <a:xfrm rot="0" flipH="0" flipV="0">
            <a:off x="2028825" y="5857875"/>
            <a:ext cx="923925" cy="142875"/>
          </a:xfrm>
          <a:prstGeom prst="rect"/>
        </p:spPr>
        <p:txBody>
          <a:bodyPr wrap="none" lIns="0" tIns="0" rIns="0" bIns="0"/>
          <a:p>
            <a:pPr>
              <a:lnSpc>
                <a:spcPct val="100000"/>
              </a:lnSpc>
            </a:pPr>
            <a:r>
              <a:rPr lang="en-US" sz="900" spc="150">
                <a:solidFill>
                  <a:srgbClr val="F7F1E8">
                    <a:alpha val="50000"/>
                  </a:srgbClr>
                </a:solidFill>
                <a:latin typeface="Microsoft YaHei"/>
                <a:ea typeface="Microsoft YaHei"/>
              </a:rPr>
              <a:t>ENGINE TICK</a:t>
            </a:r>
            <a:endParaRPr/>
          </a:p>
        </p:txBody>
      </p:sp>
      <p:sp>
        <p:nvSpPr>
          <p:cNvPr id="15" name="" descr="{&quot;isTemplate&quot;:true,&quot;type&quot;:&quot;text&quot;}"/>
          <p:cNvSpPr txBox="1"/>
          <p:nvPr/>
        </p:nvSpPr>
        <p:spPr>
          <a:xfrm rot="0" flipH="0" flipV="0">
            <a:off x="2028825" y="6038850"/>
            <a:ext cx="923925" cy="304800"/>
          </a:xfrm>
          <a:prstGeom prst="rect"/>
        </p:spPr>
        <p:txBody>
          <a:bodyPr wrap="none" lIns="0" tIns="0" rIns="0" bIns="0"/>
          <a:p>
            <a:pPr>
              <a:lnSpc>
                <a:spcPct val="100000"/>
              </a:lnSpc>
            </a:pPr>
            <a:r>
              <a:rPr lang="en-US" sz="1950" b="1">
                <a:solidFill>
                  <a:srgbClr val="F7F1E8"/>
                </a:solidFill>
                <a:latin typeface="Microsoft YaHei"/>
                <a:ea typeface="Microsoft YaHei"/>
              </a:rPr>
              <a:t>12</a:t>
            </a:r>
            <a:endParaRPr/>
          </a:p>
        </p:txBody>
      </p:sp>
      <p:sp>
        <p:nvSpPr>
          <p:cNvPr id="16" name="" descr="{&quot;isTemplate&quot;:true,&quot;type&quot;:&quot;text&quot;}"/>
          <p:cNvSpPr txBox="1"/>
          <p:nvPr/>
        </p:nvSpPr>
        <p:spPr>
          <a:xfrm rot="0" flipH="0" flipV="0">
            <a:off x="3486150" y="5857875"/>
            <a:ext cx="1209675" cy="142875"/>
          </a:xfrm>
          <a:prstGeom prst="rect"/>
        </p:spPr>
        <p:txBody>
          <a:bodyPr wrap="none" lIns="0" tIns="0" rIns="0" bIns="0"/>
          <a:p>
            <a:pPr>
              <a:lnSpc>
                <a:spcPct val="100000"/>
              </a:lnSpc>
            </a:pPr>
            <a:r>
              <a:rPr lang="en-US" sz="900" spc="150">
                <a:solidFill>
                  <a:srgbClr val="F7F1E8">
                    <a:alpha val="50000"/>
                  </a:srgbClr>
                </a:solidFill>
                <a:latin typeface="Microsoft YaHei"/>
                <a:ea typeface="Microsoft YaHei"/>
              </a:rPr>
              <a:t>STAKES</a:t>
            </a:r>
            <a:endParaRPr/>
          </a:p>
        </p:txBody>
      </p:sp>
      <p:sp>
        <p:nvSpPr>
          <p:cNvPr id="17" name="" descr="{&quot;isTemplate&quot;:true,&quot;type&quot;:&quot;text&quot;}"/>
          <p:cNvSpPr txBox="1"/>
          <p:nvPr/>
        </p:nvSpPr>
        <p:spPr>
          <a:xfrm rot="0" flipH="0" flipV="0">
            <a:off x="3486150" y="6038850"/>
            <a:ext cx="1209675" cy="304800"/>
          </a:xfrm>
          <a:prstGeom prst="rect"/>
        </p:spPr>
        <p:txBody>
          <a:bodyPr wrap="none" lIns="0" tIns="0" rIns="0" bIns="0"/>
          <a:p>
            <a:pPr>
              <a:lnSpc>
                <a:spcPct val="100000"/>
              </a:lnSpc>
            </a:pPr>
            <a:r>
              <a:rPr lang="en-US" sz="1950" b="1">
                <a:solidFill>
                  <a:srgbClr val="F7F1E8"/>
                </a:solidFill>
                <a:latin typeface="Microsoft YaHei"/>
                <a:ea typeface="Microsoft YaHei"/>
              </a:rPr>
              <a:t>₹1,00,000</a:t>
            </a:r>
            <a:endParaRPr/>
          </a:p>
        </p:txBody>
      </p:sp>
      <p:sp>
        <p:nvSpPr>
          <p:cNvPr id="18" name="" descr="{&quot;isTemplate&quot;:true,&quot;type&quot;:&quot;text&quot;}"/>
          <p:cNvSpPr txBox="1"/>
          <p:nvPr/>
        </p:nvSpPr>
        <p:spPr>
          <a:xfrm rot="0" flipH="0" flipV="0">
            <a:off x="5229225" y="5857875"/>
            <a:ext cx="552450" cy="142875"/>
          </a:xfrm>
          <a:prstGeom prst="rect"/>
        </p:spPr>
        <p:txBody>
          <a:bodyPr wrap="none" lIns="0" tIns="0" rIns="0" bIns="0"/>
          <a:p>
            <a:pPr>
              <a:lnSpc>
                <a:spcPct val="100000"/>
              </a:lnSpc>
            </a:pPr>
            <a:r>
              <a:rPr lang="en-US" sz="900" spc="150">
                <a:solidFill>
                  <a:srgbClr val="F7F1E8">
                    <a:alpha val="50000"/>
                  </a:srgbClr>
                </a:solidFill>
                <a:latin typeface="Microsoft YaHei"/>
                <a:ea typeface="Microsoft YaHei"/>
              </a:rPr>
              <a:t>STATUS</a:t>
            </a:r>
            <a:endParaRPr/>
          </a:p>
        </p:txBody>
      </p:sp>
      <p:sp>
        <p:nvSpPr>
          <p:cNvPr id="19" name="" descr="{&quot;isTemplate&quot;:true,&quot;type&quot;:&quot;text&quot;}"/>
          <p:cNvSpPr txBox="1"/>
          <p:nvPr/>
        </p:nvSpPr>
        <p:spPr>
          <a:xfrm rot="0" flipH="0" flipV="0">
            <a:off x="5229225" y="6038850"/>
            <a:ext cx="552450" cy="304800"/>
          </a:xfrm>
          <a:prstGeom prst="rect"/>
        </p:spPr>
        <p:txBody>
          <a:bodyPr wrap="none" lIns="0" tIns="0" rIns="0" bIns="0"/>
          <a:p>
            <a:pPr>
              <a:lnSpc>
                <a:spcPct val="100000"/>
              </a:lnSpc>
            </a:pPr>
            <a:r>
              <a:rPr lang="en-US" sz="1950" b="1">
                <a:solidFill>
                  <a:srgbClr val="E73555"/>
                </a:solidFill>
                <a:latin typeface="Microsoft YaHei"/>
                <a:ea typeface="Microsoft YaHei"/>
              </a:rPr>
              <a:t>LIVE</a:t>
            </a:r>
            <a:endParaRPr/>
          </a:p>
        </p:txBody>
      </p:sp>
      <p:sp>
        <p:nvSpPr>
          <p:cNvPr id="20" name=""/>
          <p:cNvSpPr/>
          <p:nvPr/>
        </p:nvSpPr>
        <p:spPr>
          <a:xfrm>
            <a:off x="685800" y="5029200"/>
            <a:ext cx="7112000" cy="190500"/>
          </a:xfrm>
          <a:prstGeom prst="rect">
            <a:avLst/>
          </a:prstGeom>
          <a:noFill/>
          <a:ln>
            <a:noFill/>
          </a:ln>
        </p:spPr>
        <p:txBody>
          <a:bodyPr wrap="none">
            <a:spAutoFit/>
          </a:bodyPr>
          <a:p>
            <a:pPr/>
            <a:r>
              <a:rPr lang="zh-CN" sz="1000">
                <a:solidFill>
                  <a:srgbClr val="8F8A82"/>
                </a:solidFill>
                <a:latin typeface="Microsoft YaHei"/>
                <a:ea typeface="Microsoft YaHei"/>
              </a:rPr>
              <a:t>VEDANT ANAND GUPTA · 2427010515 · MANIPAL UNIVERSITY JAIPUR · SECTION E</a:t>
            </a:r>
            <a:endParaRPr/>
          </a:p>
        </p:txBody>
      </p:sp>
    </p:spTree>
  </p:cSld>
</p:sld>
</file>

<file path=ppt/slides/slide2.xml><?xml version="1.0" encoding="utf-8"?>
<p:sld xmlns:p="http://schemas.openxmlformats.org/presentationml/2006/main" xmlns:a="http://schemas.openxmlformats.org/drawingml/2006/main">
  <p:cSld>
    <p:spTree>
      <p:nvGrpSpPr>
        <p:cNvPr id="88" name=""/>
        <p:cNvGrpSpPr/>
        <p:nvPr/>
      </p:nvGrpSpPr>
      <p:grpSpPr>
        <a:xfrm>
          <a:off x="0" y="0"/>
          <a:ext cx="0" cy="0"/>
          <a:chOff x="0" y="0"/>
          <a:chExt cx="0" cy="0"/>
        </a:xfrm>
      </p:grpSpPr>
      <p:sp>
        <p:nvSpPr>
          <p:cNvPr id="89" name=""/>
          <p:cNvSpPr/>
          <p:nvPr/>
        </p:nvSpPr>
        <p:spPr>
          <a:xfrm rot="0" flipH="0" flipV="0">
            <a:off x="0" y="0"/>
            <a:ext cx="12192000" cy="6858000"/>
          </a:xfrm>
          <a:prstGeom prst="rect">
            <a:avLst/>
          </a:prstGeom>
          <a:solidFill>
            <a:srgbClr val="07060B"/>
          </a:solidFill>
          <a:ln/>
        </p:spPr>
        <p:txBody>
          <a:bodyPr/>
          <a:p>
            <a:pPr/>
            <a:endParaRPr/>
          </a:p>
        </p:txBody>
      </p:sp>
      <p:sp>
        <p:nvSpPr>
          <p:cNvPr id="90" name="" descr="{&quot;isTemplate&quot;:true,&quot;type&quot;:&quot;text&quot;}"/>
          <p:cNvSpPr txBox="1"/>
          <p:nvPr/>
        </p:nvSpPr>
        <p:spPr>
          <a:xfrm rot="0" flipH="0" flipV="0">
            <a:off x="685800" y="190500"/>
            <a:ext cx="3048000" cy="142875"/>
          </a:xfrm>
          <a:prstGeom prst="rect"/>
        </p:spPr>
        <p:txBody>
          <a:bodyPr wrap="none" lIns="0" tIns="0" rIns="0" bIns="0"/>
          <a:p>
            <a:pPr>
              <a:lnSpc>
                <a:spcPct val="100000"/>
              </a:lnSpc>
            </a:pPr>
            <a:r>
              <a:rPr lang="en-US" sz="900" b="1" spc="180">
                <a:solidFill>
                  <a:srgbClr val="F2C96D"/>
                </a:solidFill>
                <a:latin typeface="Microsoft YaHei"/>
                <a:ea typeface="Microsoft YaHei"/>
              </a:rPr>
              <a:t>THE PREMISE</a:t>
            </a:r>
            <a:endParaRPr/>
          </a:p>
        </p:txBody>
      </p:sp>
      <p:sp>
        <p:nvSpPr>
          <p:cNvPr id="91" name="" descr="{&quot;isTemplate&quot;:true,&quot;type&quot;:&quot;text&quot;}"/>
          <p:cNvSpPr txBox="1"/>
          <p:nvPr/>
        </p:nvSpPr>
        <p:spPr>
          <a:xfrm rot="0" flipH="0" flipV="0">
            <a:off x="685800" y="409575"/>
            <a:ext cx="3048000" cy="485775"/>
          </a:xfrm>
          <a:prstGeom prst="rect"/>
        </p:spPr>
        <p:txBody>
          <a:bodyPr wrap="none" lIns="0" tIns="0" rIns="0" bIns="0"/>
          <a:p>
            <a:pPr>
              <a:lnSpc>
                <a:spcPct val="110000"/>
              </a:lnSpc>
            </a:pPr>
            <a:r>
              <a:rPr lang="en-US" sz="2850">
                <a:solidFill>
                  <a:srgbClr val="F7F1E8"/>
                </a:solidFill>
                <a:latin typeface="Impact"/>
                <a:ea typeface="Impact"/>
              </a:rPr>
              <a:t>Four rules. No exit.</a:t>
            </a:r>
            <a:endParaRPr/>
          </a:p>
        </p:txBody>
      </p:sp>
      <p:sp>
        <p:nvSpPr>
          <p:cNvPr id="92" name="" descr="{&quot;isTemplate&quot;:true,&quot;type&quot;:&quot;text&quot;}"/>
          <p:cNvSpPr txBox="1"/>
          <p:nvPr/>
        </p:nvSpPr>
        <p:spPr>
          <a:xfrm rot="0" flipH="0" flipV="0">
            <a:off x="9925050" y="190500"/>
            <a:ext cx="1581150" cy="209550"/>
          </a:xfrm>
          <a:prstGeom prst="rect"/>
        </p:spPr>
        <p:txBody>
          <a:bodyPr wrap="none" lIns="0" tIns="42863" rIns="0" bIns="0"/>
          <a:p>
            <a:pPr>
              <a:lnSpc>
                <a:spcPct val="100000"/>
              </a:lnSpc>
            </a:pPr>
            <a:r>
              <a:rPr lang="en-US" sz="975" spc="120">
                <a:solidFill>
                  <a:srgbClr val="F7F1E8">
                    <a:alpha val="50000"/>
                  </a:srgbClr>
                </a:solidFill>
                <a:latin typeface="Microsoft YaHei"/>
                <a:ea typeface="Microsoft YaHei"/>
              </a:rPr>
              <a:t>RULES OF THE FLOOR</a:t>
            </a:r>
            <a:endParaRPr/>
          </a:p>
        </p:txBody>
      </p:sp>
      <p:sp>
        <p:nvSpPr>
          <p:cNvPr id="93" name="" descr="{&quot;isTemplate&quot;:true,&quot;type&quot;:&quot;text&quot;}"/>
          <p:cNvSpPr txBox="1"/>
          <p:nvPr/>
        </p:nvSpPr>
        <p:spPr>
          <a:xfrm rot="0" flipH="0" flipV="0">
            <a:off x="685800" y="1333500"/>
            <a:ext cx="4000500" cy="742950"/>
          </a:xfrm>
          <a:prstGeom prst="rect"/>
        </p:spPr>
        <p:txBody>
          <a:bodyPr wrap="square" lIns="0" tIns="0" rIns="0" bIns="0">
            <a:normAutofit/>
          </a:bodyPr>
          <a:p>
            <a:pPr>
              <a:lnSpc>
                <a:spcPct val="130000"/>
              </a:lnSpc>
            </a:pPr>
            <a:r>
              <a:rPr lang="en-US" sz="1875" b="1">
                <a:solidFill>
                  <a:srgbClr val="F7F1E8"/>
                </a:solidFill>
                <a:latin typeface="Microsoft YaHei"/>
                <a:ea typeface="Microsoft YaHei"/>
              </a:rPr>
              <a:t>Everyone has been told the market is a casino.</a:t>
            </a:r>
            <a:endParaRPr/>
          </a:p>
        </p:txBody>
      </p:sp>
      <p:sp>
        <p:nvSpPr>
          <p:cNvPr id="94" name="" descr="{&quot;isTemplate&quot;:true,&quot;type&quot;:&quot;text&quot;}"/>
          <p:cNvSpPr txBox="1"/>
          <p:nvPr/>
        </p:nvSpPr>
        <p:spPr>
          <a:xfrm rot="0" flipH="0" flipV="0">
            <a:off x="685800" y="2228850"/>
            <a:ext cx="4000500" cy="1276350"/>
          </a:xfrm>
          <a:prstGeom prst="rect"/>
        </p:spPr>
        <p:txBody>
          <a:bodyPr wrap="square" lIns="0" tIns="0" rIns="0" bIns="0">
            <a:normAutofit/>
          </a:bodyPr>
          <a:p>
            <a:pPr>
              <a:lnSpc>
                <a:spcPct val="155000"/>
              </a:lnSpc>
            </a:pPr>
            <a:r>
              <a:rPr lang="en-US" sz="1350">
                <a:solidFill>
                  <a:srgbClr val="F7F1E8">
                    <a:alpha val="72000"/>
                  </a:srgbClr>
                </a:solidFill>
                <a:latin typeface="Microsoft YaHei"/>
                <a:ea typeface="Microsoft YaHei"/>
              </a:rPr>
              <a:t>BROKE VEGAS stops pretending otherwise. Three people, one order book, the same fictional cash, and a group chat that does what group chats do.</a:t>
            </a:r>
            <a:endParaRPr/>
          </a:p>
        </p:txBody>
      </p:sp>
      <p:sp>
        <p:nvSpPr>
          <p:cNvPr id="95" name="" descr="{&quot;isTemplate&quot;:true,&quot;type&quot;:&quot;text&quot;}"/>
          <p:cNvSpPr txBox="1"/>
          <p:nvPr/>
        </p:nvSpPr>
        <p:spPr>
          <a:xfrm rot="0" flipH="0" flipV="0">
            <a:off x="685800" y="3657600"/>
            <a:ext cx="4000500" cy="323850"/>
          </a:xfrm>
          <a:prstGeom prst="rect"/>
        </p:spPr>
        <p:txBody>
          <a:bodyPr wrap="none" lIns="0" tIns="0" rIns="0" bIns="0"/>
          <a:p>
            <a:pPr>
              <a:lnSpc>
                <a:spcPct val="155000"/>
              </a:lnSpc>
            </a:pPr>
            <a:r>
              <a:rPr lang="en-US" sz="1350">
                <a:solidFill>
                  <a:srgbClr val="F7F1E8">
                    <a:alpha val="72000"/>
                  </a:srgbClr>
                </a:solidFill>
                <a:latin typeface="Microsoft YaHei"/>
                <a:ea typeface="Microsoft YaHei"/>
              </a:rPr>
              <a:t>No deposits, no leverage, no real tickers.</a:t>
            </a:r>
            <a:endParaRPr/>
          </a:p>
        </p:txBody>
      </p:sp>
      <p:sp>
        <p:nvSpPr>
          <p:cNvPr id="96" name=""/>
          <p:cNvSpPr/>
          <p:nvPr/>
        </p:nvSpPr>
        <p:spPr>
          <a:xfrm rot="0" flipH="0" flipV="0">
            <a:off x="714375" y="5105400"/>
            <a:ext cx="4000500" cy="800100"/>
          </a:xfrm>
          <a:prstGeom prst="rect">
            <a:avLst/>
          </a:prstGeom>
          <a:solidFill>
            <a:srgbClr val="E73555">
              <a:alpha val="10000"/>
            </a:srgbClr>
          </a:solidFill>
          <a:ln/>
        </p:spPr>
        <p:txBody>
          <a:bodyPr/>
          <a:p>
            <a:pPr/>
            <a:endParaRPr/>
          </a:p>
        </p:txBody>
      </p:sp>
      <p:sp>
        <p:nvSpPr>
          <p:cNvPr id="97" name=""/>
          <p:cNvSpPr/>
          <p:nvPr/>
        </p:nvSpPr>
        <p:spPr>
          <a:xfrm rot="0" flipH="0" flipV="0">
            <a:off x="685800" y="5105400"/>
            <a:ext cx="4029075" cy="800100"/>
          </a:xfrm>
          <a:custGeom>
            <a:pathLst>
              <a:path w="423" h="84">
                <a:moveTo>
                  <a:pt x="0" y="0"/>
                </a:moveTo>
                <a:lnTo>
                  <a:pt x="3" y="0"/>
                </a:lnTo>
                <a:lnTo>
                  <a:pt x="3" y="84"/>
                </a:lnTo>
                <a:lnTo>
                  <a:pt x="0" y="84"/>
                </a:lnTo>
                <a:close/>
              </a:path>
            </a:pathLst>
          </a:custGeom>
          <a:solidFill>
            <a:srgbClr val="E73555"/>
          </a:solidFill>
          <a:ln/>
        </p:spPr>
        <p:txBody>
          <a:bodyPr/>
          <a:p>
            <a:pPr/>
            <a:endParaRPr/>
          </a:p>
        </p:txBody>
      </p:sp>
      <p:sp>
        <p:nvSpPr>
          <p:cNvPr id="98" name="" descr="{&quot;isTemplate&quot;:true,&quot;type&quot;:&quot;text&quot;}"/>
          <p:cNvSpPr txBox="1"/>
          <p:nvPr/>
        </p:nvSpPr>
        <p:spPr>
          <a:xfrm rot="0" flipH="0" flipV="0">
            <a:off x="866775" y="5238750"/>
            <a:ext cx="3667125" cy="533400"/>
          </a:xfrm>
          <a:prstGeom prst="rect"/>
        </p:spPr>
        <p:txBody>
          <a:bodyPr wrap="square" lIns="0" tIns="0" rIns="0" bIns="0">
            <a:normAutofit/>
          </a:bodyPr>
          <a:p>
            <a:pPr>
              <a:lnSpc>
                <a:spcPct val="145000"/>
              </a:lnSpc>
            </a:pPr>
            <a:r>
              <a:rPr lang="en-US" sz="1200">
                <a:solidFill>
                  <a:srgbClr val="F7F1E8"/>
                </a:solidFill>
                <a:latin typeface="Microsoft YaHei"/>
                <a:ea typeface="Microsoft YaHei"/>
              </a:rPr>
              <a:t>The only thing you can lose is the argument about who was right.</a:t>
            </a:r>
            <a:endParaRPr/>
          </a:p>
        </p:txBody>
      </p:sp>
      <p:sp>
        <p:nvSpPr>
          <p:cNvPr id="99" name=""/>
          <p:cNvSpPr/>
          <p:nvPr/>
        </p:nvSpPr>
        <p:spPr>
          <a:xfrm rot="0" flipH="0" flipV="0">
            <a:off x="5219700" y="1333500"/>
            <a:ext cx="6286500" cy="1047750"/>
          </a:xfrm>
          <a:custGeom>
            <a:pathLst>
              <a:path w="660" h="110">
                <a:moveTo>
                  <a:pt x="0" y="109"/>
                </a:moveTo>
                <a:lnTo>
                  <a:pt x="660" y="109"/>
                </a:lnTo>
                <a:lnTo>
                  <a:pt x="660" y="110"/>
                </a:lnTo>
                <a:lnTo>
                  <a:pt x="0" y="110"/>
                </a:lnTo>
                <a:close/>
              </a:path>
            </a:pathLst>
          </a:custGeom>
          <a:solidFill>
            <a:srgbClr val="F7F1E8">
              <a:alpha val="12000"/>
            </a:srgbClr>
          </a:solidFill>
          <a:ln/>
        </p:spPr>
        <p:txBody>
          <a:bodyPr/>
          <a:p>
            <a:pPr/>
            <a:endParaRPr/>
          </a:p>
        </p:txBody>
      </p:sp>
      <p:sp>
        <p:nvSpPr>
          <p:cNvPr id="100" name="" descr="{&quot;isTemplate&quot;:true,&quot;type&quot;:&quot;text&quot;}"/>
          <p:cNvSpPr txBox="1"/>
          <p:nvPr/>
        </p:nvSpPr>
        <p:spPr>
          <a:xfrm rot="0" flipH="0" flipV="0">
            <a:off x="5219700" y="1333500"/>
            <a:ext cx="704850" cy="342900"/>
          </a:xfrm>
          <a:prstGeom prst="rect"/>
        </p:spPr>
        <p:txBody>
          <a:bodyPr wrap="none" lIns="0" tIns="0" rIns="0" bIns="0"/>
          <a:p>
            <a:pPr>
              <a:lnSpc>
                <a:spcPct val="100000"/>
              </a:lnSpc>
            </a:pPr>
            <a:r>
              <a:rPr lang="en-US" sz="2250" b="1">
                <a:solidFill>
                  <a:srgbClr val="F2C96D"/>
                </a:solidFill>
                <a:latin typeface="Microsoft YaHei"/>
                <a:ea typeface="Microsoft YaHei"/>
              </a:rPr>
              <a:t>01</a:t>
            </a:r>
            <a:endParaRPr/>
          </a:p>
        </p:txBody>
      </p:sp>
      <p:sp>
        <p:nvSpPr>
          <p:cNvPr id="101" name="" descr="{&quot;isTemplate&quot;:true,&quot;type&quot;:&quot;text&quot;}"/>
          <p:cNvSpPr txBox="1"/>
          <p:nvPr/>
        </p:nvSpPr>
        <p:spPr>
          <a:xfrm rot="0" flipH="0" flipV="0">
            <a:off x="6134100" y="1333500"/>
            <a:ext cx="5372100" cy="247650"/>
          </a:xfrm>
          <a:prstGeom prst="rect"/>
        </p:spPr>
        <p:txBody>
          <a:bodyPr wrap="none" lIns="0" tIns="0" rIns="0" bIns="0"/>
          <a:p>
            <a:pPr>
              <a:lnSpc>
                <a:spcPct val="100000"/>
              </a:lnSpc>
            </a:pPr>
            <a:r>
              <a:rPr lang="en-US" sz="1575" b="1">
                <a:solidFill>
                  <a:srgbClr val="F7F1E8"/>
                </a:solidFill>
                <a:latin typeface="Microsoft YaHei"/>
                <a:ea typeface="Microsoft YaHei"/>
              </a:rPr>
              <a:t>₹1,00,000 of money that does not exist</a:t>
            </a:r>
            <a:endParaRPr/>
          </a:p>
        </p:txBody>
      </p:sp>
      <p:sp>
        <p:nvSpPr>
          <p:cNvPr id="102" name="" descr="{&quot;isTemplate&quot;:true,&quot;type&quot;:&quot;text&quot;}"/>
          <p:cNvSpPr txBox="1"/>
          <p:nvPr/>
        </p:nvSpPr>
        <p:spPr>
          <a:xfrm rot="0" flipH="0" flipV="0">
            <a:off x="6134100" y="1638300"/>
            <a:ext cx="5372100" cy="552450"/>
          </a:xfrm>
          <a:prstGeom prst="rect"/>
        </p:spPr>
        <p:txBody>
          <a:bodyPr wrap="square" lIns="0" tIns="0" rIns="0" bIns="0">
            <a:normAutofit/>
          </a:bodyPr>
          <a:p>
            <a:pPr>
              <a:lnSpc>
                <a:spcPct val="150000"/>
              </a:lnSpc>
            </a:pPr>
            <a:r>
              <a:rPr lang="en-US" sz="1200">
                <a:solidFill>
                  <a:srgbClr val="F7F1E8">
                    <a:alpha val="66000"/>
                  </a:srgbClr>
                </a:solidFill>
                <a:latin typeface="Microsoft YaHei"/>
                <a:ea typeface="Microsoft YaHei"/>
              </a:rPr>
              <a:t>Identical starting capital, integer paise, no top-ups. Everyone is marked to the same mid, every tick.</a:t>
            </a:r>
            <a:endParaRPr/>
          </a:p>
        </p:txBody>
      </p:sp>
      <p:sp>
        <p:nvSpPr>
          <p:cNvPr id="103" name=""/>
          <p:cNvSpPr/>
          <p:nvPr/>
        </p:nvSpPr>
        <p:spPr>
          <a:xfrm rot="0" flipH="0" flipV="0">
            <a:off x="5219700" y="2571750"/>
            <a:ext cx="6286500" cy="1047750"/>
          </a:xfrm>
          <a:custGeom>
            <a:pathLst>
              <a:path w="660" h="110">
                <a:moveTo>
                  <a:pt x="0" y="109"/>
                </a:moveTo>
                <a:lnTo>
                  <a:pt x="660" y="109"/>
                </a:lnTo>
                <a:lnTo>
                  <a:pt x="660" y="110"/>
                </a:lnTo>
                <a:lnTo>
                  <a:pt x="0" y="110"/>
                </a:lnTo>
                <a:close/>
              </a:path>
            </a:pathLst>
          </a:custGeom>
          <a:solidFill>
            <a:srgbClr val="F7F1E8">
              <a:alpha val="12000"/>
            </a:srgbClr>
          </a:solidFill>
          <a:ln/>
        </p:spPr>
        <p:txBody>
          <a:bodyPr/>
          <a:p>
            <a:pPr/>
            <a:endParaRPr/>
          </a:p>
        </p:txBody>
      </p:sp>
      <p:sp>
        <p:nvSpPr>
          <p:cNvPr id="104" name="" descr="{&quot;isTemplate&quot;:true,&quot;type&quot;:&quot;text&quot;}"/>
          <p:cNvSpPr txBox="1"/>
          <p:nvPr/>
        </p:nvSpPr>
        <p:spPr>
          <a:xfrm rot="0" flipH="0" flipV="0">
            <a:off x="5219700" y="2571750"/>
            <a:ext cx="704850" cy="342900"/>
          </a:xfrm>
          <a:prstGeom prst="rect"/>
        </p:spPr>
        <p:txBody>
          <a:bodyPr wrap="none" lIns="0" tIns="0" rIns="0" bIns="0"/>
          <a:p>
            <a:pPr>
              <a:lnSpc>
                <a:spcPct val="100000"/>
              </a:lnSpc>
            </a:pPr>
            <a:r>
              <a:rPr lang="en-US" sz="2250" b="1">
                <a:solidFill>
                  <a:srgbClr val="F2C96D"/>
                </a:solidFill>
                <a:latin typeface="Microsoft YaHei"/>
                <a:ea typeface="Microsoft YaHei"/>
              </a:rPr>
              <a:t>02</a:t>
            </a:r>
            <a:endParaRPr/>
          </a:p>
        </p:txBody>
      </p:sp>
      <p:sp>
        <p:nvSpPr>
          <p:cNvPr id="105" name="" descr="{&quot;isTemplate&quot;:true,&quot;type&quot;:&quot;text&quot;}"/>
          <p:cNvSpPr txBox="1"/>
          <p:nvPr/>
        </p:nvSpPr>
        <p:spPr>
          <a:xfrm rot="0" flipH="0" flipV="0">
            <a:off x="6134100" y="2571750"/>
            <a:ext cx="5372100" cy="247650"/>
          </a:xfrm>
          <a:prstGeom prst="rect"/>
        </p:spPr>
        <p:txBody>
          <a:bodyPr wrap="none" lIns="0" tIns="0" rIns="0" bIns="0"/>
          <a:p>
            <a:pPr>
              <a:lnSpc>
                <a:spcPct val="100000"/>
              </a:lnSpc>
            </a:pPr>
            <a:r>
              <a:rPr lang="en-US" sz="1575" b="1">
                <a:solidFill>
                  <a:srgbClr val="F7F1E8"/>
                </a:solidFill>
                <a:latin typeface="Microsoft YaHei"/>
                <a:ea typeface="Microsoft YaHei"/>
              </a:rPr>
              <a:t>Three seats at one table</a:t>
            </a:r>
            <a:endParaRPr/>
          </a:p>
        </p:txBody>
      </p:sp>
      <p:sp>
        <p:nvSpPr>
          <p:cNvPr id="106" name="" descr="{&quot;isTemplate&quot;:true,&quot;type&quot;:&quot;text&quot;}"/>
          <p:cNvSpPr txBox="1"/>
          <p:nvPr/>
        </p:nvSpPr>
        <p:spPr>
          <a:xfrm rot="0" flipH="0" flipV="0">
            <a:off x="6134100" y="2876550"/>
            <a:ext cx="5372100" cy="552450"/>
          </a:xfrm>
          <a:prstGeom prst="rect"/>
        </p:spPr>
        <p:txBody>
          <a:bodyPr wrap="square" lIns="0" tIns="0" rIns="0" bIns="0">
            <a:normAutofit/>
          </a:bodyPr>
          <a:p>
            <a:pPr>
              <a:lnSpc>
                <a:spcPct val="150000"/>
              </a:lnSpc>
            </a:pPr>
            <a:r>
              <a:rPr lang="en-US" sz="1200">
                <a:solidFill>
                  <a:srgbClr val="F7F1E8">
                    <a:alpha val="66000"/>
                  </a:srgbClr>
                </a:solidFill>
                <a:latin typeface="Microsoft YaHei"/>
                <a:ea typeface="Microsoft YaHei"/>
              </a:rPr>
              <a:t>Two friends and you — or two bots running the exact same engine, order book and fee-free ledger.</a:t>
            </a:r>
            <a:endParaRPr/>
          </a:p>
        </p:txBody>
      </p:sp>
      <p:sp>
        <p:nvSpPr>
          <p:cNvPr id="107" name=""/>
          <p:cNvSpPr/>
          <p:nvPr/>
        </p:nvSpPr>
        <p:spPr>
          <a:xfrm rot="0" flipH="0" flipV="0">
            <a:off x="5219700" y="3810000"/>
            <a:ext cx="6286500" cy="1047750"/>
          </a:xfrm>
          <a:custGeom>
            <a:pathLst>
              <a:path w="660" h="110">
                <a:moveTo>
                  <a:pt x="0" y="109"/>
                </a:moveTo>
                <a:lnTo>
                  <a:pt x="660" y="109"/>
                </a:lnTo>
                <a:lnTo>
                  <a:pt x="660" y="110"/>
                </a:lnTo>
                <a:lnTo>
                  <a:pt x="0" y="110"/>
                </a:lnTo>
                <a:close/>
              </a:path>
            </a:pathLst>
          </a:custGeom>
          <a:solidFill>
            <a:srgbClr val="F7F1E8">
              <a:alpha val="12000"/>
            </a:srgbClr>
          </a:solidFill>
          <a:ln/>
        </p:spPr>
        <p:txBody>
          <a:bodyPr/>
          <a:p>
            <a:pPr/>
            <a:endParaRPr/>
          </a:p>
        </p:txBody>
      </p:sp>
      <p:sp>
        <p:nvSpPr>
          <p:cNvPr id="108" name="" descr="{&quot;isTemplate&quot;:true,&quot;type&quot;:&quot;text&quot;}"/>
          <p:cNvSpPr txBox="1"/>
          <p:nvPr/>
        </p:nvSpPr>
        <p:spPr>
          <a:xfrm rot="0" flipH="0" flipV="0">
            <a:off x="5219700" y="3810000"/>
            <a:ext cx="704850" cy="342900"/>
          </a:xfrm>
          <a:prstGeom prst="rect"/>
        </p:spPr>
        <p:txBody>
          <a:bodyPr wrap="none" lIns="0" tIns="0" rIns="0" bIns="0"/>
          <a:p>
            <a:pPr>
              <a:lnSpc>
                <a:spcPct val="100000"/>
              </a:lnSpc>
            </a:pPr>
            <a:r>
              <a:rPr lang="en-US" sz="2250" b="1">
                <a:solidFill>
                  <a:srgbClr val="F2C96D"/>
                </a:solidFill>
                <a:latin typeface="Microsoft YaHei"/>
                <a:ea typeface="Microsoft YaHei"/>
              </a:rPr>
              <a:t>03</a:t>
            </a:r>
            <a:endParaRPr/>
          </a:p>
        </p:txBody>
      </p:sp>
      <p:sp>
        <p:nvSpPr>
          <p:cNvPr id="109" name="" descr="{&quot;isTemplate&quot;:true,&quot;type&quot;:&quot;text&quot;}"/>
          <p:cNvSpPr txBox="1"/>
          <p:nvPr/>
        </p:nvSpPr>
        <p:spPr>
          <a:xfrm rot="0" flipH="0" flipV="0">
            <a:off x="6134100" y="3810000"/>
            <a:ext cx="5372100" cy="247650"/>
          </a:xfrm>
          <a:prstGeom prst="rect"/>
        </p:spPr>
        <p:txBody>
          <a:bodyPr wrap="none" lIns="0" tIns="0" rIns="0" bIns="0"/>
          <a:p>
            <a:pPr>
              <a:lnSpc>
                <a:spcPct val="100000"/>
              </a:lnSpc>
            </a:pPr>
            <a:r>
              <a:rPr lang="en-US" sz="1575" b="1">
                <a:solidFill>
                  <a:srgbClr val="F7F1E8"/>
                </a:solidFill>
                <a:latin typeface="Microsoft YaHei"/>
                <a:ea typeface="Microsoft YaHei"/>
              </a:rPr>
              <a:t>Six fictional companies</a:t>
            </a:r>
            <a:endParaRPr/>
          </a:p>
        </p:txBody>
      </p:sp>
      <p:sp>
        <p:nvSpPr>
          <p:cNvPr id="110" name="" descr="{&quot;isTemplate&quot;:true,&quot;type&quot;:&quot;text&quot;}"/>
          <p:cNvSpPr txBox="1"/>
          <p:nvPr/>
        </p:nvSpPr>
        <p:spPr>
          <a:xfrm rot="0" flipH="0" flipV="0">
            <a:off x="6134100" y="4114800"/>
            <a:ext cx="5372100" cy="552450"/>
          </a:xfrm>
          <a:prstGeom prst="rect"/>
        </p:spPr>
        <p:txBody>
          <a:bodyPr wrap="square" lIns="0" tIns="0" rIns="0" bIns="0">
            <a:normAutofit/>
          </a:bodyPr>
          <a:p>
            <a:pPr>
              <a:lnSpc>
                <a:spcPct val="150000"/>
              </a:lnSpc>
            </a:pPr>
            <a:r>
              <a:rPr lang="en-US" sz="1200">
                <a:solidFill>
                  <a:srgbClr val="F7F1E8">
                    <a:alpha val="66000"/>
                  </a:srgbClr>
                </a:solidFill>
                <a:latin typeface="Microsoft YaHei"/>
                <a:ea typeface="Microsoft YaHei"/>
              </a:rPr>
              <a:t>NEON, CHIP, ACES, DICE, LUCK, JKPT. Invented tickers, invented volatility, zero resemblance to a real exchange.</a:t>
            </a:r>
            <a:endParaRPr/>
          </a:p>
        </p:txBody>
      </p:sp>
      <p:sp>
        <p:nvSpPr>
          <p:cNvPr id="111" name="" descr="{&quot;isTemplate&quot;:true,&quot;type&quot;:&quot;text&quot;}"/>
          <p:cNvSpPr txBox="1"/>
          <p:nvPr/>
        </p:nvSpPr>
        <p:spPr>
          <a:xfrm rot="0" flipH="0" flipV="0">
            <a:off x="5219700" y="5048250"/>
            <a:ext cx="704850" cy="342900"/>
          </a:xfrm>
          <a:prstGeom prst="rect"/>
        </p:spPr>
        <p:txBody>
          <a:bodyPr wrap="none" lIns="0" tIns="0" rIns="0" bIns="0"/>
          <a:p>
            <a:pPr>
              <a:lnSpc>
                <a:spcPct val="100000"/>
              </a:lnSpc>
            </a:pPr>
            <a:r>
              <a:rPr lang="en-US" sz="2250" b="1">
                <a:solidFill>
                  <a:srgbClr val="E73555"/>
                </a:solidFill>
                <a:latin typeface="Microsoft YaHei"/>
                <a:ea typeface="Microsoft YaHei"/>
              </a:rPr>
              <a:t>04</a:t>
            </a:r>
            <a:endParaRPr/>
          </a:p>
        </p:txBody>
      </p:sp>
      <p:sp>
        <p:nvSpPr>
          <p:cNvPr id="112" name="" descr="{&quot;isTemplate&quot;:true,&quot;type&quot;:&quot;text&quot;}"/>
          <p:cNvSpPr txBox="1"/>
          <p:nvPr/>
        </p:nvSpPr>
        <p:spPr>
          <a:xfrm rot="0" flipH="0" flipV="0">
            <a:off x="6134100" y="5048250"/>
            <a:ext cx="5372100" cy="247650"/>
          </a:xfrm>
          <a:prstGeom prst="rect"/>
        </p:spPr>
        <p:txBody>
          <a:bodyPr wrap="none" lIns="0" tIns="0" rIns="0" bIns="0"/>
          <a:p>
            <a:pPr>
              <a:lnSpc>
                <a:spcPct val="100000"/>
              </a:lnSpc>
            </a:pPr>
            <a:r>
              <a:rPr lang="en-US" sz="1575" b="1">
                <a:solidFill>
                  <a:srgbClr val="F7F1E8"/>
                </a:solidFill>
                <a:latin typeface="Microsoft YaHei"/>
                <a:ea typeface="Microsoft YaHei"/>
              </a:rPr>
              <a:t>Zero rupees convert, ever</a:t>
            </a:r>
            <a:endParaRPr/>
          </a:p>
        </p:txBody>
      </p:sp>
      <p:sp>
        <p:nvSpPr>
          <p:cNvPr id="113" name="" descr="{&quot;isTemplate&quot;:true,&quot;type&quot;:&quot;text&quot;}"/>
          <p:cNvSpPr txBox="1"/>
          <p:nvPr/>
        </p:nvSpPr>
        <p:spPr>
          <a:xfrm rot="0" flipH="0" flipV="0">
            <a:off x="6134100" y="5353050"/>
            <a:ext cx="5372100" cy="552450"/>
          </a:xfrm>
          <a:prstGeom prst="rect"/>
        </p:spPr>
        <p:txBody>
          <a:bodyPr wrap="square" lIns="0" tIns="0" rIns="0" bIns="0">
            <a:normAutofit/>
          </a:bodyPr>
          <a:p>
            <a:pPr>
              <a:lnSpc>
                <a:spcPct val="150000"/>
              </a:lnSpc>
            </a:pPr>
            <a:r>
              <a:rPr lang="en-US" sz="1200">
                <a:solidFill>
                  <a:srgbClr val="F7F1E8">
                    <a:alpha val="66000"/>
                  </a:srgbClr>
                </a:solidFill>
                <a:latin typeface="Microsoft YaHei"/>
                <a:ea typeface="Microsoft YaHei"/>
              </a:rPr>
              <a:t>Nothing cashes out. There is no withdrawal button, because there is nothing to withdraw.</a:t>
            </a:r>
            <a:endParaRPr/>
          </a:p>
        </p:txBody>
      </p:sp>
      <p:sp>
        <p:nvSpPr>
          <p:cNvPr id="114" name=""/>
          <p:cNvSpPr/>
          <p:nvPr/>
        </p:nvSpPr>
        <p:spPr>
          <a:xfrm rot="0" flipH="0" flipV="0">
            <a:off x="685800" y="6096000"/>
            <a:ext cx="10820400" cy="571500"/>
          </a:xfrm>
          <a:custGeom>
            <a:pathLst>
              <a:path w="1136" h="60">
                <a:moveTo>
                  <a:pt x="0" y="0"/>
                </a:moveTo>
                <a:lnTo>
                  <a:pt x="1136" y="0"/>
                </a:lnTo>
                <a:lnTo>
                  <a:pt x="1136" y="1"/>
                </a:lnTo>
                <a:lnTo>
                  <a:pt x="0" y="1"/>
                </a:lnTo>
                <a:close/>
              </a:path>
            </a:pathLst>
          </a:custGeom>
          <a:solidFill>
            <a:srgbClr val="F7F1E8">
              <a:alpha val="10000"/>
            </a:srgbClr>
          </a:solidFill>
          <a:ln/>
        </p:spPr>
        <p:txBody>
          <a:bodyPr/>
          <a:p>
            <a:pPr/>
            <a:endParaRPr/>
          </a:p>
        </p:txBody>
      </p:sp>
      <p:sp>
        <p:nvSpPr>
          <p:cNvPr id="115" name="" descr="{&quot;isTemplate&quot;:true,&quot;type&quot;:&quot;text&quot;}"/>
          <p:cNvSpPr txBox="1"/>
          <p:nvPr/>
        </p:nvSpPr>
        <p:spPr>
          <a:xfrm rot="0" flipH="0" flipV="0">
            <a:off x="685800" y="6515100"/>
            <a:ext cx="2819400" cy="152400"/>
          </a:xfrm>
          <a:prstGeom prst="rect"/>
        </p:spPr>
        <p:txBody>
          <a:bodyPr wrap="none" lIns="0" tIns="0" rIns="0" bIns="0"/>
          <a:p>
            <a:pPr>
              <a:lnSpc>
                <a:spcPct val="100000"/>
              </a:lnSpc>
            </a:pPr>
            <a:r>
              <a:rPr lang="en-US" sz="975">
                <a:solidFill>
                  <a:srgbClr val="F7F1E8">
                    <a:alpha val="45000"/>
                  </a:srgbClr>
                </a:solidFill>
                <a:latin typeface="Microsoft YaHei"/>
                <a:ea typeface="Microsoft YaHei"/>
              </a:rPr>
              <a:t>BROKE VEGAS · fictional markets, virtual money</a:t>
            </a:r>
            <a:endParaRPr/>
          </a:p>
        </p:txBody>
      </p:sp>
      <p:sp>
        <p:nvSpPr>
          <p:cNvPr id="116" name="" descr="{&quot;isTemplate&quot;:true,&quot;type&quot;:&quot;text&quot;}"/>
          <p:cNvSpPr txBox="1"/>
          <p:nvPr/>
        </p:nvSpPr>
        <p:spPr>
          <a:xfrm rot="0" flipH="0" flipV="0">
            <a:off x="11087100" y="6515100"/>
            <a:ext cx="419100" cy="152400"/>
          </a:xfrm>
          <a:prstGeom prst="rect"/>
        </p:spPr>
        <p:txBody>
          <a:bodyPr wrap="none" lIns="0" tIns="0" rIns="0" bIns="0"/>
          <a:p>
            <a:pPr>
              <a:lnSpc>
                <a:spcPct val="100000"/>
              </a:lnSpc>
            </a:pPr>
            <a:r>
              <a:rPr lang="en-US" sz="975">
                <a:solidFill>
                  <a:srgbClr val="F7F1E8">
                    <a:alpha val="45000"/>
                  </a:srgbClr>
                </a:solidFill>
                <a:latin typeface="Microsoft YaHei"/>
                <a:ea typeface="Microsoft YaHei"/>
              </a:rPr>
              <a:t>02 / 12</a:t>
            </a:r>
            <a:endParaRPr/>
          </a:p>
        </p:txBody>
      </p:sp>
    </p:spTree>
  </p:cSld>
</p:sld>
</file>

<file path=ppt/slides/slide3.xml><?xml version="1.0" encoding="utf-8"?>
<p:sld xmlns:p="http://schemas.openxmlformats.org/presentationml/2006/main" xmlns:a="http://schemas.openxmlformats.org/drawingml/2006/main" xmlns:c="http://schemas.openxmlformats.org/drawingml/2006/chart" xmlns:r="http://schemas.openxmlformats.org/officeDocument/2006/relationships">
  <p:cSld>
    <p:spTree>
      <p:nvGrpSpPr>
        <p:cNvPr id="117" name=""/>
        <p:cNvGrpSpPr/>
        <p:nvPr/>
      </p:nvGrpSpPr>
      <p:grpSpPr>
        <a:xfrm>
          <a:off x="0" y="0"/>
          <a:ext cx="0" cy="0"/>
          <a:chOff x="0" y="0"/>
          <a:chExt cx="0" cy="0"/>
        </a:xfrm>
      </p:grpSpPr>
      <p:sp>
        <p:nvSpPr>
          <p:cNvPr id="118" name=""/>
          <p:cNvSpPr/>
          <p:nvPr/>
        </p:nvSpPr>
        <p:spPr>
          <a:xfrm rot="0" flipH="0" flipV="0">
            <a:off x="0" y="0"/>
            <a:ext cx="12192000" cy="6858000"/>
          </a:xfrm>
          <a:prstGeom prst="rect">
            <a:avLst/>
          </a:prstGeom>
          <a:solidFill>
            <a:srgbClr val="07060B"/>
          </a:solidFill>
          <a:ln/>
        </p:spPr>
        <p:txBody>
          <a:bodyPr/>
          <a:p>
            <a:pPr/>
            <a:endParaRPr/>
          </a:p>
        </p:txBody>
      </p:sp>
      <p:sp>
        <p:nvSpPr>
          <p:cNvPr id="119" name="" descr="{&quot;isTemplate&quot;:true,&quot;type&quot;:&quot;text&quot;}"/>
          <p:cNvSpPr txBox="1"/>
          <p:nvPr/>
        </p:nvSpPr>
        <p:spPr>
          <a:xfrm rot="0" flipH="0" flipV="0">
            <a:off x="685800" y="190500"/>
            <a:ext cx="6105525" cy="142875"/>
          </a:xfrm>
          <a:prstGeom prst="rect"/>
        </p:spPr>
        <p:txBody>
          <a:bodyPr wrap="none" lIns="0" tIns="0" rIns="0" bIns="0"/>
          <a:p>
            <a:pPr>
              <a:lnSpc>
                <a:spcPct val="100000"/>
              </a:lnSpc>
            </a:pPr>
            <a:r>
              <a:rPr lang="en-US" sz="900" b="1" spc="180">
                <a:solidFill>
                  <a:srgbClr val="F2C96D"/>
                </a:solidFill>
                <a:latin typeface="Microsoft YaHei"/>
                <a:ea typeface="Microsoft YaHei"/>
              </a:rPr>
              <a:t>THE ENGINE</a:t>
            </a:r>
            <a:endParaRPr/>
          </a:p>
        </p:txBody>
      </p:sp>
      <p:sp>
        <p:nvSpPr>
          <p:cNvPr id="120" name="" descr="{&quot;isTemplate&quot;:true,&quot;type&quot;:&quot;text&quot;}"/>
          <p:cNvSpPr txBox="1"/>
          <p:nvPr/>
        </p:nvSpPr>
        <p:spPr>
          <a:xfrm rot="0" flipH="0" flipV="0">
            <a:off x="685800" y="409575"/>
            <a:ext cx="6105525" cy="485775"/>
          </a:xfrm>
          <a:prstGeom prst="rect"/>
        </p:spPr>
        <p:txBody>
          <a:bodyPr wrap="none" lIns="0" tIns="0" rIns="0" bIns="0"/>
          <a:p>
            <a:pPr>
              <a:lnSpc>
                <a:spcPct val="110000"/>
              </a:lnSpc>
            </a:pPr>
            <a:r>
              <a:rPr lang="en-US" sz="2850">
                <a:solidFill>
                  <a:srgbClr val="F7F1E8"/>
                </a:solidFill>
                <a:latin typeface="Impact"/>
                <a:ea typeface="Impact"/>
              </a:rPr>
              <a:t>Same seed. Same market. Every time.</a:t>
            </a:r>
            <a:endParaRPr/>
          </a:p>
        </p:txBody>
      </p:sp>
      <p:sp>
        <p:nvSpPr>
          <p:cNvPr id="121" name="" descr="{&quot;isTemplate&quot;:true,&quot;type&quot;:&quot;text&quot;}"/>
          <p:cNvSpPr txBox="1"/>
          <p:nvPr/>
        </p:nvSpPr>
        <p:spPr>
          <a:xfrm rot="0" flipH="0" flipV="0">
            <a:off x="8515350" y="190500"/>
            <a:ext cx="2990850" cy="209550"/>
          </a:xfrm>
          <a:prstGeom prst="rect"/>
        </p:spPr>
        <p:txBody>
          <a:bodyPr wrap="none" lIns="0" tIns="42863" rIns="0" bIns="0"/>
          <a:p>
            <a:pPr>
              <a:lnSpc>
                <a:spcPct val="100000"/>
              </a:lnSpc>
            </a:pPr>
            <a:r>
              <a:rPr lang="en-US" sz="975" spc="120">
                <a:solidFill>
                  <a:srgbClr val="F7F1E8">
                    <a:alpha val="50000"/>
                  </a:srgbClr>
                </a:solidFill>
                <a:latin typeface="Microsoft YaHei"/>
                <a:ea typeface="Microsoft YaHei"/>
              </a:rPr>
              <a:t>PURE TYPESCRIPT · ZERO DEPENDENCIES</a:t>
            </a:r>
            <a:endParaRPr/>
          </a:p>
        </p:txBody>
      </p:sp>
      <p:sp>
        <p:nvSpPr>
          <p:cNvPr id="122" name="" descr="{&quot;isTemplate&quot;:true,&quot;type&quot;:&quot;text&quot;}"/>
          <p:cNvSpPr txBox="1"/>
          <p:nvPr/>
        </p:nvSpPr>
        <p:spPr>
          <a:xfrm rot="0" flipH="0" flipV="0">
            <a:off x="685800" y="1333500"/>
            <a:ext cx="3810000" cy="657225"/>
          </a:xfrm>
          <a:prstGeom prst="rect"/>
        </p:spPr>
        <p:txBody>
          <a:bodyPr wrap="none" lIns="0" tIns="0" rIns="0" bIns="0"/>
          <a:p>
            <a:pPr>
              <a:lnSpc>
                <a:spcPct val="95000"/>
              </a:lnSpc>
            </a:pPr>
            <a:r>
              <a:rPr lang="en-US" sz="4500" b="1">
                <a:solidFill>
                  <a:srgbClr val="E73555"/>
                </a:solidFill>
                <a:latin typeface="Microsoft YaHei"/>
                <a:ea typeface="Microsoft YaHei"/>
              </a:rPr>
              <a:t>−12.8%</a:t>
            </a:r>
            <a:endParaRPr/>
          </a:p>
        </p:txBody>
      </p:sp>
      <p:sp>
        <p:nvSpPr>
          <p:cNvPr id="123" name="" descr="{&quot;isTemplate&quot;:true,&quot;type&quot;:&quot;text&quot;}"/>
          <p:cNvSpPr txBox="1"/>
          <p:nvPr/>
        </p:nvSpPr>
        <p:spPr>
          <a:xfrm rot="0" flipH="0" flipV="0">
            <a:off x="685800" y="2085975"/>
            <a:ext cx="3810000" cy="171450"/>
          </a:xfrm>
          <a:prstGeom prst="rect"/>
        </p:spPr>
        <p:txBody>
          <a:bodyPr wrap="none" lIns="0" tIns="0" rIns="0" bIns="0"/>
          <a:p>
            <a:pPr>
              <a:lnSpc>
                <a:spcPct val="100000"/>
              </a:lnSpc>
            </a:pPr>
            <a:r>
              <a:rPr lang="en-US" sz="1125" spc="105">
                <a:solidFill>
                  <a:srgbClr val="F7F1E8">
                    <a:alpha val="60000"/>
                  </a:srgbClr>
                </a:solidFill>
                <a:latin typeface="Microsoft YaHei"/>
                <a:ea typeface="Microsoft YaHei"/>
              </a:rPr>
              <a:t>NEON HOLDINGS · 120 TICKS · SEED "DECK"</a:t>
            </a:r>
            <a:endParaRPr/>
          </a:p>
        </p:txBody>
      </p:sp>
      <p:sp>
        <p:nvSpPr>
          <p:cNvPr id="124" name="" descr="{&quot;isTemplate&quot;:true,&quot;type&quot;:&quot;text&quot;}"/>
          <p:cNvSpPr txBox="1"/>
          <p:nvPr/>
        </p:nvSpPr>
        <p:spPr>
          <a:xfrm rot="0" flipH="0" flipV="0">
            <a:off x="685800" y="2990850"/>
            <a:ext cx="209550" cy="771525"/>
          </a:xfrm>
          <a:prstGeom prst="rect"/>
        </p:spPr>
        <p:txBody>
          <a:bodyPr wrap="none" lIns="0" tIns="0" rIns="0" bIns="0"/>
          <a:p>
            <a:pPr>
              <a:lnSpc>
                <a:spcPct val="100000"/>
              </a:lnSpc>
            </a:pPr>
            <a:r>
              <a:rPr lang="en-US" sz="1125" b="1">
                <a:solidFill>
                  <a:srgbClr val="F2C96D"/>
                </a:solidFill>
                <a:latin typeface="Microsoft YaHei"/>
                <a:ea typeface="Microsoft YaHei"/>
              </a:rPr>
              <a:t>01</a:t>
            </a:r>
            <a:endParaRPr/>
          </a:p>
        </p:txBody>
      </p:sp>
      <p:sp>
        <p:nvSpPr>
          <p:cNvPr id="125" name="" descr="{&quot;isTemplate&quot;:true,&quot;type&quot;:&quot;text&quot;}"/>
          <p:cNvSpPr txBox="1"/>
          <p:nvPr/>
        </p:nvSpPr>
        <p:spPr>
          <a:xfrm rot="0" flipH="0" flipV="0">
            <a:off x="1028700" y="2990850"/>
            <a:ext cx="3467100" cy="771525"/>
          </a:xfrm>
          <a:prstGeom prst="rect"/>
        </p:spPr>
        <p:txBody>
          <a:bodyPr wrap="square" lIns="0" tIns="0" rIns="0" bIns="0">
            <a:normAutofit/>
          </a:bodyPr>
          <a:p>
            <a:pPr>
              <a:lnSpc>
                <a:spcPct val="150000"/>
              </a:lnSpc>
            </a:pPr>
            <a:r>
              <a:rPr lang="en-US" sz="1125">
                <a:solidFill>
                  <a:srgbClr val="F7F1E8">
                    <a:alpha val="78000"/>
                  </a:srgbClr>
                </a:solidFill>
                <a:latin typeface="Microsoft YaHei"/>
                <a:ea typeface="Microsoft YaHei"/>
              </a:rPr>
              <a:t>Prices come from a seeded hash, not Math.random. Replay the seed and you get the identical path.</a:t>
            </a:r>
            <a:endParaRPr/>
          </a:p>
        </p:txBody>
      </p:sp>
      <p:sp>
        <p:nvSpPr>
          <p:cNvPr id="126" name="" descr="{&quot;isTemplate&quot;:true,&quot;type&quot;:&quot;text&quot;}"/>
          <p:cNvSpPr txBox="1"/>
          <p:nvPr/>
        </p:nvSpPr>
        <p:spPr>
          <a:xfrm rot="0" flipH="0" flipV="0">
            <a:off x="685800" y="3876675"/>
            <a:ext cx="209550" cy="514350"/>
          </a:xfrm>
          <a:prstGeom prst="rect"/>
        </p:spPr>
        <p:txBody>
          <a:bodyPr wrap="none" lIns="0" tIns="0" rIns="0" bIns="0"/>
          <a:p>
            <a:pPr>
              <a:lnSpc>
                <a:spcPct val="100000"/>
              </a:lnSpc>
            </a:pPr>
            <a:r>
              <a:rPr lang="en-US" sz="1125" b="1">
                <a:solidFill>
                  <a:srgbClr val="F2C96D"/>
                </a:solidFill>
                <a:latin typeface="Microsoft YaHei"/>
                <a:ea typeface="Microsoft YaHei"/>
              </a:rPr>
              <a:t>02</a:t>
            </a:r>
            <a:endParaRPr/>
          </a:p>
        </p:txBody>
      </p:sp>
      <p:sp>
        <p:nvSpPr>
          <p:cNvPr id="127" name="" descr="{&quot;isTemplate&quot;:true,&quot;type&quot;:&quot;text&quot;}"/>
          <p:cNvSpPr txBox="1"/>
          <p:nvPr/>
        </p:nvSpPr>
        <p:spPr>
          <a:xfrm rot="0" flipH="0" flipV="0">
            <a:off x="1028700" y="3876675"/>
            <a:ext cx="3467100" cy="514350"/>
          </a:xfrm>
          <a:prstGeom prst="rect"/>
        </p:spPr>
        <p:txBody>
          <a:bodyPr wrap="square" lIns="0" tIns="0" rIns="0" bIns="0">
            <a:normAutofit/>
          </a:bodyPr>
          <a:p>
            <a:pPr>
              <a:lnSpc>
                <a:spcPct val="150000"/>
              </a:lnSpc>
            </a:pPr>
            <a:r>
              <a:rPr lang="en-US" sz="1125">
                <a:solidFill>
                  <a:srgbClr val="F7F1E8">
                    <a:alpha val="78000"/>
                  </a:srgbClr>
                </a:solidFill>
                <a:latin typeface="Microsoft YaHei"/>
                <a:ea typeface="Microsoft YaHei"/>
              </a:rPr>
              <a:t>A House market maker quotes three levels per side, so there is always someone to trade against.</a:t>
            </a:r>
            <a:endParaRPr/>
          </a:p>
        </p:txBody>
      </p:sp>
      <p:sp>
        <p:nvSpPr>
          <p:cNvPr id="128" name="" descr="{&quot;isTemplate&quot;:true,&quot;type&quot;:&quot;text&quot;}"/>
          <p:cNvSpPr txBox="1"/>
          <p:nvPr/>
        </p:nvSpPr>
        <p:spPr>
          <a:xfrm rot="0" flipH="0" flipV="0">
            <a:off x="685800" y="4505325"/>
            <a:ext cx="209550" cy="771525"/>
          </a:xfrm>
          <a:prstGeom prst="rect"/>
        </p:spPr>
        <p:txBody>
          <a:bodyPr wrap="none" lIns="0" tIns="0" rIns="0" bIns="0"/>
          <a:p>
            <a:pPr>
              <a:lnSpc>
                <a:spcPct val="100000"/>
              </a:lnSpc>
            </a:pPr>
            <a:r>
              <a:rPr lang="en-US" sz="1125" b="1">
                <a:solidFill>
                  <a:srgbClr val="F2C96D"/>
                </a:solidFill>
                <a:latin typeface="Microsoft YaHei"/>
                <a:ea typeface="Microsoft YaHei"/>
              </a:rPr>
              <a:t>03</a:t>
            </a:r>
            <a:endParaRPr/>
          </a:p>
        </p:txBody>
      </p:sp>
      <p:sp>
        <p:nvSpPr>
          <p:cNvPr id="129" name="" descr="{&quot;isTemplate&quot;:true,&quot;type&quot;:&quot;text&quot;}"/>
          <p:cNvSpPr txBox="1"/>
          <p:nvPr/>
        </p:nvSpPr>
        <p:spPr>
          <a:xfrm rot="0" flipH="0" flipV="0">
            <a:off x="1028700" y="4505325"/>
            <a:ext cx="3467100" cy="771525"/>
          </a:xfrm>
          <a:prstGeom prst="rect"/>
        </p:spPr>
        <p:txBody>
          <a:bodyPr wrap="square" lIns="0" tIns="0" rIns="0" bIns="0">
            <a:normAutofit/>
          </a:bodyPr>
          <a:p>
            <a:pPr>
              <a:lnSpc>
                <a:spcPct val="150000"/>
              </a:lnSpc>
            </a:pPr>
            <a:r>
              <a:rPr lang="en-US" sz="1125">
                <a:solidFill>
                  <a:srgbClr val="F7F1E8">
                    <a:alpha val="78000"/>
                  </a:srgbClr>
                </a:solidFill>
                <a:latin typeface="Microsoft YaHei"/>
                <a:ea typeface="Microsoft YaHei"/>
              </a:rPr>
              <a:t>Price-time priority, partial fills, and a hard block on self-trading. Your own order cannot fill your own order.</a:t>
            </a:r>
            <a:endParaRPr/>
          </a:p>
        </p:txBody>
      </p:sp>
      <p:sp>
        <p:nvSpPr>
          <p:cNvPr id="130" name="" descr="{&quot;isTemplate&quot;:true,&quot;type&quot;:&quot;text&quot;}"/>
          <p:cNvSpPr txBox="1"/>
          <p:nvPr/>
        </p:nvSpPr>
        <p:spPr>
          <a:xfrm rot="0" flipH="0" flipV="0">
            <a:off x="685800" y="5391150"/>
            <a:ext cx="209550" cy="514350"/>
          </a:xfrm>
          <a:prstGeom prst="rect"/>
        </p:spPr>
        <p:txBody>
          <a:bodyPr wrap="none" lIns="0" tIns="0" rIns="0" bIns="0"/>
          <a:p>
            <a:pPr>
              <a:lnSpc>
                <a:spcPct val="100000"/>
              </a:lnSpc>
            </a:pPr>
            <a:r>
              <a:rPr lang="en-US" sz="1125" b="1">
                <a:solidFill>
                  <a:srgbClr val="F2C96D"/>
                </a:solidFill>
                <a:latin typeface="Microsoft YaHei"/>
                <a:ea typeface="Microsoft YaHei"/>
              </a:rPr>
              <a:t>04</a:t>
            </a:r>
            <a:endParaRPr/>
          </a:p>
        </p:txBody>
      </p:sp>
      <p:sp>
        <p:nvSpPr>
          <p:cNvPr id="131" name="" descr="{&quot;isTemplate&quot;:true,&quot;type&quot;:&quot;text&quot;}"/>
          <p:cNvSpPr txBox="1"/>
          <p:nvPr/>
        </p:nvSpPr>
        <p:spPr>
          <a:xfrm rot="0" flipH="0" flipV="0">
            <a:off x="1028700" y="5391150"/>
            <a:ext cx="3467100" cy="514350"/>
          </a:xfrm>
          <a:prstGeom prst="rect"/>
        </p:spPr>
        <p:txBody>
          <a:bodyPr wrap="square" lIns="0" tIns="0" rIns="0" bIns="0">
            <a:normAutofit/>
          </a:bodyPr>
          <a:p>
            <a:pPr>
              <a:lnSpc>
                <a:spcPct val="150000"/>
              </a:lnSpc>
            </a:pPr>
            <a:r>
              <a:rPr lang="en-US" sz="1125">
                <a:solidFill>
                  <a:srgbClr val="F7F1E8">
                    <a:alpha val="78000"/>
                  </a:srgbClr>
                </a:solidFill>
                <a:latin typeface="Microsoft YaHei"/>
                <a:ea typeface="Microsoft YaHei"/>
              </a:rPr>
              <a:t>Integer paise, reserved cash, average-cost basis. 60 fills in this run, every one reconciled to zero.</a:t>
            </a:r>
            <a:endParaRPr/>
          </a:p>
        </p:txBody>
      </p:sp>
      <p:graphicFrame>
        <p:nvGraphicFramePr>
          <p:cNvPr id="132" name="131"/>
          <p:cNvGraphicFramePr/>
          <p:nvPr/>
        </p:nvGraphicFramePr>
        <p:xfrm rot="0" flipH="0" flipV="0">
          <a:off x="4914900" y="1333500"/>
          <a:ext cx="6591300" cy="3733800"/>
        </p:xfrm>
        <a:graphic>
          <a:graphicData uri="http://schemas.openxmlformats.org/drawingml/2006/chart">
            <c:chart r:id="rId0"/>
          </a:graphicData>
        </a:graphic>
      </p:graphicFrame>
      <p:sp>
        <p:nvSpPr>
          <p:cNvPr id="133" name="" descr="{&quot;isTemplate&quot;:true,&quot;type&quot;:&quot;text&quot;}"/>
          <p:cNvSpPr txBox="1"/>
          <p:nvPr/>
        </p:nvSpPr>
        <p:spPr>
          <a:xfrm rot="0" flipH="0" flipV="0">
            <a:off x="4914900" y="5181600"/>
            <a:ext cx="2743200" cy="161925"/>
          </a:xfrm>
          <a:prstGeom prst="rect"/>
        </p:spPr>
        <p:txBody>
          <a:bodyPr wrap="none" lIns="0" tIns="0" rIns="0" bIns="0"/>
          <a:p>
            <a:pPr>
              <a:lnSpc>
                <a:spcPct val="100000"/>
              </a:lnSpc>
            </a:pPr>
            <a:r>
              <a:rPr lang="en-US" sz="1050">
                <a:solidFill>
                  <a:srgbClr val="F7F1E8">
                    <a:alpha val="55000"/>
                  </a:srgbClr>
                </a:solidFill>
                <a:latin typeface="Microsoft YaHei"/>
                <a:ea typeface="Microsoft YaHei"/>
              </a:rPr>
              <a:t>Open ₹420.00 · High ₹425.95 · Low ₹353.90</a:t>
            </a:r>
            <a:endParaRPr/>
          </a:p>
        </p:txBody>
      </p:sp>
      <p:sp>
        <p:nvSpPr>
          <p:cNvPr id="134" name="" descr="{&quot;isTemplate&quot;:true,&quot;type&quot;:&quot;text&quot;}"/>
          <p:cNvSpPr txBox="1"/>
          <p:nvPr/>
        </p:nvSpPr>
        <p:spPr>
          <a:xfrm rot="0" flipH="0" flipV="0">
            <a:off x="9124950" y="5181600"/>
            <a:ext cx="2381250" cy="161925"/>
          </a:xfrm>
          <a:prstGeom prst="rect"/>
        </p:spPr>
        <p:txBody>
          <a:bodyPr wrap="none" lIns="0" tIns="0" rIns="0" bIns="0"/>
          <a:p>
            <a:pPr>
              <a:lnSpc>
                <a:spcPct val="100000"/>
              </a:lnSpc>
            </a:pPr>
            <a:r>
              <a:rPr lang="en-US" sz="1050">
                <a:solidFill>
                  <a:srgbClr val="F2C96D"/>
                </a:solidFill>
                <a:latin typeface="Microsoft YaHei"/>
                <a:ea typeface="Microsoft YaHei"/>
              </a:rPr>
              <a:t>Crash fires at tick 73 · severity 94/100</a:t>
            </a:r>
            <a:endParaRPr/>
          </a:p>
        </p:txBody>
      </p:sp>
      <p:sp>
        <p:nvSpPr>
          <p:cNvPr id="135" name=""/>
          <p:cNvSpPr/>
          <p:nvPr/>
        </p:nvSpPr>
        <p:spPr>
          <a:xfrm rot="0" flipH="0" flipV="0">
            <a:off x="685800" y="6096000"/>
            <a:ext cx="10820400" cy="571500"/>
          </a:xfrm>
          <a:custGeom>
            <a:pathLst>
              <a:path w="1136" h="60">
                <a:moveTo>
                  <a:pt x="0" y="0"/>
                </a:moveTo>
                <a:lnTo>
                  <a:pt x="1136" y="0"/>
                </a:lnTo>
                <a:lnTo>
                  <a:pt x="1136" y="1"/>
                </a:lnTo>
                <a:lnTo>
                  <a:pt x="0" y="1"/>
                </a:lnTo>
                <a:close/>
              </a:path>
            </a:pathLst>
          </a:custGeom>
          <a:solidFill>
            <a:srgbClr val="F7F1E8">
              <a:alpha val="10000"/>
            </a:srgbClr>
          </a:solidFill>
          <a:ln/>
        </p:spPr>
        <p:txBody>
          <a:bodyPr/>
          <a:p>
            <a:pPr/>
            <a:endParaRPr/>
          </a:p>
        </p:txBody>
      </p:sp>
      <p:sp>
        <p:nvSpPr>
          <p:cNvPr id="136" name="" descr="{&quot;isTemplate&quot;:true,&quot;type&quot;:&quot;text&quot;}"/>
          <p:cNvSpPr txBox="1"/>
          <p:nvPr/>
        </p:nvSpPr>
        <p:spPr>
          <a:xfrm rot="0" flipH="0" flipV="0">
            <a:off x="685800" y="6515100"/>
            <a:ext cx="2819400" cy="152400"/>
          </a:xfrm>
          <a:prstGeom prst="rect"/>
        </p:spPr>
        <p:txBody>
          <a:bodyPr wrap="none" lIns="0" tIns="0" rIns="0" bIns="0"/>
          <a:p>
            <a:pPr>
              <a:lnSpc>
                <a:spcPct val="100000"/>
              </a:lnSpc>
            </a:pPr>
            <a:r>
              <a:rPr lang="en-US" sz="975">
                <a:solidFill>
                  <a:srgbClr val="F7F1E8">
                    <a:alpha val="45000"/>
                  </a:srgbClr>
                </a:solidFill>
                <a:latin typeface="Microsoft YaHei"/>
                <a:ea typeface="Microsoft YaHei"/>
              </a:rPr>
              <a:t>BROKE VEGAS · fictional markets, virtual money</a:t>
            </a:r>
            <a:endParaRPr/>
          </a:p>
        </p:txBody>
      </p:sp>
      <p:sp>
        <p:nvSpPr>
          <p:cNvPr id="137" name="" descr="{&quot;isTemplate&quot;:true,&quot;type&quot;:&quot;text&quot;}"/>
          <p:cNvSpPr txBox="1"/>
          <p:nvPr/>
        </p:nvSpPr>
        <p:spPr>
          <a:xfrm rot="0" flipH="0" flipV="0">
            <a:off x="11087100" y="6515100"/>
            <a:ext cx="419100" cy="152400"/>
          </a:xfrm>
          <a:prstGeom prst="rect"/>
        </p:spPr>
        <p:txBody>
          <a:bodyPr wrap="none" lIns="0" tIns="0" rIns="0" bIns="0"/>
          <a:p>
            <a:pPr>
              <a:lnSpc>
                <a:spcPct val="100000"/>
              </a:lnSpc>
            </a:pPr>
            <a:r>
              <a:rPr lang="en-US" sz="975">
                <a:solidFill>
                  <a:srgbClr val="F7F1E8">
                    <a:alpha val="45000"/>
                  </a:srgbClr>
                </a:solidFill>
                <a:latin typeface="Microsoft YaHei"/>
                <a:ea typeface="Microsoft YaHei"/>
              </a:rPr>
              <a:t>03 / 12</a:t>
            </a:r>
            <a:endParaRPr/>
          </a:p>
        </p:txBody>
      </p:sp>
    </p:spTree>
  </p:cSld>
</p:sld>
</file>

<file path=ppt/slides/slide4.xml><?xml version="1.0" encoding="utf-8"?>
<p:sld xmlns:p="http://schemas.openxmlformats.org/presentationml/2006/main" xmlns:a="http://schemas.openxmlformats.org/drawingml/2006/main">
  <p:cSld>
    <p:spTree>
      <p:nvGrpSpPr>
        <p:cNvPr id="138" name=""/>
        <p:cNvGrpSpPr/>
        <p:nvPr/>
      </p:nvGrpSpPr>
      <p:grpSpPr>
        <a:xfrm>
          <a:off x="0" y="0"/>
          <a:ext cx="0" cy="0"/>
          <a:chOff x="0" y="0"/>
          <a:chExt cx="0" cy="0"/>
        </a:xfrm>
      </p:grpSpPr>
      <p:sp>
        <p:nvSpPr>
          <p:cNvPr id="139" name=""/>
          <p:cNvSpPr/>
          <p:nvPr/>
        </p:nvSpPr>
        <p:spPr>
          <a:xfrm rot="0" flipH="0" flipV="0">
            <a:off x="0" y="0"/>
            <a:ext cx="12192000" cy="6858000"/>
          </a:xfrm>
          <a:prstGeom prst="rect">
            <a:avLst/>
          </a:prstGeom>
          <a:solidFill>
            <a:srgbClr val="07060B"/>
          </a:solidFill>
          <a:ln/>
        </p:spPr>
        <p:txBody>
          <a:bodyPr/>
          <a:p>
            <a:pPr/>
            <a:endParaRPr/>
          </a:p>
        </p:txBody>
      </p:sp>
      <p:sp>
        <p:nvSpPr>
          <p:cNvPr id="140" name="" descr="{&quot;isTemplate&quot;:true,&quot;type&quot;:&quot;text&quot;}"/>
          <p:cNvSpPr txBox="1"/>
          <p:nvPr/>
        </p:nvSpPr>
        <p:spPr>
          <a:xfrm rot="0" flipH="0" flipV="0">
            <a:off x="685800" y="190500"/>
            <a:ext cx="6438900" cy="142875"/>
          </a:xfrm>
          <a:prstGeom prst="rect"/>
        </p:spPr>
        <p:txBody>
          <a:bodyPr wrap="none" lIns="0" tIns="0" rIns="0" bIns="0"/>
          <a:p>
            <a:pPr>
              <a:lnSpc>
                <a:spcPct val="100000"/>
              </a:lnSpc>
            </a:pPr>
            <a:r>
              <a:rPr lang="en-US" sz="900" b="1" spc="180">
                <a:solidFill>
                  <a:srgbClr val="F2C96D"/>
                </a:solidFill>
                <a:latin typeface="Microsoft YaHei"/>
                <a:ea typeface="Microsoft YaHei"/>
              </a:rPr>
              <a:t>DETERMINISM</a:t>
            </a:r>
            <a:endParaRPr/>
          </a:p>
        </p:txBody>
      </p:sp>
      <p:sp>
        <p:nvSpPr>
          <p:cNvPr id="141" name="" descr="{&quot;isTemplate&quot;:true,&quot;type&quot;:&quot;text&quot;}"/>
          <p:cNvSpPr txBox="1"/>
          <p:nvPr/>
        </p:nvSpPr>
        <p:spPr>
          <a:xfrm rot="0" flipH="0" flipV="0">
            <a:off x="685800" y="409575"/>
            <a:ext cx="6438900" cy="485775"/>
          </a:xfrm>
          <a:prstGeom prst="rect"/>
        </p:spPr>
        <p:txBody>
          <a:bodyPr wrap="none" lIns="0" tIns="0" rIns="0" bIns="0"/>
          <a:p>
            <a:pPr>
              <a:lnSpc>
                <a:spcPct val="110000"/>
              </a:lnSpc>
            </a:pPr>
            <a:r>
              <a:rPr lang="en-US" sz="2850">
                <a:solidFill>
                  <a:srgbClr val="F7F1E8"/>
                </a:solidFill>
                <a:latin typeface="Impact"/>
                <a:ea typeface="Impact"/>
              </a:rPr>
              <a:t>No Math.random. A seed, a tick, a hash.</a:t>
            </a:r>
            <a:endParaRPr/>
          </a:p>
        </p:txBody>
      </p:sp>
      <p:sp>
        <p:nvSpPr>
          <p:cNvPr id="142" name="" descr="{&quot;isTemplate&quot;:true,&quot;type&quot;:&quot;text&quot;}"/>
          <p:cNvSpPr txBox="1"/>
          <p:nvPr/>
        </p:nvSpPr>
        <p:spPr>
          <a:xfrm rot="0" flipH="0" flipV="0">
            <a:off x="9534525" y="190500"/>
            <a:ext cx="1971675" cy="209550"/>
          </a:xfrm>
          <a:prstGeom prst="rect"/>
        </p:spPr>
        <p:txBody>
          <a:bodyPr wrap="none" lIns="0" tIns="42863" rIns="0" bIns="0"/>
          <a:p>
            <a:pPr>
              <a:lnSpc>
                <a:spcPct val="100000"/>
              </a:lnSpc>
            </a:pPr>
            <a:r>
              <a:rPr lang="en-US" sz="975" spc="120">
                <a:solidFill>
                  <a:srgbClr val="F7F1E8">
                    <a:alpha val="50000"/>
                  </a:srgbClr>
                </a:solidFill>
                <a:latin typeface="Microsoft YaHei"/>
                <a:ea typeface="Microsoft YaHei"/>
              </a:rPr>
              <a:t>PURE · NO CLOCK · NO I/O</a:t>
            </a:r>
            <a:endParaRPr/>
          </a:p>
        </p:txBody>
      </p:sp>
      <p:sp>
        <p:nvSpPr>
          <p:cNvPr id="143" name=""/>
          <p:cNvSpPr/>
          <p:nvPr/>
        </p:nvSpPr>
        <p:spPr>
          <a:xfrm rot="0" flipH="0" flipV="0">
            <a:off x="685800" y="1333500"/>
            <a:ext cx="6096000" cy="4572000"/>
          </a:xfrm>
          <a:prstGeom prst="roundRect">
            <a:avLst>
              <a:gd name="adj" fmla="val 1667"/>
            </a:avLst>
          </a:prstGeom>
          <a:solidFill>
            <a:srgbClr val="F7F1E8">
              <a:alpha val="4000"/>
            </a:srgbClr>
          </a:solidFill>
          <a:ln w="12700">
            <a:solidFill>
              <a:srgbClr val="F7F1E8">
                <a:alpha val="10000"/>
              </a:srgbClr>
            </a:solidFill>
            <a:prstDash val="solid"/>
          </a:ln>
        </p:spPr>
        <p:txBody>
          <a:bodyPr/>
          <a:p>
            <a:pPr/>
            <a:endParaRPr/>
          </a:p>
        </p:txBody>
      </p:sp>
      <p:sp>
        <p:nvSpPr>
          <p:cNvPr id="144" name=""/>
          <p:cNvSpPr/>
          <p:nvPr/>
        </p:nvSpPr>
        <p:spPr>
          <a:xfrm rot="0" flipH="0" flipV="0">
            <a:off x="857250" y="1466850"/>
            <a:ext cx="5753100" cy="247650"/>
          </a:xfrm>
          <a:custGeom>
            <a:pathLst>
              <a:path w="604" h="26">
                <a:moveTo>
                  <a:pt x="0" y="25"/>
                </a:moveTo>
                <a:lnTo>
                  <a:pt x="604" y="25"/>
                </a:lnTo>
                <a:lnTo>
                  <a:pt x="604" y="26"/>
                </a:lnTo>
                <a:lnTo>
                  <a:pt x="0" y="26"/>
                </a:lnTo>
                <a:close/>
              </a:path>
            </a:pathLst>
          </a:custGeom>
          <a:solidFill>
            <a:srgbClr val="F7F1E8">
              <a:alpha val="8000"/>
            </a:srgbClr>
          </a:solidFill>
          <a:ln/>
        </p:spPr>
        <p:txBody>
          <a:bodyPr/>
          <a:p>
            <a:pPr/>
            <a:endParaRPr/>
          </a:p>
        </p:txBody>
      </p:sp>
      <p:sp>
        <p:nvSpPr>
          <p:cNvPr id="145" name="" descr="{&quot;isTemplate&quot;:true,&quot;type&quot;:&quot;text&quot;}"/>
          <p:cNvSpPr txBox="1"/>
          <p:nvPr/>
        </p:nvSpPr>
        <p:spPr>
          <a:xfrm rot="0" flipH="0" flipV="0">
            <a:off x="857250" y="1466850"/>
            <a:ext cx="1638300" cy="133350"/>
          </a:xfrm>
          <a:prstGeom prst="rect"/>
        </p:spPr>
        <p:txBody>
          <a:bodyPr wrap="none" lIns="0" tIns="0" rIns="0" bIns="0"/>
          <a:p>
            <a:pPr>
              <a:lnSpc>
                <a:spcPct val="100000"/>
              </a:lnSpc>
            </a:pPr>
            <a:r>
              <a:rPr lang="en-US" sz="825" spc="60">
                <a:solidFill>
                  <a:srgbClr val="F2C96D"/>
                </a:solidFill>
                <a:latin typeface="Consolas"/>
                <a:ea typeface="Consolas"/>
              </a:rPr>
              <a:t>packages/engine/engine.ts</a:t>
            </a:r>
            <a:endParaRPr/>
          </a:p>
        </p:txBody>
      </p:sp>
      <p:sp>
        <p:nvSpPr>
          <p:cNvPr id="146" name="" descr="{&quot;isTemplate&quot;:true,&quot;type&quot;:&quot;text&quot;}"/>
          <p:cNvSpPr txBox="1"/>
          <p:nvPr/>
        </p:nvSpPr>
        <p:spPr>
          <a:xfrm rot="0" flipH="0" flipV="0">
            <a:off x="4991100" y="1466850"/>
            <a:ext cx="1619250" cy="133350"/>
          </a:xfrm>
          <a:prstGeom prst="rect"/>
        </p:spPr>
        <p:txBody>
          <a:bodyPr wrap="none" lIns="0" tIns="0" rIns="0" bIns="0"/>
          <a:p>
            <a:pPr>
              <a:lnSpc>
                <a:spcPct val="100000"/>
              </a:lnSpc>
            </a:pPr>
            <a:r>
              <a:rPr lang="en-US" sz="825">
                <a:solidFill>
                  <a:srgbClr val="F7F1E8">
                    <a:alpha val="40000"/>
                  </a:srgbClr>
                </a:solidFill>
                <a:latin typeface="Consolas"/>
                <a:ea typeface="Consolas"/>
              </a:rPr>
              <a:t>materializeOneTick · 414-439</a:t>
            </a:r>
            <a:endParaRPr/>
          </a:p>
        </p:txBody>
      </p:sp>
      <p:sp>
        <p:nvSpPr>
          <p:cNvPr id="147" name="" descr="{&quot;isTemplate&quot;:true,&quot;type&quot;:&quot;text&quot;}"/>
          <p:cNvSpPr txBox="1"/>
          <p:nvPr/>
        </p:nvSpPr>
        <p:spPr>
          <a:xfrm rot="0" flipH="0" flipV="0">
            <a:off x="857250" y="1819275"/>
            <a:ext cx="5753100" cy="238125"/>
          </a:xfrm>
          <a:prstGeom prst="rect"/>
        </p:spPr>
        <p:txBody>
          <a:bodyPr wrap="none" lIns="0" tIns="0" rIns="0" bIns="0"/>
          <a:p>
            <a:pPr>
              <a:lnSpc>
                <a:spcPct val="150000"/>
              </a:lnSpc>
            </a:pPr>
            <a:r>
              <a:rPr lang="en-US" sz="1013">
                <a:solidFill>
                  <a:srgbClr val="F2C96D"/>
                </a:solidFill>
                <a:latin typeface="Consolas"/>
                <a:ea typeface="Consolas"/>
              </a:rPr>
              <a:t>function materializeOneTick(state: EngineState) {</a:t>
            </a:r>
            <a:endParaRPr/>
          </a:p>
        </p:txBody>
      </p:sp>
      <p:sp>
        <p:nvSpPr>
          <p:cNvPr id="148" name="" descr="{&quot;isTemplate&quot;:true,&quot;type&quot;:&quot;text&quot;}"/>
          <p:cNvSpPr txBox="1"/>
          <p:nvPr/>
        </p:nvSpPr>
        <p:spPr>
          <a:xfrm rot="0" flipH="0" flipV="0">
            <a:off x="857250" y="2057400"/>
            <a:ext cx="5753100" cy="238125"/>
          </a:xfrm>
          <a:prstGeom prst="rect"/>
        </p:spPr>
        <p:txBody>
          <a:bodyPr wrap="none" lIns="0" tIns="0" rIns="0" bIns="0"/>
          <a:p>
            <a:pPr>
              <a:lnSpc>
                <a:spcPct val="150000"/>
              </a:lnSpc>
            </a:pPr>
            <a:r>
              <a:rPr lang="en-US" sz="1013">
                <a:solidFill>
                  <a:srgbClr val="F7F1E8"/>
                </a:solidFill>
                <a:latin typeface="Consolas"/>
                <a:ea typeface="Consolas"/>
              </a:rPr>
              <a:t>  state.tick += 1;</a:t>
            </a:r>
            <a:endParaRPr/>
          </a:p>
        </p:txBody>
      </p:sp>
      <p:sp>
        <p:nvSpPr>
          <p:cNvPr id="149" name="" descr="{&quot;isTemplate&quot;:true,&quot;type&quot;:&quot;text&quot;}"/>
          <p:cNvSpPr txBox="1"/>
          <p:nvPr/>
        </p:nvSpPr>
        <p:spPr>
          <a:xfrm rot="0" flipH="0" flipV="0">
            <a:off x="857250" y="2295525"/>
            <a:ext cx="5753100" cy="238125"/>
          </a:xfrm>
          <a:prstGeom prst="rect"/>
        </p:spPr>
        <p:txBody>
          <a:bodyPr wrap="none" lIns="0" tIns="0" rIns="0" bIns="0"/>
          <a:p>
            <a:pPr>
              <a:lnSpc>
                <a:spcPct val="150000"/>
              </a:lnSpc>
            </a:pPr>
            <a:r>
              <a:rPr lang="en-US" sz="1013">
                <a:solidFill>
                  <a:srgbClr val="F7F1E8"/>
                </a:solidFill>
                <a:latin typeface="Consolas"/>
                <a:ea typeface="Consolas"/>
              </a:rPr>
              <a:t>  const marketFactor =</a:t>
            </a:r>
            <a:endParaRPr/>
          </a:p>
        </p:txBody>
      </p:sp>
      <p:sp>
        <p:nvSpPr>
          <p:cNvPr id="150" name="" descr="{&quot;isTemplate&quot;:true,&quot;type&quot;:&quot;text&quot;}"/>
          <p:cNvSpPr txBox="1"/>
          <p:nvPr/>
        </p:nvSpPr>
        <p:spPr>
          <a:xfrm rot="0" flipH="0" flipV="0">
            <a:off x="857250" y="2533650"/>
            <a:ext cx="5753100" cy="238125"/>
          </a:xfrm>
          <a:prstGeom prst="rect"/>
        </p:spPr>
        <p:txBody>
          <a:bodyPr wrap="none" lIns="0" tIns="0" rIns="0" bIns="0"/>
          <a:p>
            <a:pPr>
              <a:lnSpc>
                <a:spcPct val="150000"/>
              </a:lnSpc>
            </a:pPr>
            <a:r>
              <a:rPr lang="en-US" sz="1013">
                <a:solidFill>
                  <a:srgbClr val="F7F1E8"/>
                </a:solidFill>
                <a:latin typeface="Consolas"/>
                <a:ea typeface="Consolas"/>
              </a:rPr>
              <a:t>      normalFor(state.seed, state.tick, "shared-market") * 0.0012;</a:t>
            </a:r>
            <a:endParaRPr/>
          </a:p>
        </p:txBody>
      </p:sp>
      <p:sp>
        <p:nvSpPr>
          <p:cNvPr id="151" name="" descr="{&quot;isTemplate&quot;:true,&quot;type&quot;:&quot;text&quot;}"/>
          <p:cNvSpPr txBox="1"/>
          <p:nvPr/>
        </p:nvSpPr>
        <p:spPr>
          <a:xfrm rot="0" flipH="0" flipV="0">
            <a:off x="857250" y="2771775"/>
            <a:ext cx="5753100" cy="238125"/>
          </a:xfrm>
          <a:prstGeom prst="rect"/>
        </p:spPr>
        <p:txBody>
          <a:bodyPr wrap="none" lIns="0" tIns="0" rIns="0" bIns="0"/>
          <a:p>
            <a:pPr>
              <a:lnSpc>
                <a:spcPct val="150000"/>
              </a:lnSpc>
            </a:pPr>
            <a:r>
              <a:rPr lang="en-US" sz="1013">
                <a:solidFill>
                  <a:srgbClr val="F2C96D"/>
                </a:solidFill>
                <a:latin typeface="Consolas"/>
                <a:ea typeface="Consolas"/>
              </a:rPr>
              <a:t>  for (const symbol of SYMBOLS) {</a:t>
            </a:r>
            <a:endParaRPr/>
          </a:p>
        </p:txBody>
      </p:sp>
      <p:sp>
        <p:nvSpPr>
          <p:cNvPr id="152" name="" descr="{&quot;isTemplate&quot;:true,&quot;type&quot;:&quot;text&quot;}"/>
          <p:cNvSpPr txBox="1"/>
          <p:nvPr/>
        </p:nvSpPr>
        <p:spPr>
          <a:xfrm rot="0" flipH="0" flipV="0">
            <a:off x="857250" y="3009900"/>
            <a:ext cx="5753100" cy="238125"/>
          </a:xfrm>
          <a:prstGeom prst="rect"/>
        </p:spPr>
        <p:txBody>
          <a:bodyPr wrap="none" lIns="0" tIns="0" rIns="0" bIns="0"/>
          <a:p>
            <a:pPr>
              <a:lnSpc>
                <a:spcPct val="150000"/>
              </a:lnSpc>
            </a:pPr>
            <a:r>
              <a:rPr lang="en-US" sz="1013">
                <a:solidFill>
                  <a:srgbClr val="F7F1E8"/>
                </a:solidFill>
                <a:latin typeface="Consolas"/>
                <a:ea typeface="Consolas"/>
              </a:rPr>
              <a:t>    const config = ASSETS[symbol];</a:t>
            </a:r>
            <a:endParaRPr/>
          </a:p>
        </p:txBody>
      </p:sp>
      <p:sp>
        <p:nvSpPr>
          <p:cNvPr id="153" name="" descr="{&quot;isTemplate&quot;:true,&quot;type&quot;:&quot;text&quot;}"/>
          <p:cNvSpPr txBox="1"/>
          <p:nvPr/>
        </p:nvSpPr>
        <p:spPr>
          <a:xfrm rot="0" flipH="0" flipV="0">
            <a:off x="857250" y="3248025"/>
            <a:ext cx="5753100" cy="238125"/>
          </a:xfrm>
          <a:prstGeom prst="rect"/>
        </p:spPr>
        <p:txBody>
          <a:bodyPr wrap="none" lIns="0" tIns="0" rIns="0" bIns="0"/>
          <a:p>
            <a:pPr>
              <a:lnSpc>
                <a:spcPct val="150000"/>
              </a:lnSpc>
            </a:pPr>
            <a:r>
              <a:rPr lang="en-US" sz="1013">
                <a:solidFill>
                  <a:srgbClr val="F7F1E8"/>
                </a:solidFill>
                <a:latin typeface="Consolas"/>
                <a:ea typeface="Consolas"/>
              </a:rPr>
              <a:t>    const asset = state.assets[symbol];</a:t>
            </a:r>
            <a:endParaRPr/>
          </a:p>
        </p:txBody>
      </p:sp>
      <p:sp>
        <p:nvSpPr>
          <p:cNvPr id="154" name="" descr="{&quot;isTemplate&quot;:true,&quot;type&quot;:&quot;text&quot;}"/>
          <p:cNvSpPr txBox="1"/>
          <p:nvPr/>
        </p:nvSpPr>
        <p:spPr>
          <a:xfrm rot="0" flipH="0" flipV="0">
            <a:off x="857250" y="3486150"/>
            <a:ext cx="5753100" cy="238125"/>
          </a:xfrm>
          <a:prstGeom prst="rect"/>
        </p:spPr>
        <p:txBody>
          <a:bodyPr wrap="none" lIns="0" tIns="0" rIns="0" bIns="0"/>
          <a:p>
            <a:pPr>
              <a:lnSpc>
                <a:spcPct val="150000"/>
              </a:lnSpc>
            </a:pPr>
            <a:r>
              <a:rPr lang="en-US" sz="1013">
                <a:solidFill>
                  <a:srgbClr val="F7F1E8"/>
                </a:solidFill>
                <a:latin typeface="Consolas"/>
                <a:ea typeface="Consolas"/>
              </a:rPr>
              <a:t>    const previous = asset.mid;</a:t>
            </a:r>
            <a:endParaRPr/>
          </a:p>
        </p:txBody>
      </p:sp>
      <p:sp>
        <p:nvSpPr>
          <p:cNvPr id="155" name="" descr="{&quot;isTemplate&quot;:true,&quot;type&quot;:&quot;text&quot;}"/>
          <p:cNvSpPr txBox="1"/>
          <p:nvPr/>
        </p:nvSpPr>
        <p:spPr>
          <a:xfrm rot="0" flipH="0" flipV="0">
            <a:off x="857250" y="3724275"/>
            <a:ext cx="5753100" cy="238125"/>
          </a:xfrm>
          <a:prstGeom prst="rect"/>
        </p:spPr>
        <p:txBody>
          <a:bodyPr wrap="none" lIns="0" tIns="0" rIns="0" bIns="0"/>
          <a:p>
            <a:pPr>
              <a:lnSpc>
                <a:spcPct val="150000"/>
              </a:lnSpc>
            </a:pPr>
            <a:r>
              <a:rPr lang="en-US" sz="1013">
                <a:solidFill>
                  <a:srgbClr val="F7F1E8"/>
                </a:solidFill>
                <a:latin typeface="Consolas"/>
                <a:ea typeface="Consolas"/>
              </a:rPr>
              <a:t>    const active = activeShock(state, symbol, state.tick);</a:t>
            </a:r>
            <a:endParaRPr/>
          </a:p>
        </p:txBody>
      </p:sp>
      <p:sp>
        <p:nvSpPr>
          <p:cNvPr id="156" name="" descr="{&quot;isTemplate&quot;:true,&quot;type&quot;:&quot;text&quot;}"/>
          <p:cNvSpPr txBox="1"/>
          <p:nvPr/>
        </p:nvSpPr>
        <p:spPr>
          <a:xfrm rot="0" flipH="0" flipV="0">
            <a:off x="857250" y="3962400"/>
            <a:ext cx="5753100" cy="238125"/>
          </a:xfrm>
          <a:prstGeom prst="rect"/>
        </p:spPr>
        <p:txBody>
          <a:bodyPr wrap="none" lIns="0" tIns="0" rIns="0" bIns="0"/>
          <a:p>
            <a:pPr>
              <a:lnSpc>
                <a:spcPct val="150000"/>
              </a:lnSpc>
            </a:pPr>
            <a:r>
              <a:rPr lang="en-US" sz="1013">
                <a:solidFill>
                  <a:srgbClr val="F7F1E8"/>
                </a:solidFill>
                <a:latin typeface="Consolas"/>
                <a:ea typeface="Consolas"/>
              </a:rPr>
              <a:t>    const epsilon = normalFor(state.seed, state.tick, symbol, "epsilon");</a:t>
            </a:r>
            <a:endParaRPr/>
          </a:p>
        </p:txBody>
      </p:sp>
      <p:sp>
        <p:nvSpPr>
          <p:cNvPr id="157" name="" descr="{&quot;isTemplate&quot;:true,&quot;type&quot;:&quot;text&quot;}"/>
          <p:cNvSpPr txBox="1"/>
          <p:nvPr/>
        </p:nvSpPr>
        <p:spPr>
          <a:xfrm rot="0" flipH="0" flipV="0">
            <a:off x="857250" y="4200525"/>
            <a:ext cx="5753100" cy="238125"/>
          </a:xfrm>
          <a:prstGeom prst="rect"/>
        </p:spPr>
        <p:txBody>
          <a:bodyPr wrap="none" lIns="0" tIns="0" rIns="0" bIns="0"/>
          <a:p>
            <a:pPr>
              <a:lnSpc>
                <a:spcPct val="150000"/>
              </a:lnSpc>
            </a:pPr>
            <a:r>
              <a:rPr lang="en-US" sz="1013">
                <a:solidFill>
                  <a:srgbClr val="F7F1E8"/>
                </a:solidFill>
                <a:latin typeface="Consolas"/>
                <a:ea typeface="Consolas"/>
              </a:rPr>
              <a:t>    const logReturn =</a:t>
            </a:r>
            <a:endParaRPr/>
          </a:p>
        </p:txBody>
      </p:sp>
      <p:sp>
        <p:nvSpPr>
          <p:cNvPr id="158" name="" descr="{&quot;isTemplate&quot;:true,&quot;type&quot;:&quot;text&quot;}"/>
          <p:cNvSpPr txBox="1"/>
          <p:nvPr/>
        </p:nvSpPr>
        <p:spPr>
          <a:xfrm rot="0" flipH="0" flipV="0">
            <a:off x="857250" y="4438650"/>
            <a:ext cx="5753100" cy="238125"/>
          </a:xfrm>
          <a:prstGeom prst="rect"/>
        </p:spPr>
        <p:txBody>
          <a:bodyPr wrap="none" lIns="0" tIns="0" rIns="0" bIns="0"/>
          <a:p>
            <a:pPr>
              <a:lnSpc>
                <a:spcPct val="150000"/>
              </a:lnSpc>
            </a:pPr>
            <a:r>
              <a:rPr lang="en-US" sz="1013">
                <a:solidFill>
                  <a:srgbClr val="F7F1E8"/>
                </a:solidFill>
                <a:latin typeface="Consolas"/>
                <a:ea typeface="Consolas"/>
              </a:rPr>
              <a:t>        config.drift</a:t>
            </a:r>
            <a:endParaRPr/>
          </a:p>
        </p:txBody>
      </p:sp>
      <p:sp>
        <p:nvSpPr>
          <p:cNvPr id="159" name="" descr="{&quot;isTemplate&quot;:true,&quot;type&quot;:&quot;text&quot;}"/>
          <p:cNvSpPr txBox="1"/>
          <p:nvPr/>
        </p:nvSpPr>
        <p:spPr>
          <a:xfrm rot="0" flipH="0" flipV="0">
            <a:off x="857250" y="4676775"/>
            <a:ext cx="5753100" cy="238125"/>
          </a:xfrm>
          <a:prstGeom prst="rect"/>
        </p:spPr>
        <p:txBody>
          <a:bodyPr wrap="none" lIns="0" tIns="0" rIns="0" bIns="0"/>
          <a:p>
            <a:pPr>
              <a:lnSpc>
                <a:spcPct val="150000"/>
              </a:lnSpc>
            </a:pPr>
            <a:r>
              <a:rPr lang="en-US" sz="1013">
                <a:solidFill>
                  <a:srgbClr val="F7F1E8"/>
                </a:solidFill>
                <a:latin typeface="Consolas"/>
                <a:ea typeface="Consolas"/>
              </a:rPr>
              <a:t>      + config.vol * active.volatility * epsilon</a:t>
            </a:r>
            <a:endParaRPr/>
          </a:p>
        </p:txBody>
      </p:sp>
      <p:sp>
        <p:nvSpPr>
          <p:cNvPr id="160" name="" descr="{&quot;isTemplate&quot;:true,&quot;type&quot;:&quot;text&quot;}"/>
          <p:cNvSpPr txBox="1"/>
          <p:nvPr/>
        </p:nvSpPr>
        <p:spPr>
          <a:xfrm rot="0" flipH="0" flipV="0">
            <a:off x="857250" y="4914900"/>
            <a:ext cx="5753100" cy="238125"/>
          </a:xfrm>
          <a:prstGeom prst="rect"/>
        </p:spPr>
        <p:txBody>
          <a:bodyPr wrap="none" lIns="0" tIns="0" rIns="0" bIns="0"/>
          <a:p>
            <a:pPr>
              <a:lnSpc>
                <a:spcPct val="150000"/>
              </a:lnSpc>
            </a:pPr>
            <a:r>
              <a:rPr lang="en-US" sz="1013">
                <a:solidFill>
                  <a:srgbClr val="F7F1E8"/>
                </a:solidFill>
                <a:latin typeface="Consolas"/>
                <a:ea typeface="Consolas"/>
              </a:rPr>
              <a:t>      + config.beta * marketFactor</a:t>
            </a:r>
            <a:endParaRPr/>
          </a:p>
        </p:txBody>
      </p:sp>
      <p:sp>
        <p:nvSpPr>
          <p:cNvPr id="161" name="" descr="{&quot;isTemplate&quot;:true,&quot;type&quot;:&quot;text&quot;}"/>
          <p:cNvSpPr txBox="1"/>
          <p:nvPr/>
        </p:nvSpPr>
        <p:spPr>
          <a:xfrm rot="0" flipH="0" flipV="0">
            <a:off x="857250" y="5153025"/>
            <a:ext cx="5753100" cy="238125"/>
          </a:xfrm>
          <a:prstGeom prst="rect"/>
        </p:spPr>
        <p:txBody>
          <a:bodyPr wrap="none" lIns="0" tIns="0" rIns="0" bIns="0"/>
          <a:p>
            <a:pPr>
              <a:lnSpc>
                <a:spcPct val="150000"/>
              </a:lnSpc>
            </a:pPr>
            <a:r>
              <a:rPr lang="en-US" sz="1013">
                <a:solidFill>
                  <a:srgbClr val="E73555"/>
                </a:solidFill>
                <a:latin typeface="Consolas"/>
                <a:ea typeface="Consolas"/>
              </a:rPr>
              <a:t>      + active.shock;</a:t>
            </a:r>
            <a:endParaRPr/>
          </a:p>
        </p:txBody>
      </p:sp>
      <p:sp>
        <p:nvSpPr>
          <p:cNvPr id="162" name="" descr="{&quot;isTemplate&quot;:true,&quot;type&quot;:&quot;text&quot;}"/>
          <p:cNvSpPr txBox="1"/>
          <p:nvPr/>
        </p:nvSpPr>
        <p:spPr>
          <a:xfrm rot="0" flipH="0" flipV="0">
            <a:off x="857250" y="5391150"/>
            <a:ext cx="5753100" cy="238125"/>
          </a:xfrm>
          <a:prstGeom prst="rect"/>
        </p:spPr>
        <p:txBody>
          <a:bodyPr wrap="none" lIns="0" tIns="0" rIns="0" bIns="0"/>
          <a:p>
            <a:pPr>
              <a:lnSpc>
                <a:spcPct val="150000"/>
              </a:lnSpc>
            </a:pPr>
            <a:r>
              <a:rPr lang="en-US" sz="1013">
                <a:solidFill>
                  <a:srgbClr val="F7F1E8"/>
                </a:solidFill>
                <a:latin typeface="Consolas"/>
                <a:ea typeface="Consolas"/>
              </a:rPr>
              <a:t>    const mid = roundTick(previous * Math.exp(logReturn), config.tickSize);</a:t>
            </a:r>
            <a:endParaRPr/>
          </a:p>
        </p:txBody>
      </p:sp>
      <p:sp>
        <p:nvSpPr>
          <p:cNvPr id="163" name="" descr="{&quot;isTemplate&quot;:true,&quot;type&quot;:&quot;text&quot;}"/>
          <p:cNvSpPr txBox="1"/>
          <p:nvPr/>
        </p:nvSpPr>
        <p:spPr>
          <a:xfrm rot="0" flipH="0" flipV="0">
            <a:off x="7124700" y="1333500"/>
            <a:ext cx="190500" cy="723900"/>
          </a:xfrm>
          <a:prstGeom prst="rect"/>
        </p:spPr>
        <p:txBody>
          <a:bodyPr wrap="none" lIns="0" tIns="0" rIns="0" bIns="0"/>
          <a:p>
            <a:pPr>
              <a:lnSpc>
                <a:spcPct val="100000"/>
              </a:lnSpc>
            </a:pPr>
            <a:r>
              <a:rPr lang="en-US" sz="975" b="1">
                <a:solidFill>
                  <a:srgbClr val="F2C96D"/>
                </a:solidFill>
                <a:latin typeface="Microsoft YaHei"/>
                <a:ea typeface="Microsoft YaHei"/>
              </a:rPr>
              <a:t>01</a:t>
            </a:r>
            <a:endParaRPr/>
          </a:p>
        </p:txBody>
      </p:sp>
      <p:sp>
        <p:nvSpPr>
          <p:cNvPr id="164" name="" descr="{&quot;isTemplate&quot;:true,&quot;type&quot;:&quot;text&quot;}"/>
          <p:cNvSpPr txBox="1"/>
          <p:nvPr/>
        </p:nvSpPr>
        <p:spPr>
          <a:xfrm rot="0" flipH="0" flipV="0">
            <a:off x="7429500" y="1333500"/>
            <a:ext cx="4076700" cy="723900"/>
          </a:xfrm>
          <a:prstGeom prst="rect"/>
        </p:spPr>
        <p:txBody>
          <a:bodyPr wrap="square" lIns="0" tIns="0" rIns="0" bIns="0">
            <a:normAutofit/>
          </a:bodyPr>
          <a:p>
            <a:pPr>
              <a:lnSpc>
                <a:spcPct val="150000"/>
              </a:lnSpc>
            </a:pPr>
            <a:r>
              <a:rPr lang="en-US" sz="1050">
                <a:solidFill>
                  <a:srgbClr val="F7F1E8">
                    <a:alpha val="78000"/>
                  </a:srgbClr>
                </a:solidFill>
                <a:latin typeface="Microsoft YaHei"/>
                <a:ea typeface="Microsoft YaHei"/>
              </a:rPr>
              <a:t>randomFor(seed, tick, symbol) is a pure function of its arguments. No shared PRNG cursor, so tick 900 can be computed without first computing ticks 1 to 899.</a:t>
            </a:r>
            <a:endParaRPr/>
          </a:p>
        </p:txBody>
      </p:sp>
      <p:sp>
        <p:nvSpPr>
          <p:cNvPr id="165" name="" descr="{&quot;isTemplate&quot;:true,&quot;type&quot;:&quot;text&quot;}"/>
          <p:cNvSpPr txBox="1"/>
          <p:nvPr/>
        </p:nvSpPr>
        <p:spPr>
          <a:xfrm rot="0" flipH="0" flipV="0">
            <a:off x="7124700" y="2209800"/>
            <a:ext cx="190500" cy="723900"/>
          </a:xfrm>
          <a:prstGeom prst="rect"/>
        </p:spPr>
        <p:txBody>
          <a:bodyPr wrap="none" lIns="0" tIns="0" rIns="0" bIns="0"/>
          <a:p>
            <a:pPr>
              <a:lnSpc>
                <a:spcPct val="100000"/>
              </a:lnSpc>
            </a:pPr>
            <a:r>
              <a:rPr lang="en-US" sz="975" b="1">
                <a:solidFill>
                  <a:srgbClr val="F2C96D"/>
                </a:solidFill>
                <a:latin typeface="Microsoft YaHei"/>
                <a:ea typeface="Microsoft YaHei"/>
              </a:rPr>
              <a:t>02</a:t>
            </a:r>
            <a:endParaRPr/>
          </a:p>
        </p:txBody>
      </p:sp>
      <p:sp>
        <p:nvSpPr>
          <p:cNvPr id="166" name="" descr="{&quot;isTemplate&quot;:true,&quot;type&quot;:&quot;text&quot;}"/>
          <p:cNvSpPr txBox="1"/>
          <p:nvPr/>
        </p:nvSpPr>
        <p:spPr>
          <a:xfrm rot="0" flipH="0" flipV="0">
            <a:off x="7429500" y="2209800"/>
            <a:ext cx="4076700" cy="723900"/>
          </a:xfrm>
          <a:prstGeom prst="rect"/>
        </p:spPr>
        <p:txBody>
          <a:bodyPr wrap="square" lIns="0" tIns="0" rIns="0" bIns="0">
            <a:normAutofit/>
          </a:bodyPr>
          <a:p>
            <a:pPr>
              <a:lnSpc>
                <a:spcPct val="150000"/>
              </a:lnSpc>
            </a:pPr>
            <a:r>
              <a:rPr lang="en-US" sz="1050">
                <a:solidFill>
                  <a:srgbClr val="F7F1E8">
                    <a:alpha val="78000"/>
                  </a:srgbClr>
                </a:solidFill>
                <a:latin typeface="Microsoft YaHei"/>
                <a:ea typeface="Microsoft YaHei"/>
              </a:rPr>
              <a:t>The step is multiplicative. Math.exp of any real is positive, so a price can never reach zero or go negative, however bad the shock.</a:t>
            </a:r>
            <a:endParaRPr/>
          </a:p>
        </p:txBody>
      </p:sp>
      <p:sp>
        <p:nvSpPr>
          <p:cNvPr id="167" name="" descr="{&quot;isTemplate&quot;:true,&quot;type&quot;:&quot;text&quot;}"/>
          <p:cNvSpPr txBox="1"/>
          <p:nvPr/>
        </p:nvSpPr>
        <p:spPr>
          <a:xfrm rot="0" flipH="0" flipV="0">
            <a:off x="7124700" y="3086100"/>
            <a:ext cx="190500" cy="723900"/>
          </a:xfrm>
          <a:prstGeom prst="rect"/>
        </p:spPr>
        <p:txBody>
          <a:bodyPr wrap="none" lIns="0" tIns="0" rIns="0" bIns="0"/>
          <a:p>
            <a:pPr>
              <a:lnSpc>
                <a:spcPct val="100000"/>
              </a:lnSpc>
            </a:pPr>
            <a:r>
              <a:rPr lang="en-US" sz="975" b="1">
                <a:solidFill>
                  <a:srgbClr val="F2C96D"/>
                </a:solidFill>
                <a:latin typeface="Microsoft YaHei"/>
                <a:ea typeface="Microsoft YaHei"/>
              </a:rPr>
              <a:t>03</a:t>
            </a:r>
            <a:endParaRPr/>
          </a:p>
        </p:txBody>
      </p:sp>
      <p:sp>
        <p:nvSpPr>
          <p:cNvPr id="168" name="" descr="{&quot;isTemplate&quot;:true,&quot;type&quot;:&quot;text&quot;}"/>
          <p:cNvSpPr txBox="1"/>
          <p:nvPr/>
        </p:nvSpPr>
        <p:spPr>
          <a:xfrm rot="0" flipH="0" flipV="0">
            <a:off x="7429500" y="3086100"/>
            <a:ext cx="4076700" cy="723900"/>
          </a:xfrm>
          <a:prstGeom prst="rect"/>
        </p:spPr>
        <p:txBody>
          <a:bodyPr wrap="square" lIns="0" tIns="0" rIns="0" bIns="0">
            <a:normAutofit/>
          </a:bodyPr>
          <a:p>
            <a:pPr>
              <a:lnSpc>
                <a:spcPct val="150000"/>
              </a:lnSpc>
            </a:pPr>
            <a:r>
              <a:rPr lang="en-US" sz="1050">
                <a:solidFill>
                  <a:srgbClr val="F7F1E8">
                    <a:alpha val="78000"/>
                  </a:srgbClr>
                </a:solidFill>
                <a:latin typeface="Microsoft YaHei"/>
                <a:ea typeface="Microsoft YaHei"/>
              </a:rPr>
              <a:t>Every mid is snapped to the asset tick grid before it is stored, so two prices are either equal or differ by at least one tick. The matcher never needs an epsilon.</a:t>
            </a:r>
            <a:endParaRPr/>
          </a:p>
        </p:txBody>
      </p:sp>
      <p:sp>
        <p:nvSpPr>
          <p:cNvPr id="169" name=""/>
          <p:cNvSpPr/>
          <p:nvPr/>
        </p:nvSpPr>
        <p:spPr>
          <a:xfrm rot="0" flipH="0" flipV="0">
            <a:off x="7153275" y="5210175"/>
            <a:ext cx="4381500" cy="695325"/>
          </a:xfrm>
          <a:prstGeom prst="rect">
            <a:avLst/>
          </a:prstGeom>
          <a:solidFill>
            <a:srgbClr val="E73555">
              <a:alpha val="10000"/>
            </a:srgbClr>
          </a:solidFill>
          <a:ln/>
        </p:spPr>
        <p:txBody>
          <a:bodyPr/>
          <a:p>
            <a:pPr/>
            <a:endParaRPr/>
          </a:p>
        </p:txBody>
      </p:sp>
      <p:sp>
        <p:nvSpPr>
          <p:cNvPr id="170" name=""/>
          <p:cNvSpPr/>
          <p:nvPr/>
        </p:nvSpPr>
        <p:spPr>
          <a:xfrm rot="0" flipH="0" flipV="0">
            <a:off x="7124700" y="5210175"/>
            <a:ext cx="4410075" cy="695325"/>
          </a:xfrm>
          <a:custGeom>
            <a:pathLst>
              <a:path w="463" h="73">
                <a:moveTo>
                  <a:pt x="0" y="0"/>
                </a:moveTo>
                <a:lnTo>
                  <a:pt x="3" y="0"/>
                </a:lnTo>
                <a:lnTo>
                  <a:pt x="3" y="73"/>
                </a:lnTo>
                <a:lnTo>
                  <a:pt x="0" y="73"/>
                </a:lnTo>
                <a:close/>
              </a:path>
            </a:pathLst>
          </a:custGeom>
          <a:solidFill>
            <a:srgbClr val="E73555"/>
          </a:solidFill>
          <a:ln/>
        </p:spPr>
        <p:txBody>
          <a:bodyPr/>
          <a:p>
            <a:pPr/>
            <a:endParaRPr/>
          </a:p>
        </p:txBody>
      </p:sp>
      <p:sp>
        <p:nvSpPr>
          <p:cNvPr id="171" name="" descr="{&quot;isTemplate&quot;:true,&quot;type&quot;:&quot;text&quot;}"/>
          <p:cNvSpPr txBox="1"/>
          <p:nvPr/>
        </p:nvSpPr>
        <p:spPr>
          <a:xfrm rot="0" flipH="0" flipV="0">
            <a:off x="7286625" y="5324475"/>
            <a:ext cx="4086225" cy="466725"/>
          </a:xfrm>
          <a:prstGeom prst="rect"/>
        </p:spPr>
        <p:txBody>
          <a:bodyPr wrap="square" lIns="0" tIns="0" rIns="0" bIns="0">
            <a:normAutofit/>
          </a:bodyPr>
          <a:p>
            <a:pPr>
              <a:lnSpc>
                <a:spcPct val="150000"/>
              </a:lnSpc>
            </a:pPr>
            <a:r>
              <a:rPr lang="en-US" sz="1013">
                <a:solidFill>
                  <a:srgbClr val="F7F1E8"/>
                </a:solidFill>
                <a:latin typeface="Microsoft YaHei"/>
                <a:ea typeface="Microsoft YaHei"/>
              </a:rPr>
              <a:t>Seed plus order log is the entire match. Hash both and you get one string, which is exactly what the replay page compares.</a:t>
            </a:r>
            <a:endParaRPr/>
          </a:p>
        </p:txBody>
      </p:sp>
      <p:sp>
        <p:nvSpPr>
          <p:cNvPr id="172" name=""/>
          <p:cNvSpPr/>
          <p:nvPr/>
        </p:nvSpPr>
        <p:spPr>
          <a:xfrm rot="0" flipH="0" flipV="0">
            <a:off x="685800" y="6096000"/>
            <a:ext cx="10820400" cy="571500"/>
          </a:xfrm>
          <a:custGeom>
            <a:pathLst>
              <a:path w="1136" h="60">
                <a:moveTo>
                  <a:pt x="0" y="0"/>
                </a:moveTo>
                <a:lnTo>
                  <a:pt x="1136" y="0"/>
                </a:lnTo>
                <a:lnTo>
                  <a:pt x="1136" y="1"/>
                </a:lnTo>
                <a:lnTo>
                  <a:pt x="0" y="1"/>
                </a:lnTo>
                <a:close/>
              </a:path>
            </a:pathLst>
          </a:custGeom>
          <a:solidFill>
            <a:srgbClr val="F7F1E8">
              <a:alpha val="10000"/>
            </a:srgbClr>
          </a:solidFill>
          <a:ln/>
        </p:spPr>
        <p:txBody>
          <a:bodyPr/>
          <a:p>
            <a:pPr/>
            <a:endParaRPr/>
          </a:p>
        </p:txBody>
      </p:sp>
      <p:sp>
        <p:nvSpPr>
          <p:cNvPr id="173" name="" descr="{&quot;isTemplate&quot;:true,&quot;type&quot;:&quot;text&quot;}"/>
          <p:cNvSpPr txBox="1"/>
          <p:nvPr/>
        </p:nvSpPr>
        <p:spPr>
          <a:xfrm rot="0" flipH="0" flipV="0">
            <a:off x="685800" y="6515100"/>
            <a:ext cx="2819400" cy="152400"/>
          </a:xfrm>
          <a:prstGeom prst="rect"/>
        </p:spPr>
        <p:txBody>
          <a:bodyPr wrap="none" lIns="0" tIns="0" rIns="0" bIns="0"/>
          <a:p>
            <a:pPr>
              <a:lnSpc>
                <a:spcPct val="100000"/>
              </a:lnSpc>
            </a:pPr>
            <a:r>
              <a:rPr lang="en-US" sz="975">
                <a:solidFill>
                  <a:srgbClr val="F7F1E8">
                    <a:alpha val="45000"/>
                  </a:srgbClr>
                </a:solidFill>
                <a:latin typeface="Microsoft YaHei"/>
                <a:ea typeface="Microsoft YaHei"/>
              </a:rPr>
              <a:t>BROKE VEGAS · fictional markets, virtual money</a:t>
            </a:r>
            <a:endParaRPr/>
          </a:p>
        </p:txBody>
      </p:sp>
      <p:sp>
        <p:nvSpPr>
          <p:cNvPr id="174" name="" descr="{&quot;isTemplate&quot;:true,&quot;type&quot;:&quot;text&quot;}"/>
          <p:cNvSpPr txBox="1"/>
          <p:nvPr/>
        </p:nvSpPr>
        <p:spPr>
          <a:xfrm rot="0" flipH="0" flipV="0">
            <a:off x="11087100" y="6515100"/>
            <a:ext cx="419100" cy="152400"/>
          </a:xfrm>
          <a:prstGeom prst="rect"/>
        </p:spPr>
        <p:txBody>
          <a:bodyPr wrap="none" lIns="0" tIns="0" rIns="0" bIns="0"/>
          <a:p>
            <a:pPr>
              <a:lnSpc>
                <a:spcPct val="100000"/>
              </a:lnSpc>
            </a:pPr>
            <a:r>
              <a:rPr lang="en-US" sz="975">
                <a:solidFill>
                  <a:srgbClr val="F7F1E8">
                    <a:alpha val="45000"/>
                  </a:srgbClr>
                </a:solidFill>
                <a:latin typeface="Microsoft YaHei"/>
                <a:ea typeface="Microsoft YaHei"/>
              </a:rPr>
              <a:t>04 / 12</a:t>
            </a:r>
            <a:endParaRPr/>
          </a:p>
        </p:txBody>
      </p:sp>
    </p:spTree>
  </p:cSld>
</p:sld>
</file>

<file path=ppt/slides/slide5.xml><?xml version="1.0" encoding="utf-8"?>
<p:sld xmlns:p="http://schemas.openxmlformats.org/presentationml/2006/main" xmlns:a="http://schemas.openxmlformats.org/drawingml/2006/main">
  <p:cSld>
    <p:spTree>
      <p:nvGrpSpPr>
        <p:cNvPr id="175" name=""/>
        <p:cNvGrpSpPr/>
        <p:nvPr/>
      </p:nvGrpSpPr>
      <p:grpSpPr>
        <a:xfrm>
          <a:off x="0" y="0"/>
          <a:ext cx="0" cy="0"/>
          <a:chOff x="0" y="0"/>
          <a:chExt cx="0" cy="0"/>
        </a:xfrm>
      </p:grpSpPr>
      <p:sp>
        <p:nvSpPr>
          <p:cNvPr id="176" name=""/>
          <p:cNvSpPr/>
          <p:nvPr/>
        </p:nvSpPr>
        <p:spPr>
          <a:xfrm rot="0" flipH="0" flipV="0">
            <a:off x="0" y="0"/>
            <a:ext cx="12192000" cy="6858000"/>
          </a:xfrm>
          <a:prstGeom prst="rect">
            <a:avLst/>
          </a:prstGeom>
          <a:solidFill>
            <a:srgbClr val="07060B"/>
          </a:solidFill>
          <a:ln/>
        </p:spPr>
        <p:txBody>
          <a:bodyPr/>
          <a:p>
            <a:pPr/>
            <a:endParaRPr/>
          </a:p>
        </p:txBody>
      </p:sp>
      <p:sp>
        <p:nvSpPr>
          <p:cNvPr id="177" name="" descr="{&quot;isTemplate&quot;:true,&quot;type&quot;:&quot;text&quot;}"/>
          <p:cNvSpPr txBox="1"/>
          <p:nvPr/>
        </p:nvSpPr>
        <p:spPr>
          <a:xfrm rot="0" flipH="0" flipV="0">
            <a:off x="685800" y="190500"/>
            <a:ext cx="6457950" cy="142875"/>
          </a:xfrm>
          <a:prstGeom prst="rect"/>
        </p:spPr>
        <p:txBody>
          <a:bodyPr wrap="none" lIns="0" tIns="0" rIns="0" bIns="0"/>
          <a:p>
            <a:pPr>
              <a:lnSpc>
                <a:spcPct val="100000"/>
              </a:lnSpc>
            </a:pPr>
            <a:r>
              <a:rPr lang="en-US" sz="900" b="1" spc="180">
                <a:solidFill>
                  <a:srgbClr val="F2C96D"/>
                </a:solidFill>
                <a:latin typeface="Microsoft YaHei"/>
                <a:ea typeface="Microsoft YaHei"/>
              </a:rPr>
              <a:t>MATCHING</a:t>
            </a:r>
            <a:endParaRPr/>
          </a:p>
        </p:txBody>
      </p:sp>
      <p:sp>
        <p:nvSpPr>
          <p:cNvPr id="178" name="" descr="{&quot;isTemplate&quot;:true,&quot;type&quot;:&quot;text&quot;}"/>
          <p:cNvSpPr txBox="1"/>
          <p:nvPr/>
        </p:nvSpPr>
        <p:spPr>
          <a:xfrm rot="0" flipH="0" flipV="0">
            <a:off x="685800" y="409575"/>
            <a:ext cx="6457950" cy="485775"/>
          </a:xfrm>
          <a:prstGeom prst="rect"/>
        </p:spPr>
        <p:txBody>
          <a:bodyPr wrap="none" lIns="0" tIns="0" rIns="0" bIns="0"/>
          <a:p>
            <a:pPr>
              <a:lnSpc>
                <a:spcPct val="110000"/>
              </a:lnSpc>
            </a:pPr>
            <a:r>
              <a:rPr lang="en-US" sz="2850">
                <a:solidFill>
                  <a:srgbClr val="F7F1E8"/>
                </a:solidFill>
                <a:latin typeface="Impact"/>
                <a:ea typeface="Impact"/>
              </a:rPr>
              <a:t>Price first. Then sequence. Nothing else.</a:t>
            </a:r>
            <a:endParaRPr/>
          </a:p>
        </p:txBody>
      </p:sp>
      <p:sp>
        <p:nvSpPr>
          <p:cNvPr id="179" name="" descr="{&quot;isTemplate&quot;:true,&quot;type&quot;:&quot;text&quot;}"/>
          <p:cNvSpPr txBox="1"/>
          <p:nvPr/>
        </p:nvSpPr>
        <p:spPr>
          <a:xfrm rot="0" flipH="0" flipV="0">
            <a:off x="9496425" y="190500"/>
            <a:ext cx="2009775" cy="209550"/>
          </a:xfrm>
          <a:prstGeom prst="rect"/>
        </p:spPr>
        <p:txBody>
          <a:bodyPr wrap="none" lIns="0" tIns="42863" rIns="0" bIns="0"/>
          <a:p>
            <a:pPr>
              <a:lnSpc>
                <a:spcPct val="100000"/>
              </a:lnSpc>
            </a:pPr>
            <a:r>
              <a:rPr lang="en-US" sz="975" spc="120">
                <a:solidFill>
                  <a:srgbClr val="F7F1E8">
                    <a:alpha val="50000"/>
                  </a:srgbClr>
                </a:solidFill>
                <a:latin typeface="Microsoft YaHei"/>
                <a:ea typeface="Microsoft YaHei"/>
              </a:rPr>
              <a:t>ONE BOOK · TWO SOURCES</a:t>
            </a:r>
            <a:endParaRPr/>
          </a:p>
        </p:txBody>
      </p:sp>
      <p:sp>
        <p:nvSpPr>
          <p:cNvPr id="180" name=""/>
          <p:cNvSpPr/>
          <p:nvPr/>
        </p:nvSpPr>
        <p:spPr>
          <a:xfrm rot="0" flipH="0" flipV="0">
            <a:off x="685800" y="1333500"/>
            <a:ext cx="6096000" cy="4572000"/>
          </a:xfrm>
          <a:prstGeom prst="roundRect">
            <a:avLst>
              <a:gd name="adj" fmla="val 1667"/>
            </a:avLst>
          </a:prstGeom>
          <a:solidFill>
            <a:srgbClr val="F7F1E8">
              <a:alpha val="4000"/>
            </a:srgbClr>
          </a:solidFill>
          <a:ln w="12700">
            <a:solidFill>
              <a:srgbClr val="F7F1E8">
                <a:alpha val="10000"/>
              </a:srgbClr>
            </a:solidFill>
            <a:prstDash val="solid"/>
          </a:ln>
        </p:spPr>
        <p:txBody>
          <a:bodyPr/>
          <a:p>
            <a:pPr/>
            <a:endParaRPr/>
          </a:p>
        </p:txBody>
      </p:sp>
      <p:sp>
        <p:nvSpPr>
          <p:cNvPr id="181" name=""/>
          <p:cNvSpPr/>
          <p:nvPr/>
        </p:nvSpPr>
        <p:spPr>
          <a:xfrm rot="0" flipH="0" flipV="0">
            <a:off x="857250" y="1466850"/>
            <a:ext cx="5753100" cy="247650"/>
          </a:xfrm>
          <a:custGeom>
            <a:pathLst>
              <a:path w="604" h="26">
                <a:moveTo>
                  <a:pt x="0" y="25"/>
                </a:moveTo>
                <a:lnTo>
                  <a:pt x="604" y="25"/>
                </a:lnTo>
                <a:lnTo>
                  <a:pt x="604" y="26"/>
                </a:lnTo>
                <a:lnTo>
                  <a:pt x="0" y="26"/>
                </a:lnTo>
                <a:close/>
              </a:path>
            </a:pathLst>
          </a:custGeom>
          <a:solidFill>
            <a:srgbClr val="F7F1E8">
              <a:alpha val="8000"/>
            </a:srgbClr>
          </a:solidFill>
          <a:ln/>
        </p:spPr>
        <p:txBody>
          <a:bodyPr/>
          <a:p>
            <a:pPr/>
            <a:endParaRPr/>
          </a:p>
        </p:txBody>
      </p:sp>
      <p:sp>
        <p:nvSpPr>
          <p:cNvPr id="182" name="" descr="{&quot;isTemplate&quot;:true,&quot;type&quot;:&quot;text&quot;}"/>
          <p:cNvSpPr txBox="1"/>
          <p:nvPr/>
        </p:nvSpPr>
        <p:spPr>
          <a:xfrm rot="0" flipH="0" flipV="0">
            <a:off x="857250" y="1466850"/>
            <a:ext cx="1638300" cy="133350"/>
          </a:xfrm>
          <a:prstGeom prst="rect"/>
        </p:spPr>
        <p:txBody>
          <a:bodyPr wrap="none" lIns="0" tIns="0" rIns="0" bIns="0"/>
          <a:p>
            <a:pPr>
              <a:lnSpc>
                <a:spcPct val="100000"/>
              </a:lnSpc>
            </a:pPr>
            <a:r>
              <a:rPr lang="en-US" sz="825" spc="60">
                <a:solidFill>
                  <a:srgbClr val="F2C96D"/>
                </a:solidFill>
                <a:latin typeface="Consolas"/>
                <a:ea typeface="Consolas"/>
              </a:rPr>
              <a:t>packages/engine/engine.ts</a:t>
            </a:r>
            <a:endParaRPr/>
          </a:p>
        </p:txBody>
      </p:sp>
      <p:sp>
        <p:nvSpPr>
          <p:cNvPr id="183" name="" descr="{&quot;isTemplate&quot;:true,&quot;type&quot;:&quot;text&quot;}"/>
          <p:cNvSpPr txBox="1"/>
          <p:nvPr/>
        </p:nvSpPr>
        <p:spPr>
          <a:xfrm rot="0" flipH="0" flipV="0">
            <a:off x="4067175" y="1466850"/>
            <a:ext cx="2543175" cy="133350"/>
          </a:xfrm>
          <a:prstGeom prst="rect"/>
        </p:spPr>
        <p:txBody>
          <a:bodyPr wrap="none" lIns="0" tIns="0" rIns="0" bIns="0"/>
          <a:p>
            <a:pPr>
              <a:lnSpc>
                <a:spcPct val="100000"/>
              </a:lnSpc>
            </a:pPr>
            <a:r>
              <a:rPr lang="en-US" sz="825">
                <a:solidFill>
                  <a:srgbClr val="F7F1E8">
                    <a:alpha val="40000"/>
                  </a:srgbClr>
                </a:solidFill>
                <a:latin typeface="Consolas"/>
                <a:ea typeface="Consolas"/>
              </a:rPr>
              <a:t>bestOpposite · 245-279 · limit filter elided</a:t>
            </a:r>
            <a:endParaRPr/>
          </a:p>
        </p:txBody>
      </p:sp>
      <p:sp>
        <p:nvSpPr>
          <p:cNvPr id="184" name="" descr="{&quot;isTemplate&quot;:true,&quot;type&quot;:&quot;text&quot;}"/>
          <p:cNvSpPr txBox="1"/>
          <p:nvPr/>
        </p:nvSpPr>
        <p:spPr>
          <a:xfrm rot="0" flipH="0" flipV="0">
            <a:off x="857250" y="1819275"/>
            <a:ext cx="5753100" cy="238125"/>
          </a:xfrm>
          <a:prstGeom prst="rect"/>
        </p:spPr>
        <p:txBody>
          <a:bodyPr wrap="none" lIns="0" tIns="0" rIns="0" bIns="0"/>
          <a:p>
            <a:pPr>
              <a:lnSpc>
                <a:spcPct val="150000"/>
              </a:lnSpc>
            </a:pPr>
            <a:r>
              <a:rPr lang="en-US" sz="1013">
                <a:solidFill>
                  <a:srgbClr val="F2C96D"/>
                </a:solidFill>
                <a:latin typeface="Consolas"/>
                <a:ea typeface="Consolas"/>
              </a:rPr>
              <a:t>function bestOpposite(state, incoming: Order) {</a:t>
            </a:r>
            <a:endParaRPr/>
          </a:p>
        </p:txBody>
      </p:sp>
      <p:sp>
        <p:nvSpPr>
          <p:cNvPr id="185" name="" descr="{&quot;isTemplate&quot;:true,&quot;type&quot;:&quot;text&quot;}"/>
          <p:cNvSpPr txBox="1"/>
          <p:nvPr/>
        </p:nvSpPr>
        <p:spPr>
          <a:xfrm rot="0" flipH="0" flipV="0">
            <a:off x="857250" y="2057400"/>
            <a:ext cx="5753100" cy="238125"/>
          </a:xfrm>
          <a:prstGeom prst="rect"/>
        </p:spPr>
        <p:txBody>
          <a:bodyPr wrap="none" lIns="0" tIns="0" rIns="0" bIns="0"/>
          <a:p>
            <a:pPr>
              <a:lnSpc>
                <a:spcPct val="150000"/>
              </a:lnSpc>
            </a:pPr>
            <a:r>
              <a:rPr lang="en-US" sz="1013">
                <a:solidFill>
                  <a:srgbClr val="F7F1E8"/>
                </a:solidFill>
                <a:latin typeface="Consolas"/>
                <a:ea typeface="Consolas"/>
              </a:rPr>
              <a:t>  const candidates: Array&lt;Order | HouseQuote&gt; = [</a:t>
            </a:r>
            <a:endParaRPr/>
          </a:p>
        </p:txBody>
      </p:sp>
      <p:sp>
        <p:nvSpPr>
          <p:cNvPr id="186" name="" descr="{&quot;isTemplate&quot;:true,&quot;type&quot;:&quot;text&quot;}"/>
          <p:cNvSpPr txBox="1"/>
          <p:nvPr/>
        </p:nvSpPr>
        <p:spPr>
          <a:xfrm rot="0" flipH="0" flipV="0">
            <a:off x="857250" y="2295525"/>
            <a:ext cx="5753100" cy="238125"/>
          </a:xfrm>
          <a:prstGeom prst="rect"/>
        </p:spPr>
        <p:txBody>
          <a:bodyPr wrap="none" lIns="0" tIns="0" rIns="0" bIns="0"/>
          <a:p>
            <a:pPr>
              <a:lnSpc>
                <a:spcPct val="150000"/>
              </a:lnSpc>
            </a:pPr>
            <a:r>
              <a:rPr lang="en-US" sz="1013">
                <a:solidFill>
                  <a:srgbClr val="F7F1E8"/>
                </a:solidFill>
                <a:latin typeface="Consolas"/>
                <a:ea typeface="Consolas"/>
              </a:rPr>
              <a:t>    ...state.quotes.filter((q) =&gt; q.side !== incoming.side),</a:t>
            </a:r>
            <a:endParaRPr/>
          </a:p>
        </p:txBody>
      </p:sp>
      <p:sp>
        <p:nvSpPr>
          <p:cNvPr id="187" name="" descr="{&quot;isTemplate&quot;:true,&quot;type&quot;:&quot;text&quot;}"/>
          <p:cNvSpPr txBox="1"/>
          <p:nvPr/>
        </p:nvSpPr>
        <p:spPr>
          <a:xfrm rot="0" flipH="0" flipV="0">
            <a:off x="857250" y="2533650"/>
            <a:ext cx="5753100" cy="238125"/>
          </a:xfrm>
          <a:prstGeom prst="rect"/>
        </p:spPr>
        <p:txBody>
          <a:bodyPr wrap="none" lIns="0" tIns="0" rIns="0" bIns="0"/>
          <a:p>
            <a:pPr>
              <a:lnSpc>
                <a:spcPct val="150000"/>
              </a:lnSpc>
            </a:pPr>
            <a:r>
              <a:rPr lang="en-US" sz="1013">
                <a:solidFill>
                  <a:srgbClr val="F7F1E8"/>
                </a:solidFill>
                <a:latin typeface="Consolas"/>
                <a:ea typeface="Consolas"/>
              </a:rPr>
              <a:t>    ...state.orders.filter((o) =&gt;</a:t>
            </a:r>
            <a:endParaRPr/>
          </a:p>
        </p:txBody>
      </p:sp>
      <p:sp>
        <p:nvSpPr>
          <p:cNvPr id="188" name="" descr="{&quot;isTemplate&quot;:true,&quot;type&quot;:&quot;text&quot;}"/>
          <p:cNvSpPr txBox="1"/>
          <p:nvPr/>
        </p:nvSpPr>
        <p:spPr>
          <a:xfrm rot="0" flipH="0" flipV="0">
            <a:off x="857250" y="2771775"/>
            <a:ext cx="5753100" cy="238125"/>
          </a:xfrm>
          <a:prstGeom prst="rect"/>
        </p:spPr>
        <p:txBody>
          <a:bodyPr wrap="none" lIns="0" tIns="0" rIns="0" bIns="0"/>
          <a:p>
            <a:pPr>
              <a:lnSpc>
                <a:spcPct val="150000"/>
              </a:lnSpc>
            </a:pPr>
            <a:r>
              <a:rPr lang="en-US" sz="1013">
                <a:solidFill>
                  <a:srgbClr val="F7F1E8"/>
                </a:solidFill>
                <a:latin typeface="Consolas"/>
                <a:ea typeface="Consolas"/>
              </a:rPr>
              <a:t>      isOpen(o) &amp;&amp; o.side !== incoming.side &amp;&amp;</a:t>
            </a:r>
            <a:endParaRPr/>
          </a:p>
        </p:txBody>
      </p:sp>
      <p:sp>
        <p:nvSpPr>
          <p:cNvPr id="189" name="" descr="{&quot;isTemplate&quot;:true,&quot;type&quot;:&quot;text&quot;}"/>
          <p:cNvSpPr txBox="1"/>
          <p:nvPr/>
        </p:nvSpPr>
        <p:spPr>
          <a:xfrm rot="0" flipH="0" flipV="0">
            <a:off x="857250" y="3009900"/>
            <a:ext cx="5753100" cy="238125"/>
          </a:xfrm>
          <a:prstGeom prst="rect"/>
        </p:spPr>
        <p:txBody>
          <a:bodyPr wrap="none" lIns="0" tIns="0" rIns="0" bIns="0"/>
          <a:p>
            <a:pPr>
              <a:lnSpc>
                <a:spcPct val="150000"/>
              </a:lnSpc>
            </a:pPr>
            <a:r>
              <a:rPr lang="en-US" sz="1013">
                <a:solidFill>
                  <a:srgbClr val="F7F1E8">
                    <a:alpha val="36000"/>
                  </a:srgbClr>
                </a:solidFill>
                <a:latin typeface="Consolas"/>
                <a:ea typeface="Consolas"/>
              </a:rPr>
              <a:t>      o.playerId !== incoming.playerId),   // no self-trade</a:t>
            </a:r>
            <a:endParaRPr/>
          </a:p>
        </p:txBody>
      </p:sp>
      <p:sp>
        <p:nvSpPr>
          <p:cNvPr id="190" name="" descr="{&quot;isTemplate&quot;:true,&quot;type&quot;:&quot;text&quot;}"/>
          <p:cNvSpPr txBox="1"/>
          <p:nvPr/>
        </p:nvSpPr>
        <p:spPr>
          <a:xfrm rot="0" flipH="0" flipV="0">
            <a:off x="857250" y="3248025"/>
            <a:ext cx="5753100" cy="238125"/>
          </a:xfrm>
          <a:prstGeom prst="rect"/>
        </p:spPr>
        <p:txBody>
          <a:bodyPr wrap="none" lIns="0" tIns="0" rIns="0" bIns="0"/>
          <a:p>
            <a:pPr>
              <a:lnSpc>
                <a:spcPct val="150000"/>
              </a:lnSpc>
            </a:pPr>
            <a:r>
              <a:rPr lang="en-US" sz="1013">
                <a:solidFill>
                  <a:srgbClr val="F7F1E8"/>
                </a:solidFill>
                <a:latin typeface="Consolas"/>
                <a:ea typeface="Consolas"/>
              </a:rPr>
              <a:t>  ];</a:t>
            </a:r>
            <a:endParaRPr/>
          </a:p>
        </p:txBody>
      </p:sp>
      <p:sp>
        <p:nvSpPr>
          <p:cNvPr id="191" name="" descr="{&quot;isTemplate&quot;:true,&quot;type&quot;:&quot;text&quot;}"/>
          <p:cNvSpPr txBox="1"/>
          <p:nvPr/>
        </p:nvSpPr>
        <p:spPr>
          <a:xfrm rot="0" flipH="0" flipV="0">
            <a:off x="857250" y="3486150"/>
            <a:ext cx="5753100" cy="238125"/>
          </a:xfrm>
          <a:prstGeom prst="rect"/>
        </p:spPr>
        <p:txBody>
          <a:bodyPr wrap="none" lIns="0" tIns="0" rIns="0" bIns="0"/>
          <a:p>
            <a:pPr>
              <a:lnSpc>
                <a:spcPct val="150000"/>
              </a:lnSpc>
            </a:pPr>
            <a:r>
              <a:rPr lang="en-US" sz="1013">
                <a:solidFill>
                  <a:srgbClr val="F7F1E8"/>
                </a:solidFill>
                <a:latin typeface="Consolas"/>
                <a:ea typeface="Consolas"/>
              </a:rPr>
              <a:t>  return candidates.sort((a, b) =&gt; {</a:t>
            </a:r>
            <a:endParaRPr/>
          </a:p>
        </p:txBody>
      </p:sp>
      <p:sp>
        <p:nvSpPr>
          <p:cNvPr id="192" name="" descr="{&quot;isTemplate&quot;:true,&quot;type&quot;:&quot;text&quot;}"/>
          <p:cNvSpPr txBox="1"/>
          <p:nvPr/>
        </p:nvSpPr>
        <p:spPr>
          <a:xfrm rot="0" flipH="0" flipV="0">
            <a:off x="857250" y="3724275"/>
            <a:ext cx="5753100" cy="238125"/>
          </a:xfrm>
          <a:prstGeom prst="rect"/>
        </p:spPr>
        <p:txBody>
          <a:bodyPr wrap="none" lIns="0" tIns="0" rIns="0" bIns="0"/>
          <a:p>
            <a:pPr>
              <a:lnSpc>
                <a:spcPct val="150000"/>
              </a:lnSpc>
            </a:pPr>
            <a:r>
              <a:rPr lang="en-US" sz="1013">
                <a:solidFill>
                  <a:srgbClr val="F7F1E8"/>
                </a:solidFill>
                <a:latin typeface="Consolas"/>
                <a:ea typeface="Consolas"/>
              </a:rPr>
              <a:t>    const priceOrder = incoming.side === "buy"</a:t>
            </a:r>
            <a:endParaRPr/>
          </a:p>
        </p:txBody>
      </p:sp>
      <p:sp>
        <p:nvSpPr>
          <p:cNvPr id="193" name="" descr="{&quot;isTemplate&quot;:true,&quot;type&quot;:&quot;text&quot;}"/>
          <p:cNvSpPr txBox="1"/>
          <p:nvPr/>
        </p:nvSpPr>
        <p:spPr>
          <a:xfrm rot="0" flipH="0" flipV="0">
            <a:off x="857250" y="3962400"/>
            <a:ext cx="5753100" cy="238125"/>
          </a:xfrm>
          <a:prstGeom prst="rect"/>
        </p:spPr>
        <p:txBody>
          <a:bodyPr wrap="none" lIns="0" tIns="0" rIns="0" bIns="0"/>
          <a:p>
            <a:pPr>
              <a:lnSpc>
                <a:spcPct val="150000"/>
              </a:lnSpc>
            </a:pPr>
            <a:r>
              <a:rPr lang="en-US" sz="1013">
                <a:solidFill>
                  <a:srgbClr val="F7F1E8"/>
                </a:solidFill>
                <a:latin typeface="Consolas"/>
                <a:ea typeface="Consolas"/>
              </a:rPr>
              <a:t>      ? priceOf(a) - priceOf(b)</a:t>
            </a:r>
            <a:endParaRPr/>
          </a:p>
        </p:txBody>
      </p:sp>
      <p:sp>
        <p:nvSpPr>
          <p:cNvPr id="194" name="" descr="{&quot;isTemplate&quot;:true,&quot;type&quot;:&quot;text&quot;}"/>
          <p:cNvSpPr txBox="1"/>
          <p:nvPr/>
        </p:nvSpPr>
        <p:spPr>
          <a:xfrm rot="0" flipH="0" flipV="0">
            <a:off x="857250" y="4200525"/>
            <a:ext cx="5753100" cy="238125"/>
          </a:xfrm>
          <a:prstGeom prst="rect"/>
        </p:spPr>
        <p:txBody>
          <a:bodyPr wrap="none" lIns="0" tIns="0" rIns="0" bIns="0"/>
          <a:p>
            <a:pPr>
              <a:lnSpc>
                <a:spcPct val="150000"/>
              </a:lnSpc>
            </a:pPr>
            <a:r>
              <a:rPr lang="en-US" sz="1013">
                <a:solidFill>
                  <a:srgbClr val="F7F1E8"/>
                </a:solidFill>
                <a:latin typeface="Consolas"/>
                <a:ea typeface="Consolas"/>
              </a:rPr>
              <a:t>      : priceOf(b) - priceOf(a);</a:t>
            </a:r>
            <a:endParaRPr/>
          </a:p>
        </p:txBody>
      </p:sp>
      <p:sp>
        <p:nvSpPr>
          <p:cNvPr id="195" name="" descr="{&quot;isTemplate&quot;:true,&quot;type&quot;:&quot;text&quot;}"/>
          <p:cNvSpPr txBox="1"/>
          <p:nvPr/>
        </p:nvSpPr>
        <p:spPr>
          <a:xfrm rot="0" flipH="0" flipV="0">
            <a:off x="857250" y="4438650"/>
            <a:ext cx="5753100" cy="238125"/>
          </a:xfrm>
          <a:prstGeom prst="rect"/>
        </p:spPr>
        <p:txBody>
          <a:bodyPr wrap="none" lIns="0" tIns="0" rIns="0" bIns="0"/>
          <a:p>
            <a:pPr>
              <a:lnSpc>
                <a:spcPct val="150000"/>
              </a:lnSpc>
            </a:pPr>
            <a:r>
              <a:rPr lang="en-US" sz="1013">
                <a:solidFill>
                  <a:srgbClr val="E73555"/>
                </a:solidFill>
                <a:latin typeface="Consolas"/>
                <a:ea typeface="Consolas"/>
              </a:rPr>
              <a:t>    return priceOrder || a.seq - b.seq;    // price, then time</a:t>
            </a:r>
            <a:endParaRPr/>
          </a:p>
        </p:txBody>
      </p:sp>
      <p:sp>
        <p:nvSpPr>
          <p:cNvPr id="196" name="" descr="{&quot;isTemplate&quot;:true,&quot;type&quot;:&quot;text&quot;}"/>
          <p:cNvSpPr txBox="1"/>
          <p:nvPr/>
        </p:nvSpPr>
        <p:spPr>
          <a:xfrm rot="0" flipH="0" flipV="0">
            <a:off x="857250" y="4676775"/>
            <a:ext cx="5753100" cy="238125"/>
          </a:xfrm>
          <a:prstGeom prst="rect"/>
        </p:spPr>
        <p:txBody>
          <a:bodyPr wrap="none" lIns="0" tIns="0" rIns="0" bIns="0"/>
          <a:p>
            <a:pPr>
              <a:lnSpc>
                <a:spcPct val="150000"/>
              </a:lnSpc>
            </a:pPr>
            <a:r>
              <a:rPr lang="en-US" sz="1013">
                <a:solidFill>
                  <a:srgbClr val="F7F1E8"/>
                </a:solidFill>
                <a:latin typeface="Consolas"/>
                <a:ea typeface="Consolas"/>
              </a:rPr>
              <a:t>  })[0] ?? null;</a:t>
            </a:r>
            <a:endParaRPr/>
          </a:p>
        </p:txBody>
      </p:sp>
      <p:sp>
        <p:nvSpPr>
          <p:cNvPr id="197" name="" descr="{&quot;isTemplate&quot;:true,&quot;type&quot;:&quot;text&quot;}"/>
          <p:cNvSpPr txBox="1"/>
          <p:nvPr/>
        </p:nvSpPr>
        <p:spPr>
          <a:xfrm rot="0" flipH="0" flipV="0">
            <a:off x="857250" y="4914900"/>
            <a:ext cx="5753100" cy="238125"/>
          </a:xfrm>
          <a:prstGeom prst="rect"/>
        </p:spPr>
        <p:txBody>
          <a:bodyPr wrap="none" lIns="0" tIns="0" rIns="0" bIns="0"/>
          <a:p>
            <a:pPr>
              <a:lnSpc>
                <a:spcPct val="150000"/>
              </a:lnSpc>
            </a:pPr>
            <a:r>
              <a:rPr lang="en-US" sz="1013">
                <a:solidFill>
                  <a:srgbClr val="F7F1E8"/>
                </a:solidFill>
                <a:latin typeface="Consolas"/>
                <a:ea typeface="Consolas"/>
              </a:rPr>
              <a:t>}</a:t>
            </a:r>
            <a:endParaRPr/>
          </a:p>
        </p:txBody>
      </p:sp>
      <p:sp>
        <p:nvSpPr>
          <p:cNvPr id="198" name="" descr="{&quot;isTemplate&quot;:true,&quot;type&quot;:&quot;text&quot;}"/>
          <p:cNvSpPr txBox="1"/>
          <p:nvPr/>
        </p:nvSpPr>
        <p:spPr>
          <a:xfrm rot="0" flipH="0" flipV="0">
            <a:off x="857250" y="5153025"/>
            <a:ext cx="5753100" cy="238125"/>
          </a:xfrm>
          <a:prstGeom prst="rect"/>
        </p:spPr>
        <p:txBody>
          <a:bodyPr wrap="none" lIns="0" tIns="0" rIns="0" bIns="0"/>
          <a:p>
            <a:pPr>
              <a:lnSpc>
                <a:spcPct val="150000"/>
              </a:lnSpc>
            </a:pPr>
            <a:r>
              <a:rPr lang="en-US" sz="1013">
                <a:solidFill>
                  <a:srgbClr val="F7F1E8">
                    <a:alpha val="36000"/>
                  </a:srgbClr>
                </a:solidFill>
                <a:latin typeface="Consolas"/>
                <a:ea typeface="Consolas"/>
              </a:rPr>
              <a:t>// aggressor pays the resting price, never its own limit</a:t>
            </a:r>
            <a:endParaRPr/>
          </a:p>
        </p:txBody>
      </p:sp>
      <p:sp>
        <p:nvSpPr>
          <p:cNvPr id="199" name="" descr="{&quot;isTemplate&quot;:true,&quot;type&quot;:&quot;text&quot;}"/>
          <p:cNvSpPr txBox="1"/>
          <p:nvPr/>
        </p:nvSpPr>
        <p:spPr>
          <a:xfrm rot="0" flipH="0" flipV="0">
            <a:off x="857250" y="5391150"/>
            <a:ext cx="5753100" cy="238125"/>
          </a:xfrm>
          <a:prstGeom prst="rect"/>
        </p:spPr>
        <p:txBody>
          <a:bodyPr wrap="none" lIns="0" tIns="0" rIns="0" bIns="0"/>
          <a:p>
            <a:pPr>
              <a:lnSpc>
                <a:spcPct val="150000"/>
              </a:lnSpc>
            </a:pPr>
            <a:r>
              <a:rPr lang="en-US" sz="1013">
                <a:solidFill>
                  <a:srgbClr val="F7F1E8"/>
                </a:solidFill>
                <a:latin typeface="Consolas"/>
                <a:ea typeface="Consolas"/>
              </a:rPr>
              <a:t>executeFill(state, order, opposite, priceOf(opposite), qty);</a:t>
            </a:r>
            <a:endParaRPr/>
          </a:p>
        </p:txBody>
      </p:sp>
      <p:sp>
        <p:nvSpPr>
          <p:cNvPr id="200" name="" descr="{&quot;isTemplate&quot;:true,&quot;type&quot;:&quot;text&quot;}"/>
          <p:cNvSpPr txBox="1"/>
          <p:nvPr/>
        </p:nvSpPr>
        <p:spPr>
          <a:xfrm rot="0" flipH="0" flipV="0">
            <a:off x="7124700" y="1333500"/>
            <a:ext cx="190500" cy="723900"/>
          </a:xfrm>
          <a:prstGeom prst="rect"/>
        </p:spPr>
        <p:txBody>
          <a:bodyPr wrap="none" lIns="0" tIns="0" rIns="0" bIns="0"/>
          <a:p>
            <a:pPr>
              <a:lnSpc>
                <a:spcPct val="100000"/>
              </a:lnSpc>
            </a:pPr>
            <a:r>
              <a:rPr lang="en-US" sz="975" b="1">
                <a:solidFill>
                  <a:srgbClr val="F2C96D"/>
                </a:solidFill>
                <a:latin typeface="Microsoft YaHei"/>
                <a:ea typeface="Microsoft YaHei"/>
              </a:rPr>
              <a:t>01</a:t>
            </a:r>
            <a:endParaRPr/>
          </a:p>
        </p:txBody>
      </p:sp>
      <p:sp>
        <p:nvSpPr>
          <p:cNvPr id="201" name="" descr="{&quot;isTemplate&quot;:true,&quot;type&quot;:&quot;text&quot;}"/>
          <p:cNvSpPr txBox="1"/>
          <p:nvPr/>
        </p:nvSpPr>
        <p:spPr>
          <a:xfrm rot="0" flipH="0" flipV="0">
            <a:off x="7429500" y="1333500"/>
            <a:ext cx="4076700" cy="723900"/>
          </a:xfrm>
          <a:prstGeom prst="rect"/>
        </p:spPr>
        <p:txBody>
          <a:bodyPr wrap="square" lIns="0" tIns="0" rIns="0" bIns="0">
            <a:normAutofit/>
          </a:bodyPr>
          <a:p>
            <a:pPr>
              <a:lnSpc>
                <a:spcPct val="150000"/>
              </a:lnSpc>
            </a:pPr>
            <a:r>
              <a:rPr lang="en-US" sz="1050">
                <a:solidFill>
                  <a:srgbClr val="F7F1E8">
                    <a:alpha val="78000"/>
                  </a:srgbClr>
                </a:solidFill>
                <a:latin typeface="Microsoft YaHei"/>
                <a:ea typeface="Microsoft YaHei"/>
              </a:rPr>
              <a:t>One book, two sources. House quotes and player orders are merged into a single candidate list, so there is no separate market-maker book to keep in sync.</a:t>
            </a:r>
            <a:endParaRPr/>
          </a:p>
        </p:txBody>
      </p:sp>
      <p:sp>
        <p:nvSpPr>
          <p:cNvPr id="202" name="" descr="{&quot;isTemplate&quot;:true,&quot;type&quot;:&quot;text&quot;}"/>
          <p:cNvSpPr txBox="1"/>
          <p:nvPr/>
        </p:nvSpPr>
        <p:spPr>
          <a:xfrm rot="0" flipH="0" flipV="0">
            <a:off x="7124700" y="2209800"/>
            <a:ext cx="190500" cy="723900"/>
          </a:xfrm>
          <a:prstGeom prst="rect"/>
        </p:spPr>
        <p:txBody>
          <a:bodyPr wrap="none" lIns="0" tIns="0" rIns="0" bIns="0"/>
          <a:p>
            <a:pPr>
              <a:lnSpc>
                <a:spcPct val="100000"/>
              </a:lnSpc>
            </a:pPr>
            <a:r>
              <a:rPr lang="en-US" sz="975" b="1">
                <a:solidFill>
                  <a:srgbClr val="F2C96D"/>
                </a:solidFill>
                <a:latin typeface="Microsoft YaHei"/>
                <a:ea typeface="Microsoft YaHei"/>
              </a:rPr>
              <a:t>02</a:t>
            </a:r>
            <a:endParaRPr/>
          </a:p>
        </p:txBody>
      </p:sp>
      <p:sp>
        <p:nvSpPr>
          <p:cNvPr id="203" name="" descr="{&quot;isTemplate&quot;:true,&quot;type&quot;:&quot;text&quot;}"/>
          <p:cNvSpPr txBox="1"/>
          <p:nvPr/>
        </p:nvSpPr>
        <p:spPr>
          <a:xfrm rot="0" flipH="0" flipV="0">
            <a:off x="7429500" y="2209800"/>
            <a:ext cx="4076700" cy="723900"/>
          </a:xfrm>
          <a:prstGeom prst="rect"/>
        </p:spPr>
        <p:txBody>
          <a:bodyPr wrap="square" lIns="0" tIns="0" rIns="0" bIns="0">
            <a:normAutofit/>
          </a:bodyPr>
          <a:p>
            <a:pPr>
              <a:lnSpc>
                <a:spcPct val="150000"/>
              </a:lnSpc>
            </a:pPr>
            <a:r>
              <a:rPr lang="en-US" sz="1050">
                <a:solidFill>
                  <a:srgbClr val="F7F1E8">
                    <a:alpha val="78000"/>
                  </a:srgbClr>
                </a:solidFill>
                <a:latin typeface="Microsoft YaHei"/>
                <a:ea typeface="Microsoft YaHei"/>
              </a:rPr>
              <a:t>seq is stamped inside the engine at submit. Time priority is therefore a counter, not a wall clock, and client clock skew cannot reorder anything.</a:t>
            </a:r>
            <a:endParaRPr/>
          </a:p>
        </p:txBody>
      </p:sp>
      <p:sp>
        <p:nvSpPr>
          <p:cNvPr id="204" name="" descr="{&quot;isTemplate&quot;:true,&quot;type&quot;:&quot;text&quot;}"/>
          <p:cNvSpPr txBox="1"/>
          <p:nvPr/>
        </p:nvSpPr>
        <p:spPr>
          <a:xfrm rot="0" flipH="0" flipV="0">
            <a:off x="7124700" y="3086100"/>
            <a:ext cx="190500" cy="723900"/>
          </a:xfrm>
          <a:prstGeom prst="rect"/>
        </p:spPr>
        <p:txBody>
          <a:bodyPr wrap="none" lIns="0" tIns="0" rIns="0" bIns="0"/>
          <a:p>
            <a:pPr>
              <a:lnSpc>
                <a:spcPct val="100000"/>
              </a:lnSpc>
            </a:pPr>
            <a:r>
              <a:rPr lang="en-US" sz="975" b="1">
                <a:solidFill>
                  <a:srgbClr val="F2C96D"/>
                </a:solidFill>
                <a:latin typeface="Microsoft YaHei"/>
                <a:ea typeface="Microsoft YaHei"/>
              </a:rPr>
              <a:t>03</a:t>
            </a:r>
            <a:endParaRPr/>
          </a:p>
        </p:txBody>
      </p:sp>
      <p:sp>
        <p:nvSpPr>
          <p:cNvPr id="205" name="" descr="{&quot;isTemplate&quot;:true,&quot;type&quot;:&quot;text&quot;}"/>
          <p:cNvSpPr txBox="1"/>
          <p:nvPr/>
        </p:nvSpPr>
        <p:spPr>
          <a:xfrm rot="0" flipH="0" flipV="0">
            <a:off x="7429500" y="3086100"/>
            <a:ext cx="4076700" cy="723900"/>
          </a:xfrm>
          <a:prstGeom prst="rect"/>
        </p:spPr>
        <p:txBody>
          <a:bodyPr wrap="square" lIns="0" tIns="0" rIns="0" bIns="0">
            <a:normAutofit/>
          </a:bodyPr>
          <a:p>
            <a:pPr>
              <a:lnSpc>
                <a:spcPct val="150000"/>
              </a:lnSpc>
            </a:pPr>
            <a:r>
              <a:rPr lang="en-US" sz="1050">
                <a:solidFill>
                  <a:srgbClr val="F7F1E8">
                    <a:alpha val="78000"/>
                  </a:srgbClr>
                </a:solidFill>
                <a:latin typeface="Microsoft YaHei"/>
                <a:ea typeface="Microsoft YaHei"/>
              </a:rPr>
              <a:t>Self-trade is excluded in the filter, before matching. It is never a post-hoc rejection that could leave half an order filled against yourself.</a:t>
            </a:r>
            <a:endParaRPr/>
          </a:p>
        </p:txBody>
      </p:sp>
      <p:sp>
        <p:nvSpPr>
          <p:cNvPr id="206" name=""/>
          <p:cNvSpPr/>
          <p:nvPr/>
        </p:nvSpPr>
        <p:spPr>
          <a:xfrm rot="0" flipH="0" flipV="0">
            <a:off x="7153275" y="4981575"/>
            <a:ext cx="4381500" cy="923925"/>
          </a:xfrm>
          <a:prstGeom prst="rect">
            <a:avLst/>
          </a:prstGeom>
          <a:solidFill>
            <a:srgbClr val="E73555">
              <a:alpha val="10000"/>
            </a:srgbClr>
          </a:solidFill>
          <a:ln/>
        </p:spPr>
        <p:txBody>
          <a:bodyPr/>
          <a:p>
            <a:pPr/>
            <a:endParaRPr/>
          </a:p>
        </p:txBody>
      </p:sp>
      <p:sp>
        <p:nvSpPr>
          <p:cNvPr id="207" name=""/>
          <p:cNvSpPr/>
          <p:nvPr/>
        </p:nvSpPr>
        <p:spPr>
          <a:xfrm rot="0" flipH="0" flipV="0">
            <a:off x="7124700" y="4981575"/>
            <a:ext cx="4410075" cy="923925"/>
          </a:xfrm>
          <a:custGeom>
            <a:pathLst>
              <a:path w="463" h="97">
                <a:moveTo>
                  <a:pt x="0" y="0"/>
                </a:moveTo>
                <a:lnTo>
                  <a:pt x="3" y="0"/>
                </a:lnTo>
                <a:lnTo>
                  <a:pt x="3" y="97"/>
                </a:lnTo>
                <a:lnTo>
                  <a:pt x="0" y="97"/>
                </a:lnTo>
                <a:close/>
              </a:path>
            </a:pathLst>
          </a:custGeom>
          <a:solidFill>
            <a:srgbClr val="E73555"/>
          </a:solidFill>
          <a:ln/>
        </p:spPr>
        <p:txBody>
          <a:bodyPr/>
          <a:p>
            <a:pPr/>
            <a:endParaRPr/>
          </a:p>
        </p:txBody>
      </p:sp>
      <p:sp>
        <p:nvSpPr>
          <p:cNvPr id="208" name="" descr="{&quot;isTemplate&quot;:true,&quot;type&quot;:&quot;text&quot;}"/>
          <p:cNvSpPr txBox="1"/>
          <p:nvPr/>
        </p:nvSpPr>
        <p:spPr>
          <a:xfrm rot="0" flipH="0" flipV="0">
            <a:off x="7286625" y="5095875"/>
            <a:ext cx="4086225" cy="695325"/>
          </a:xfrm>
          <a:prstGeom prst="rect"/>
        </p:spPr>
        <p:txBody>
          <a:bodyPr wrap="square" lIns="0" tIns="0" rIns="0" bIns="0">
            <a:normAutofit/>
          </a:bodyPr>
          <a:p>
            <a:pPr>
              <a:lnSpc>
                <a:spcPct val="150000"/>
              </a:lnSpc>
            </a:pPr>
            <a:r>
              <a:rPr lang="en-US" sz="1013">
                <a:solidFill>
                  <a:srgbClr val="F7F1E8"/>
                </a:solidFill>
                <a:latin typeface="Microsoft YaHei"/>
                <a:ea typeface="Microsoft YaHei"/>
              </a:rPr>
              <a:t>The aggressor pays the resting price. A limit order can fill better than its limit, never worse, and a market order walks the book until it runs out of cash.</a:t>
            </a:r>
            <a:endParaRPr/>
          </a:p>
        </p:txBody>
      </p:sp>
      <p:sp>
        <p:nvSpPr>
          <p:cNvPr id="209" name=""/>
          <p:cNvSpPr/>
          <p:nvPr/>
        </p:nvSpPr>
        <p:spPr>
          <a:xfrm rot="0" flipH="0" flipV="0">
            <a:off x="685800" y="6096000"/>
            <a:ext cx="10820400" cy="571500"/>
          </a:xfrm>
          <a:custGeom>
            <a:pathLst>
              <a:path w="1136" h="60">
                <a:moveTo>
                  <a:pt x="0" y="0"/>
                </a:moveTo>
                <a:lnTo>
                  <a:pt x="1136" y="0"/>
                </a:lnTo>
                <a:lnTo>
                  <a:pt x="1136" y="1"/>
                </a:lnTo>
                <a:lnTo>
                  <a:pt x="0" y="1"/>
                </a:lnTo>
                <a:close/>
              </a:path>
            </a:pathLst>
          </a:custGeom>
          <a:solidFill>
            <a:srgbClr val="F7F1E8">
              <a:alpha val="10000"/>
            </a:srgbClr>
          </a:solidFill>
          <a:ln/>
        </p:spPr>
        <p:txBody>
          <a:bodyPr/>
          <a:p>
            <a:pPr/>
            <a:endParaRPr/>
          </a:p>
        </p:txBody>
      </p:sp>
      <p:sp>
        <p:nvSpPr>
          <p:cNvPr id="210" name="" descr="{&quot;isTemplate&quot;:true,&quot;type&quot;:&quot;text&quot;}"/>
          <p:cNvSpPr txBox="1"/>
          <p:nvPr/>
        </p:nvSpPr>
        <p:spPr>
          <a:xfrm rot="0" flipH="0" flipV="0">
            <a:off x="685800" y="6515100"/>
            <a:ext cx="2819400" cy="152400"/>
          </a:xfrm>
          <a:prstGeom prst="rect"/>
        </p:spPr>
        <p:txBody>
          <a:bodyPr wrap="none" lIns="0" tIns="0" rIns="0" bIns="0"/>
          <a:p>
            <a:pPr>
              <a:lnSpc>
                <a:spcPct val="100000"/>
              </a:lnSpc>
            </a:pPr>
            <a:r>
              <a:rPr lang="en-US" sz="975">
                <a:solidFill>
                  <a:srgbClr val="F7F1E8">
                    <a:alpha val="45000"/>
                  </a:srgbClr>
                </a:solidFill>
                <a:latin typeface="Microsoft YaHei"/>
                <a:ea typeface="Microsoft YaHei"/>
              </a:rPr>
              <a:t>BROKE VEGAS · fictional markets, virtual money</a:t>
            </a:r>
            <a:endParaRPr/>
          </a:p>
        </p:txBody>
      </p:sp>
      <p:sp>
        <p:nvSpPr>
          <p:cNvPr id="211" name="" descr="{&quot;isTemplate&quot;:true,&quot;type&quot;:&quot;text&quot;}"/>
          <p:cNvSpPr txBox="1"/>
          <p:nvPr/>
        </p:nvSpPr>
        <p:spPr>
          <a:xfrm rot="0" flipH="0" flipV="0">
            <a:off x="11087100" y="6515100"/>
            <a:ext cx="419100" cy="152400"/>
          </a:xfrm>
          <a:prstGeom prst="rect"/>
        </p:spPr>
        <p:txBody>
          <a:bodyPr wrap="none" lIns="0" tIns="0" rIns="0" bIns="0"/>
          <a:p>
            <a:pPr>
              <a:lnSpc>
                <a:spcPct val="100000"/>
              </a:lnSpc>
            </a:pPr>
            <a:r>
              <a:rPr lang="en-US" sz="975">
                <a:solidFill>
                  <a:srgbClr val="F7F1E8">
                    <a:alpha val="45000"/>
                  </a:srgbClr>
                </a:solidFill>
                <a:latin typeface="Microsoft YaHei"/>
                <a:ea typeface="Microsoft YaHei"/>
              </a:rPr>
              <a:t>05 / 12</a:t>
            </a:r>
            <a:endParaRPr/>
          </a:p>
        </p:txBody>
      </p:sp>
    </p:spTree>
  </p:cSld>
</p:sld>
</file>

<file path=ppt/slides/slide6.xml><?xml version="1.0" encoding="utf-8"?>
<p:sld xmlns:p="http://schemas.openxmlformats.org/presentationml/2006/main" xmlns:a="http://schemas.openxmlformats.org/drawingml/2006/main">
  <p:cSld>
    <p:spTree>
      <p:nvGrpSpPr>
        <p:cNvPr id="212" name=""/>
        <p:cNvGrpSpPr/>
        <p:nvPr/>
      </p:nvGrpSpPr>
      <p:grpSpPr>
        <a:xfrm>
          <a:off x="0" y="0"/>
          <a:ext cx="0" cy="0"/>
          <a:chOff x="0" y="0"/>
          <a:chExt cx="0" cy="0"/>
        </a:xfrm>
      </p:grpSpPr>
      <p:sp>
        <p:nvSpPr>
          <p:cNvPr id="213" name=""/>
          <p:cNvSpPr/>
          <p:nvPr/>
        </p:nvSpPr>
        <p:spPr>
          <a:xfrm rot="0" flipH="0" flipV="0">
            <a:off x="0" y="0"/>
            <a:ext cx="12192000" cy="6858000"/>
          </a:xfrm>
          <a:prstGeom prst="rect">
            <a:avLst/>
          </a:prstGeom>
          <a:solidFill>
            <a:srgbClr val="07060B"/>
          </a:solidFill>
          <a:ln/>
        </p:spPr>
        <p:txBody>
          <a:bodyPr/>
          <a:p>
            <a:pPr/>
            <a:endParaRPr/>
          </a:p>
        </p:txBody>
      </p:sp>
      <p:sp>
        <p:nvSpPr>
          <p:cNvPr id="214" name="" descr="{&quot;isTemplate&quot;:true,&quot;type&quot;:&quot;text&quot;}"/>
          <p:cNvSpPr txBox="1"/>
          <p:nvPr/>
        </p:nvSpPr>
        <p:spPr>
          <a:xfrm rot="0" flipH="0" flipV="0">
            <a:off x="685800" y="190500"/>
            <a:ext cx="6991350" cy="142875"/>
          </a:xfrm>
          <a:prstGeom prst="rect"/>
        </p:spPr>
        <p:txBody>
          <a:bodyPr wrap="none" lIns="0" tIns="0" rIns="0" bIns="0"/>
          <a:p>
            <a:pPr>
              <a:lnSpc>
                <a:spcPct val="100000"/>
              </a:lnSpc>
            </a:pPr>
            <a:r>
              <a:rPr lang="en-US" sz="900" b="1" spc="180">
                <a:solidFill>
                  <a:srgbClr val="F2C96D"/>
                </a:solidFill>
                <a:latin typeface="Microsoft YaHei"/>
                <a:ea typeface="Microsoft YaHei"/>
              </a:rPr>
              <a:t>ACCOUNTING</a:t>
            </a:r>
            <a:endParaRPr/>
          </a:p>
        </p:txBody>
      </p:sp>
      <p:sp>
        <p:nvSpPr>
          <p:cNvPr id="215" name="" descr="{&quot;isTemplate&quot;:true,&quot;type&quot;:&quot;text&quot;}"/>
          <p:cNvSpPr txBox="1"/>
          <p:nvPr/>
        </p:nvSpPr>
        <p:spPr>
          <a:xfrm rot="0" flipH="0" flipV="0">
            <a:off x="685800" y="409575"/>
            <a:ext cx="6991350" cy="485775"/>
          </a:xfrm>
          <a:prstGeom prst="rect"/>
        </p:spPr>
        <p:txBody>
          <a:bodyPr wrap="none" lIns="0" tIns="0" rIns="0" bIns="0"/>
          <a:p>
            <a:pPr>
              <a:lnSpc>
                <a:spcPct val="110000"/>
              </a:lnSpc>
            </a:pPr>
            <a:r>
              <a:rPr lang="en-US" sz="2850">
                <a:solidFill>
                  <a:srgbClr val="F7F1E8"/>
                </a:solidFill>
                <a:latin typeface="Impact"/>
                <a:ea typeface="Impact"/>
              </a:rPr>
              <a:t>Money is integers. Reservations are explicit.</a:t>
            </a:r>
            <a:endParaRPr/>
          </a:p>
        </p:txBody>
      </p:sp>
      <p:sp>
        <p:nvSpPr>
          <p:cNvPr id="216" name="" descr="{&quot;isTemplate&quot;:true,&quot;type&quot;:&quot;text&quot;}"/>
          <p:cNvSpPr txBox="1"/>
          <p:nvPr/>
        </p:nvSpPr>
        <p:spPr>
          <a:xfrm rot="0" flipH="0" flipV="0">
            <a:off x="9086850" y="190500"/>
            <a:ext cx="2419350" cy="209550"/>
          </a:xfrm>
          <a:prstGeom prst="rect"/>
        </p:spPr>
        <p:txBody>
          <a:bodyPr wrap="none" lIns="0" tIns="42863" rIns="0" bIns="0"/>
          <a:p>
            <a:pPr>
              <a:lnSpc>
                <a:spcPct val="100000"/>
              </a:lnSpc>
            </a:pPr>
            <a:r>
              <a:rPr lang="en-US" sz="975" spc="120">
                <a:solidFill>
                  <a:srgbClr val="F7F1E8">
                    <a:alpha val="50000"/>
                  </a:srgbClr>
                </a:solidFill>
                <a:latin typeface="Microsoft YaHei"/>
                <a:ea typeface="Microsoft YaHei"/>
              </a:rPr>
              <a:t>PAISE · LONG ONLY · NO FLOATS</a:t>
            </a:r>
            <a:endParaRPr/>
          </a:p>
        </p:txBody>
      </p:sp>
      <p:sp>
        <p:nvSpPr>
          <p:cNvPr id="217" name=""/>
          <p:cNvSpPr/>
          <p:nvPr/>
        </p:nvSpPr>
        <p:spPr>
          <a:xfrm rot="0" flipH="0" flipV="0">
            <a:off x="685800" y="1333500"/>
            <a:ext cx="6096000" cy="4572000"/>
          </a:xfrm>
          <a:prstGeom prst="roundRect">
            <a:avLst>
              <a:gd name="adj" fmla="val 1667"/>
            </a:avLst>
          </a:prstGeom>
          <a:solidFill>
            <a:srgbClr val="F7F1E8">
              <a:alpha val="4000"/>
            </a:srgbClr>
          </a:solidFill>
          <a:ln w="12700">
            <a:solidFill>
              <a:srgbClr val="F7F1E8">
                <a:alpha val="10000"/>
              </a:srgbClr>
            </a:solidFill>
            <a:prstDash val="solid"/>
          </a:ln>
        </p:spPr>
        <p:txBody>
          <a:bodyPr/>
          <a:p>
            <a:pPr/>
            <a:endParaRPr/>
          </a:p>
        </p:txBody>
      </p:sp>
      <p:sp>
        <p:nvSpPr>
          <p:cNvPr id="218" name=""/>
          <p:cNvSpPr/>
          <p:nvPr/>
        </p:nvSpPr>
        <p:spPr>
          <a:xfrm rot="0" flipH="0" flipV="0">
            <a:off x="857250" y="1466850"/>
            <a:ext cx="5753100" cy="247650"/>
          </a:xfrm>
          <a:custGeom>
            <a:pathLst>
              <a:path w="604" h="26">
                <a:moveTo>
                  <a:pt x="0" y="25"/>
                </a:moveTo>
                <a:lnTo>
                  <a:pt x="604" y="25"/>
                </a:lnTo>
                <a:lnTo>
                  <a:pt x="604" y="26"/>
                </a:lnTo>
                <a:lnTo>
                  <a:pt x="0" y="26"/>
                </a:lnTo>
                <a:close/>
              </a:path>
            </a:pathLst>
          </a:custGeom>
          <a:solidFill>
            <a:srgbClr val="F7F1E8">
              <a:alpha val="8000"/>
            </a:srgbClr>
          </a:solidFill>
          <a:ln/>
        </p:spPr>
        <p:txBody>
          <a:bodyPr/>
          <a:p>
            <a:pPr/>
            <a:endParaRPr/>
          </a:p>
        </p:txBody>
      </p:sp>
      <p:sp>
        <p:nvSpPr>
          <p:cNvPr id="219" name="" descr="{&quot;isTemplate&quot;:true,&quot;type&quot;:&quot;text&quot;}"/>
          <p:cNvSpPr txBox="1"/>
          <p:nvPr/>
        </p:nvSpPr>
        <p:spPr>
          <a:xfrm rot="0" flipH="0" flipV="0">
            <a:off x="857250" y="1466850"/>
            <a:ext cx="1638300" cy="133350"/>
          </a:xfrm>
          <a:prstGeom prst="rect"/>
        </p:spPr>
        <p:txBody>
          <a:bodyPr wrap="none" lIns="0" tIns="0" rIns="0" bIns="0"/>
          <a:p>
            <a:pPr>
              <a:lnSpc>
                <a:spcPct val="100000"/>
              </a:lnSpc>
            </a:pPr>
            <a:r>
              <a:rPr lang="en-US" sz="825" spc="60">
                <a:solidFill>
                  <a:srgbClr val="F2C96D"/>
                </a:solidFill>
                <a:latin typeface="Consolas"/>
                <a:ea typeface="Consolas"/>
              </a:rPr>
              <a:t>packages/engine/engine.ts</a:t>
            </a:r>
            <a:endParaRPr/>
          </a:p>
        </p:txBody>
      </p:sp>
      <p:sp>
        <p:nvSpPr>
          <p:cNvPr id="220" name="" descr="{&quot;isTemplate&quot;:true,&quot;type&quot;:&quot;text&quot;}"/>
          <p:cNvSpPr txBox="1"/>
          <p:nvPr/>
        </p:nvSpPr>
        <p:spPr>
          <a:xfrm rot="0" flipH="0" flipV="0">
            <a:off x="4876800" y="1466850"/>
            <a:ext cx="1733550" cy="133350"/>
          </a:xfrm>
          <a:prstGeom prst="rect"/>
        </p:spPr>
        <p:txBody>
          <a:bodyPr wrap="none" lIns="0" tIns="0" rIns="0" bIns="0"/>
          <a:p>
            <a:pPr>
              <a:lnSpc>
                <a:spcPct val="100000"/>
              </a:lnSpc>
            </a:pPr>
            <a:r>
              <a:rPr lang="en-US" sz="825">
                <a:solidFill>
                  <a:srgbClr val="F7F1E8">
                    <a:alpha val="40000"/>
                  </a:srgbClr>
                </a:solidFill>
                <a:latin typeface="Consolas"/>
                <a:ea typeface="Consolas"/>
              </a:rPr>
              <a:t>submitOrder / verifyInvariants</a:t>
            </a:r>
            <a:endParaRPr/>
          </a:p>
        </p:txBody>
      </p:sp>
      <p:sp>
        <p:nvSpPr>
          <p:cNvPr id="221" name="" descr="{&quot;isTemplate&quot;:true,&quot;type&quot;:&quot;text&quot;}"/>
          <p:cNvSpPr txBox="1"/>
          <p:nvPr/>
        </p:nvSpPr>
        <p:spPr>
          <a:xfrm rot="0" flipH="0" flipV="0">
            <a:off x="857250" y="1819275"/>
            <a:ext cx="5753100" cy="238125"/>
          </a:xfrm>
          <a:prstGeom prst="rect"/>
        </p:spPr>
        <p:txBody>
          <a:bodyPr wrap="none" lIns="0" tIns="0" rIns="0" bIns="0"/>
          <a:p>
            <a:pPr>
              <a:lnSpc>
                <a:spcPct val="150000"/>
              </a:lnSpc>
            </a:pPr>
            <a:r>
              <a:rPr lang="en-US" sz="1013">
                <a:solidFill>
                  <a:srgbClr val="F7F1E8">
                    <a:alpha val="36000"/>
                  </a:srgbClr>
                </a:solidFill>
                <a:latin typeface="Consolas"/>
                <a:ea typeface="Consolas"/>
              </a:rPr>
              <a:t>// buy limit: cash leaves the spendable balance at submit</a:t>
            </a:r>
            <a:endParaRPr/>
          </a:p>
        </p:txBody>
      </p:sp>
      <p:sp>
        <p:nvSpPr>
          <p:cNvPr id="222" name="" descr="{&quot;isTemplate&quot;:true,&quot;type&quot;:&quot;text&quot;}"/>
          <p:cNvSpPr txBox="1"/>
          <p:nvPr/>
        </p:nvSpPr>
        <p:spPr>
          <a:xfrm rot="0" flipH="0" flipV="0">
            <a:off x="857250" y="2057400"/>
            <a:ext cx="5753100" cy="238125"/>
          </a:xfrm>
          <a:prstGeom prst="rect"/>
        </p:spPr>
        <p:txBody>
          <a:bodyPr wrap="none" lIns="0" tIns="0" rIns="0" bIns="0"/>
          <a:p>
            <a:pPr>
              <a:lnSpc>
                <a:spcPct val="150000"/>
              </a:lnSpc>
            </a:pPr>
            <a:r>
              <a:rPr lang="en-US" sz="1013">
                <a:solidFill>
                  <a:srgbClr val="F7F1E8"/>
                </a:solidFill>
                <a:latin typeface="Consolas"/>
                <a:ea typeface="Consolas"/>
              </a:rPr>
              <a:t>const reserve = order.qty * (order.limitPrice ?? 0);</a:t>
            </a:r>
            <a:endParaRPr/>
          </a:p>
        </p:txBody>
      </p:sp>
      <p:sp>
        <p:nvSpPr>
          <p:cNvPr id="223" name="" descr="{&quot;isTemplate&quot;:true,&quot;type&quot;:&quot;text&quot;}"/>
          <p:cNvSpPr txBox="1"/>
          <p:nvPr/>
        </p:nvSpPr>
        <p:spPr>
          <a:xfrm rot="0" flipH="0" flipV="0">
            <a:off x="857250" y="2295525"/>
            <a:ext cx="5753100" cy="238125"/>
          </a:xfrm>
          <a:prstGeom prst="rect"/>
        </p:spPr>
        <p:txBody>
          <a:bodyPr wrap="none" lIns="0" tIns="0" rIns="0" bIns="0"/>
          <a:p>
            <a:pPr>
              <a:lnSpc>
                <a:spcPct val="150000"/>
              </a:lnSpc>
            </a:pPr>
            <a:r>
              <a:rPr lang="en-US" sz="1013">
                <a:solidFill>
                  <a:srgbClr val="F7F1E8"/>
                </a:solidFill>
                <a:latin typeface="Consolas"/>
                <a:ea typeface="Consolas"/>
              </a:rPr>
              <a:t>player.cash -= reserve;</a:t>
            </a:r>
            <a:endParaRPr/>
          </a:p>
        </p:txBody>
      </p:sp>
      <p:sp>
        <p:nvSpPr>
          <p:cNvPr id="224" name="" descr="{&quot;isTemplate&quot;:true,&quot;type&quot;:&quot;text&quot;}"/>
          <p:cNvSpPr txBox="1"/>
          <p:nvPr/>
        </p:nvSpPr>
        <p:spPr>
          <a:xfrm rot="0" flipH="0" flipV="0">
            <a:off x="857250" y="2533650"/>
            <a:ext cx="5753100" cy="238125"/>
          </a:xfrm>
          <a:prstGeom prst="rect"/>
        </p:spPr>
        <p:txBody>
          <a:bodyPr wrap="none" lIns="0" tIns="0" rIns="0" bIns="0"/>
          <a:p>
            <a:pPr>
              <a:lnSpc>
                <a:spcPct val="150000"/>
              </a:lnSpc>
            </a:pPr>
            <a:r>
              <a:rPr lang="en-US" sz="1013">
                <a:solidFill>
                  <a:srgbClr val="E73555"/>
                </a:solidFill>
                <a:latin typeface="Consolas"/>
                <a:ea typeface="Consolas"/>
              </a:rPr>
              <a:t>player.reserved += reserve;</a:t>
            </a:r>
            <a:endParaRPr/>
          </a:p>
        </p:txBody>
      </p:sp>
      <p:sp>
        <p:nvSpPr>
          <p:cNvPr id="225" name="" descr="{&quot;isTemplate&quot;:true,&quot;type&quot;:&quot;text&quot;}"/>
          <p:cNvSpPr txBox="1"/>
          <p:nvPr/>
        </p:nvSpPr>
        <p:spPr>
          <a:xfrm rot="0" flipH="0" flipV="0">
            <a:off x="857250" y="2771775"/>
            <a:ext cx="5753100" cy="238125"/>
          </a:xfrm>
          <a:prstGeom prst="rect"/>
        </p:spPr>
        <p:txBody>
          <a:bodyPr wrap="none" lIns="0" tIns="0" rIns="0" bIns="0"/>
          <a:p>
            <a:pPr>
              <a:lnSpc>
                <a:spcPct val="150000"/>
              </a:lnSpc>
            </a:pPr>
            <a:r>
              <a:rPr sz="1013">
                <a:solidFill>
                  <a:srgbClr val="F7F1E8"/>
                </a:solidFill>
                <a:latin typeface="Consolas"/>
                <a:ea typeface="Consolas"/>
              </a:rPr>
              <a:t> </a:t>
            </a:r>
            <a:endParaRPr/>
          </a:p>
        </p:txBody>
      </p:sp>
      <p:sp>
        <p:nvSpPr>
          <p:cNvPr id="226" name="" descr="{&quot;isTemplate&quot;:true,&quot;type&quot;:&quot;text&quot;}"/>
          <p:cNvSpPr txBox="1"/>
          <p:nvPr/>
        </p:nvSpPr>
        <p:spPr>
          <a:xfrm rot="0" flipH="0" flipV="0">
            <a:off x="857250" y="3009900"/>
            <a:ext cx="5753100" cy="238125"/>
          </a:xfrm>
          <a:prstGeom prst="rect"/>
        </p:spPr>
        <p:txBody>
          <a:bodyPr wrap="none" lIns="0" tIns="0" rIns="0" bIns="0"/>
          <a:p>
            <a:pPr>
              <a:lnSpc>
                <a:spcPct val="150000"/>
              </a:lnSpc>
            </a:pPr>
            <a:r>
              <a:rPr lang="en-US" sz="1013">
                <a:solidFill>
                  <a:srgbClr val="F7F1E8">
                    <a:alpha val="36000"/>
                  </a:srgbClr>
                </a:solidFill>
                <a:latin typeface="Consolas"/>
                <a:ea typeface="Consolas"/>
              </a:rPr>
              <a:t>// cancel: only the unfilled remainder comes back</a:t>
            </a:r>
            <a:endParaRPr/>
          </a:p>
        </p:txBody>
      </p:sp>
      <p:sp>
        <p:nvSpPr>
          <p:cNvPr id="227" name="" descr="{&quot;isTemplate&quot;:true,&quot;type&quot;:&quot;text&quot;}"/>
          <p:cNvSpPr txBox="1"/>
          <p:nvPr/>
        </p:nvSpPr>
        <p:spPr>
          <a:xfrm rot="0" flipH="0" flipV="0">
            <a:off x="857250" y="3248025"/>
            <a:ext cx="5753100" cy="238125"/>
          </a:xfrm>
          <a:prstGeom prst="rect"/>
        </p:spPr>
        <p:txBody>
          <a:bodyPr wrap="none" lIns="0" tIns="0" rIns="0" bIns="0"/>
          <a:p>
            <a:pPr>
              <a:lnSpc>
                <a:spcPct val="150000"/>
              </a:lnSpc>
            </a:pPr>
            <a:r>
              <a:rPr lang="en-US" sz="1013">
                <a:solidFill>
                  <a:srgbClr val="F7F1E8"/>
                </a:solidFill>
                <a:latin typeface="Consolas"/>
                <a:ea typeface="Consolas"/>
              </a:rPr>
              <a:t>const release = remaining(order) * (order.limitPrice ?? 0);</a:t>
            </a:r>
            <a:endParaRPr/>
          </a:p>
        </p:txBody>
      </p:sp>
      <p:sp>
        <p:nvSpPr>
          <p:cNvPr id="228" name="" descr="{&quot;isTemplate&quot;:true,&quot;type&quot;:&quot;text&quot;}"/>
          <p:cNvSpPr txBox="1"/>
          <p:nvPr/>
        </p:nvSpPr>
        <p:spPr>
          <a:xfrm rot="0" flipH="0" flipV="0">
            <a:off x="857250" y="3486150"/>
            <a:ext cx="5753100" cy="238125"/>
          </a:xfrm>
          <a:prstGeom prst="rect"/>
        </p:spPr>
        <p:txBody>
          <a:bodyPr wrap="none" lIns="0" tIns="0" rIns="0" bIns="0"/>
          <a:p>
            <a:pPr>
              <a:lnSpc>
                <a:spcPct val="150000"/>
              </a:lnSpc>
            </a:pPr>
            <a:r>
              <a:rPr lang="en-US" sz="1013">
                <a:solidFill>
                  <a:srgbClr val="F7F1E8"/>
                </a:solidFill>
                <a:latin typeface="Consolas"/>
                <a:ea typeface="Consolas"/>
              </a:rPr>
              <a:t>player.reserved -= release;</a:t>
            </a:r>
            <a:endParaRPr/>
          </a:p>
        </p:txBody>
      </p:sp>
      <p:sp>
        <p:nvSpPr>
          <p:cNvPr id="229" name="" descr="{&quot;isTemplate&quot;:true,&quot;type&quot;:&quot;text&quot;}"/>
          <p:cNvSpPr txBox="1"/>
          <p:nvPr/>
        </p:nvSpPr>
        <p:spPr>
          <a:xfrm rot="0" flipH="0" flipV="0">
            <a:off x="857250" y="3724275"/>
            <a:ext cx="5753100" cy="238125"/>
          </a:xfrm>
          <a:prstGeom prst="rect"/>
        </p:spPr>
        <p:txBody>
          <a:bodyPr wrap="none" lIns="0" tIns="0" rIns="0" bIns="0"/>
          <a:p>
            <a:pPr>
              <a:lnSpc>
                <a:spcPct val="150000"/>
              </a:lnSpc>
            </a:pPr>
            <a:r>
              <a:rPr lang="en-US" sz="1013">
                <a:solidFill>
                  <a:srgbClr val="F7F1E8"/>
                </a:solidFill>
                <a:latin typeface="Consolas"/>
                <a:ea typeface="Consolas"/>
              </a:rPr>
              <a:t>player.cash += release;</a:t>
            </a:r>
            <a:endParaRPr/>
          </a:p>
        </p:txBody>
      </p:sp>
      <p:sp>
        <p:nvSpPr>
          <p:cNvPr id="230" name="" descr="{&quot;isTemplate&quot;:true,&quot;type&quot;:&quot;text&quot;}"/>
          <p:cNvSpPr txBox="1"/>
          <p:nvPr/>
        </p:nvSpPr>
        <p:spPr>
          <a:xfrm rot="0" flipH="0" flipV="0">
            <a:off x="857250" y="3962400"/>
            <a:ext cx="5753100" cy="238125"/>
          </a:xfrm>
          <a:prstGeom prst="rect"/>
        </p:spPr>
        <p:txBody>
          <a:bodyPr wrap="none" lIns="0" tIns="0" rIns="0" bIns="0"/>
          <a:p>
            <a:pPr>
              <a:lnSpc>
                <a:spcPct val="150000"/>
              </a:lnSpc>
            </a:pPr>
            <a:r>
              <a:rPr sz="1013">
                <a:solidFill>
                  <a:srgbClr val="F7F1E8"/>
                </a:solidFill>
                <a:latin typeface="Consolas"/>
                <a:ea typeface="Consolas"/>
              </a:rPr>
              <a:t> </a:t>
            </a:r>
            <a:endParaRPr/>
          </a:p>
        </p:txBody>
      </p:sp>
      <p:sp>
        <p:nvSpPr>
          <p:cNvPr id="231" name="" descr="{&quot;isTemplate&quot;:true,&quot;type&quot;:&quot;text&quot;}"/>
          <p:cNvSpPr txBox="1"/>
          <p:nvPr/>
        </p:nvSpPr>
        <p:spPr>
          <a:xfrm rot="0" flipH="0" flipV="0">
            <a:off x="857250" y="4200525"/>
            <a:ext cx="5753100" cy="238125"/>
          </a:xfrm>
          <a:prstGeom prst="rect"/>
        </p:spPr>
        <p:txBody>
          <a:bodyPr wrap="none" lIns="0" tIns="0" rIns="0" bIns="0"/>
          <a:p>
            <a:pPr>
              <a:lnSpc>
                <a:spcPct val="150000"/>
              </a:lnSpc>
            </a:pPr>
            <a:r>
              <a:rPr lang="en-US" sz="1013">
                <a:solidFill>
                  <a:srgbClr val="F7F1E8">
                    <a:alpha val="36000"/>
                  </a:srgbClr>
                </a:solidFill>
                <a:latin typeface="Consolas"/>
                <a:ea typeface="Consolas"/>
              </a:rPr>
              <a:t>// every write is checked, not assumed</a:t>
            </a:r>
            <a:endParaRPr/>
          </a:p>
        </p:txBody>
      </p:sp>
      <p:sp>
        <p:nvSpPr>
          <p:cNvPr id="232" name="" descr="{&quot;isTemplate&quot;:true,&quot;type&quot;:&quot;text&quot;}"/>
          <p:cNvSpPr txBox="1"/>
          <p:nvPr/>
        </p:nvSpPr>
        <p:spPr>
          <a:xfrm rot="0" flipH="0" flipV="0">
            <a:off x="857250" y="4438650"/>
            <a:ext cx="5753100" cy="238125"/>
          </a:xfrm>
          <a:prstGeom prst="rect"/>
        </p:spPr>
        <p:txBody>
          <a:bodyPr wrap="none" lIns="0" tIns="0" rIns="0" bIns="0"/>
          <a:p>
            <a:pPr>
              <a:lnSpc>
                <a:spcPct val="150000"/>
              </a:lnSpc>
            </a:pPr>
            <a:r>
              <a:rPr lang="en-US" sz="1013">
                <a:solidFill>
                  <a:srgbClr val="F7F1E8"/>
                </a:solidFill>
                <a:latin typeface="Consolas"/>
                <a:ea typeface="Consolas"/>
              </a:rPr>
              <a:t>if (!Number.isSafeInteger(player.cash) || player.cash &lt; 0)</a:t>
            </a:r>
            <a:endParaRPr/>
          </a:p>
        </p:txBody>
      </p:sp>
      <p:sp>
        <p:nvSpPr>
          <p:cNvPr id="233" name="" descr="{&quot;isTemplate&quot;:true,&quot;type&quot;:&quot;text&quot;}"/>
          <p:cNvSpPr txBox="1"/>
          <p:nvPr/>
        </p:nvSpPr>
        <p:spPr>
          <a:xfrm rot="0" flipH="0" flipV="0">
            <a:off x="857250" y="4676775"/>
            <a:ext cx="5753100" cy="238125"/>
          </a:xfrm>
          <a:prstGeom prst="rect"/>
        </p:spPr>
        <p:txBody>
          <a:bodyPr wrap="none" lIns="0" tIns="0" rIns="0" bIns="0"/>
          <a:p>
            <a:pPr>
              <a:lnSpc>
                <a:spcPct val="150000"/>
              </a:lnSpc>
            </a:pPr>
            <a:r>
              <a:rPr lang="en-US" sz="1013">
                <a:solidFill>
                  <a:srgbClr val="F7F1E8"/>
                </a:solidFill>
                <a:latin typeface="Consolas"/>
                <a:ea typeface="Consolas"/>
              </a:rPr>
              <a:t>  errors.push(player.id + ": invalid cash " + player.cash);</a:t>
            </a:r>
            <a:endParaRPr/>
          </a:p>
        </p:txBody>
      </p:sp>
      <p:sp>
        <p:nvSpPr>
          <p:cNvPr id="234" name="" descr="{&quot;isTemplate&quot;:true,&quot;type&quot;:&quot;text&quot;}"/>
          <p:cNvSpPr txBox="1"/>
          <p:nvPr/>
        </p:nvSpPr>
        <p:spPr>
          <a:xfrm rot="0" flipH="0" flipV="0">
            <a:off x="857250" y="4914900"/>
            <a:ext cx="5753100" cy="238125"/>
          </a:xfrm>
          <a:prstGeom prst="rect"/>
        </p:spPr>
        <p:txBody>
          <a:bodyPr wrap="none" lIns="0" tIns="0" rIns="0" bIns="0"/>
          <a:p>
            <a:pPr>
              <a:lnSpc>
                <a:spcPct val="150000"/>
              </a:lnSpc>
            </a:pPr>
            <a:r>
              <a:rPr lang="en-US" sz="1013">
                <a:solidFill>
                  <a:srgbClr val="F7F1E8"/>
                </a:solidFill>
                <a:latin typeface="Consolas"/>
                <a:ea typeface="Consolas"/>
              </a:rPr>
              <a:t>if (position.reservedQty &gt; position.qty)</a:t>
            </a:r>
            <a:endParaRPr/>
          </a:p>
        </p:txBody>
      </p:sp>
      <p:sp>
        <p:nvSpPr>
          <p:cNvPr id="235" name="" descr="{&quot;isTemplate&quot;:true,&quot;type&quot;:&quot;text&quot;}"/>
          <p:cNvSpPr txBox="1"/>
          <p:nvPr/>
        </p:nvSpPr>
        <p:spPr>
          <a:xfrm rot="0" flipH="0" flipV="0">
            <a:off x="857250" y="5153025"/>
            <a:ext cx="5753100" cy="238125"/>
          </a:xfrm>
          <a:prstGeom prst="rect"/>
        </p:spPr>
        <p:txBody>
          <a:bodyPr wrap="none" lIns="0" tIns="0" rIns="0" bIns="0"/>
          <a:p>
            <a:pPr>
              <a:lnSpc>
                <a:spcPct val="150000"/>
              </a:lnSpc>
            </a:pPr>
            <a:r>
              <a:rPr lang="en-US" sz="1013">
                <a:solidFill>
                  <a:srgbClr val="F7F1E8"/>
                </a:solidFill>
                <a:latin typeface="Consolas"/>
                <a:ea typeface="Consolas"/>
              </a:rPr>
              <a:t>  errors.push(player.id + "/" + symbol + ": bad position");</a:t>
            </a:r>
            <a:endParaRPr/>
          </a:p>
        </p:txBody>
      </p:sp>
      <p:sp>
        <p:nvSpPr>
          <p:cNvPr id="236" name="" descr="{&quot;isTemplate&quot;:true,&quot;type&quot;:&quot;text&quot;}"/>
          <p:cNvSpPr txBox="1"/>
          <p:nvPr/>
        </p:nvSpPr>
        <p:spPr>
          <a:xfrm rot="0" flipH="0" flipV="0">
            <a:off x="7124700" y="1333500"/>
            <a:ext cx="190500" cy="723900"/>
          </a:xfrm>
          <a:prstGeom prst="rect"/>
        </p:spPr>
        <p:txBody>
          <a:bodyPr wrap="none" lIns="0" tIns="0" rIns="0" bIns="0"/>
          <a:p>
            <a:pPr>
              <a:lnSpc>
                <a:spcPct val="100000"/>
              </a:lnSpc>
            </a:pPr>
            <a:r>
              <a:rPr lang="en-US" sz="975" b="1">
                <a:solidFill>
                  <a:srgbClr val="F2C96D"/>
                </a:solidFill>
                <a:latin typeface="Microsoft YaHei"/>
                <a:ea typeface="Microsoft YaHei"/>
              </a:rPr>
              <a:t>01</a:t>
            </a:r>
            <a:endParaRPr/>
          </a:p>
        </p:txBody>
      </p:sp>
      <p:sp>
        <p:nvSpPr>
          <p:cNvPr id="237" name="" descr="{&quot;isTemplate&quot;:true,&quot;type&quot;:&quot;text&quot;}"/>
          <p:cNvSpPr txBox="1"/>
          <p:nvPr/>
        </p:nvSpPr>
        <p:spPr>
          <a:xfrm rot="0" flipH="0" flipV="0">
            <a:off x="7429500" y="1333500"/>
            <a:ext cx="4076700" cy="723900"/>
          </a:xfrm>
          <a:prstGeom prst="rect"/>
        </p:spPr>
        <p:txBody>
          <a:bodyPr wrap="square" lIns="0" tIns="0" rIns="0" bIns="0">
            <a:normAutofit/>
          </a:bodyPr>
          <a:p>
            <a:pPr>
              <a:lnSpc>
                <a:spcPct val="150000"/>
              </a:lnSpc>
            </a:pPr>
            <a:r>
              <a:rPr lang="en-US" sz="1050">
                <a:solidFill>
                  <a:srgbClr val="F7F1E8">
                    <a:alpha val="78000"/>
                  </a:srgbClr>
                </a:solidFill>
                <a:latin typeface="Microsoft YaHei"/>
                <a:ea typeface="Microsoft YaHei"/>
              </a:rPr>
              <a:t>Money is an integer number of paise. The 1,00,000 rupee stack is 10,000,000, and every write passes Number.isSafeInteger, so there is no float drift and no rounding rule to argue about.</a:t>
            </a:r>
            <a:endParaRPr/>
          </a:p>
        </p:txBody>
      </p:sp>
      <p:sp>
        <p:nvSpPr>
          <p:cNvPr id="238" name="" descr="{&quot;isTemplate&quot;:true,&quot;type&quot;:&quot;text&quot;}"/>
          <p:cNvSpPr txBox="1"/>
          <p:nvPr/>
        </p:nvSpPr>
        <p:spPr>
          <a:xfrm rot="0" flipH="0" flipV="0">
            <a:off x="7124700" y="2209800"/>
            <a:ext cx="190500" cy="962025"/>
          </a:xfrm>
          <a:prstGeom prst="rect"/>
        </p:spPr>
        <p:txBody>
          <a:bodyPr wrap="none" lIns="0" tIns="0" rIns="0" bIns="0"/>
          <a:p>
            <a:pPr>
              <a:lnSpc>
                <a:spcPct val="100000"/>
              </a:lnSpc>
            </a:pPr>
            <a:r>
              <a:rPr lang="en-US" sz="975" b="1">
                <a:solidFill>
                  <a:srgbClr val="F2C96D"/>
                </a:solidFill>
                <a:latin typeface="Microsoft YaHei"/>
                <a:ea typeface="Microsoft YaHei"/>
              </a:rPr>
              <a:t>02</a:t>
            </a:r>
            <a:endParaRPr/>
          </a:p>
        </p:txBody>
      </p:sp>
      <p:sp>
        <p:nvSpPr>
          <p:cNvPr id="239" name="" descr="{&quot;isTemplate&quot;:true,&quot;type&quot;:&quot;text&quot;}"/>
          <p:cNvSpPr txBox="1"/>
          <p:nvPr/>
        </p:nvSpPr>
        <p:spPr>
          <a:xfrm rot="0" flipH="0" flipV="0">
            <a:off x="7429500" y="2209800"/>
            <a:ext cx="4076700" cy="962025"/>
          </a:xfrm>
          <a:prstGeom prst="rect"/>
        </p:spPr>
        <p:txBody>
          <a:bodyPr wrap="square" lIns="0" tIns="0" rIns="0" bIns="0">
            <a:normAutofit/>
          </a:bodyPr>
          <a:p>
            <a:pPr>
              <a:lnSpc>
                <a:spcPct val="150000"/>
              </a:lnSpc>
            </a:pPr>
            <a:r>
              <a:rPr lang="en-US" sz="1050">
                <a:solidFill>
                  <a:srgbClr val="F7F1E8">
                    <a:alpha val="78000"/>
                  </a:srgbClr>
                </a:solidFill>
                <a:latin typeface="Microsoft YaHei"/>
                <a:ea typeface="Microsoft YaHei"/>
              </a:rPr>
              <a:t>cash and reserved are separate counters, so a resting order cannot spend the same rupee twice. Equity is cash + reserved + sum of qty times mid, which means placing an order never moves your equity.</a:t>
            </a:r>
            <a:endParaRPr/>
          </a:p>
        </p:txBody>
      </p:sp>
      <p:sp>
        <p:nvSpPr>
          <p:cNvPr id="240" name="" descr="{&quot;isTemplate&quot;:true,&quot;type&quot;:&quot;text&quot;}"/>
          <p:cNvSpPr txBox="1"/>
          <p:nvPr/>
        </p:nvSpPr>
        <p:spPr>
          <a:xfrm rot="0" flipH="0" flipV="0">
            <a:off x="7124700" y="3324225"/>
            <a:ext cx="190500" cy="723900"/>
          </a:xfrm>
          <a:prstGeom prst="rect"/>
        </p:spPr>
        <p:txBody>
          <a:bodyPr wrap="none" lIns="0" tIns="0" rIns="0" bIns="0"/>
          <a:p>
            <a:pPr>
              <a:lnSpc>
                <a:spcPct val="100000"/>
              </a:lnSpc>
            </a:pPr>
            <a:r>
              <a:rPr lang="en-US" sz="975" b="1">
                <a:solidFill>
                  <a:srgbClr val="F2C96D"/>
                </a:solidFill>
                <a:latin typeface="Microsoft YaHei"/>
                <a:ea typeface="Microsoft YaHei"/>
              </a:rPr>
              <a:t>03</a:t>
            </a:r>
            <a:endParaRPr/>
          </a:p>
        </p:txBody>
      </p:sp>
      <p:sp>
        <p:nvSpPr>
          <p:cNvPr id="241" name="" descr="{&quot;isTemplate&quot;:true,&quot;type&quot;:&quot;text&quot;}"/>
          <p:cNvSpPr txBox="1"/>
          <p:nvPr/>
        </p:nvSpPr>
        <p:spPr>
          <a:xfrm rot="0" flipH="0" flipV="0">
            <a:off x="7429500" y="3324225"/>
            <a:ext cx="4076700" cy="723900"/>
          </a:xfrm>
          <a:prstGeom prst="rect"/>
        </p:spPr>
        <p:txBody>
          <a:bodyPr wrap="square" lIns="0" tIns="0" rIns="0" bIns="0">
            <a:normAutofit/>
          </a:bodyPr>
          <a:p>
            <a:pPr>
              <a:lnSpc>
                <a:spcPct val="150000"/>
              </a:lnSpc>
            </a:pPr>
            <a:r>
              <a:rPr lang="en-US" sz="1050">
                <a:solidFill>
                  <a:srgbClr val="F7F1E8">
                    <a:alpha val="78000"/>
                  </a:srgbClr>
                </a:solidFill>
                <a:latin typeface="Microsoft YaHei"/>
                <a:ea typeface="Microsoft YaHei"/>
              </a:rPr>
              <a:t>reservedQty is never allowed above qty. Positions are long-only whole shares, so a holding cannot go negative even if two orders race.</a:t>
            </a:r>
            <a:endParaRPr/>
          </a:p>
        </p:txBody>
      </p:sp>
      <p:sp>
        <p:nvSpPr>
          <p:cNvPr id="242" name=""/>
          <p:cNvSpPr/>
          <p:nvPr/>
        </p:nvSpPr>
        <p:spPr>
          <a:xfrm rot="0" flipH="0" flipV="0">
            <a:off x="7153275" y="5210175"/>
            <a:ext cx="4381500" cy="695325"/>
          </a:xfrm>
          <a:prstGeom prst="rect">
            <a:avLst/>
          </a:prstGeom>
          <a:solidFill>
            <a:srgbClr val="E73555">
              <a:alpha val="10000"/>
            </a:srgbClr>
          </a:solidFill>
          <a:ln/>
        </p:spPr>
        <p:txBody>
          <a:bodyPr/>
          <a:p>
            <a:pPr/>
            <a:endParaRPr/>
          </a:p>
        </p:txBody>
      </p:sp>
      <p:sp>
        <p:nvSpPr>
          <p:cNvPr id="243" name=""/>
          <p:cNvSpPr/>
          <p:nvPr/>
        </p:nvSpPr>
        <p:spPr>
          <a:xfrm rot="0" flipH="0" flipV="0">
            <a:off x="7124700" y="5210175"/>
            <a:ext cx="4410075" cy="695325"/>
          </a:xfrm>
          <a:custGeom>
            <a:pathLst>
              <a:path w="463" h="73">
                <a:moveTo>
                  <a:pt x="0" y="0"/>
                </a:moveTo>
                <a:lnTo>
                  <a:pt x="3" y="0"/>
                </a:lnTo>
                <a:lnTo>
                  <a:pt x="3" y="73"/>
                </a:lnTo>
                <a:lnTo>
                  <a:pt x="0" y="73"/>
                </a:lnTo>
                <a:close/>
              </a:path>
            </a:pathLst>
          </a:custGeom>
          <a:solidFill>
            <a:srgbClr val="E73555"/>
          </a:solidFill>
          <a:ln/>
        </p:spPr>
        <p:txBody>
          <a:bodyPr/>
          <a:p>
            <a:pPr/>
            <a:endParaRPr/>
          </a:p>
        </p:txBody>
      </p:sp>
      <p:sp>
        <p:nvSpPr>
          <p:cNvPr id="244" name="" descr="{&quot;isTemplate&quot;:true,&quot;type&quot;:&quot;text&quot;}"/>
          <p:cNvSpPr txBox="1"/>
          <p:nvPr/>
        </p:nvSpPr>
        <p:spPr>
          <a:xfrm rot="0" flipH="0" flipV="0">
            <a:off x="7286625" y="5324475"/>
            <a:ext cx="4086225" cy="466725"/>
          </a:xfrm>
          <a:prstGeom prst="rect"/>
        </p:spPr>
        <p:txBody>
          <a:bodyPr wrap="square" lIns="0" tIns="0" rIns="0" bIns="0">
            <a:normAutofit/>
          </a:bodyPr>
          <a:p>
            <a:pPr>
              <a:lnSpc>
                <a:spcPct val="150000"/>
              </a:lnSpc>
            </a:pPr>
            <a:r>
              <a:rPr lang="en-US" sz="1013">
                <a:solidFill>
                  <a:srgbClr val="F7F1E8"/>
                </a:solidFill>
                <a:latin typeface="Microsoft YaHei"/>
                <a:ea typeface="Microsoft YaHei"/>
              </a:rPr>
              <a:t>The CLI simulation reconciles 60 fills to zero invariant errors, and the same check runs over randomised order flows in the test suite.</a:t>
            </a:r>
            <a:endParaRPr/>
          </a:p>
        </p:txBody>
      </p:sp>
      <p:sp>
        <p:nvSpPr>
          <p:cNvPr id="245" name=""/>
          <p:cNvSpPr/>
          <p:nvPr/>
        </p:nvSpPr>
        <p:spPr>
          <a:xfrm rot="0" flipH="0" flipV="0">
            <a:off x="685800" y="6096000"/>
            <a:ext cx="10820400" cy="571500"/>
          </a:xfrm>
          <a:custGeom>
            <a:pathLst>
              <a:path w="1136" h="60">
                <a:moveTo>
                  <a:pt x="0" y="0"/>
                </a:moveTo>
                <a:lnTo>
                  <a:pt x="1136" y="0"/>
                </a:lnTo>
                <a:lnTo>
                  <a:pt x="1136" y="1"/>
                </a:lnTo>
                <a:lnTo>
                  <a:pt x="0" y="1"/>
                </a:lnTo>
                <a:close/>
              </a:path>
            </a:pathLst>
          </a:custGeom>
          <a:solidFill>
            <a:srgbClr val="F7F1E8">
              <a:alpha val="10000"/>
            </a:srgbClr>
          </a:solidFill>
          <a:ln/>
        </p:spPr>
        <p:txBody>
          <a:bodyPr/>
          <a:p>
            <a:pPr/>
            <a:endParaRPr/>
          </a:p>
        </p:txBody>
      </p:sp>
      <p:sp>
        <p:nvSpPr>
          <p:cNvPr id="246" name="" descr="{&quot;isTemplate&quot;:true,&quot;type&quot;:&quot;text&quot;}"/>
          <p:cNvSpPr txBox="1"/>
          <p:nvPr/>
        </p:nvSpPr>
        <p:spPr>
          <a:xfrm rot="0" flipH="0" flipV="0">
            <a:off x="685800" y="6515100"/>
            <a:ext cx="2819400" cy="152400"/>
          </a:xfrm>
          <a:prstGeom prst="rect"/>
        </p:spPr>
        <p:txBody>
          <a:bodyPr wrap="none" lIns="0" tIns="0" rIns="0" bIns="0"/>
          <a:p>
            <a:pPr>
              <a:lnSpc>
                <a:spcPct val="100000"/>
              </a:lnSpc>
            </a:pPr>
            <a:r>
              <a:rPr lang="en-US" sz="975">
                <a:solidFill>
                  <a:srgbClr val="F7F1E8">
                    <a:alpha val="45000"/>
                  </a:srgbClr>
                </a:solidFill>
                <a:latin typeface="Microsoft YaHei"/>
                <a:ea typeface="Microsoft YaHei"/>
              </a:rPr>
              <a:t>BROKE VEGAS · fictional markets, virtual money</a:t>
            </a:r>
            <a:endParaRPr/>
          </a:p>
        </p:txBody>
      </p:sp>
      <p:sp>
        <p:nvSpPr>
          <p:cNvPr id="247" name="" descr="{&quot;isTemplate&quot;:true,&quot;type&quot;:&quot;text&quot;}"/>
          <p:cNvSpPr txBox="1"/>
          <p:nvPr/>
        </p:nvSpPr>
        <p:spPr>
          <a:xfrm rot="0" flipH="0" flipV="0">
            <a:off x="11087100" y="6515100"/>
            <a:ext cx="419100" cy="152400"/>
          </a:xfrm>
          <a:prstGeom prst="rect"/>
        </p:spPr>
        <p:txBody>
          <a:bodyPr wrap="none" lIns="0" tIns="0" rIns="0" bIns="0"/>
          <a:p>
            <a:pPr>
              <a:lnSpc>
                <a:spcPct val="100000"/>
              </a:lnSpc>
            </a:pPr>
            <a:r>
              <a:rPr lang="en-US" sz="975">
                <a:solidFill>
                  <a:srgbClr val="F7F1E8">
                    <a:alpha val="45000"/>
                  </a:srgbClr>
                </a:solidFill>
                <a:latin typeface="Microsoft YaHei"/>
                <a:ea typeface="Microsoft YaHei"/>
              </a:rPr>
              <a:t>06 / 12</a:t>
            </a:r>
            <a:endParaRPr/>
          </a:p>
        </p:txBody>
      </p:sp>
    </p:spTree>
  </p:cSld>
</p:sld>
</file>

<file path=ppt/slides/slide7.xml><?xml version="1.0" encoding="utf-8"?>
<p:sld xmlns:p="http://schemas.openxmlformats.org/presentationml/2006/main" xmlns:a="http://schemas.openxmlformats.org/drawingml/2006/main" xmlns:r="http://schemas.openxmlformats.org/officeDocument/2006/relationships">
  <p:cSld>
    <p:spTree>
      <p:nvGrpSpPr>
        <p:cNvPr id="248" name=""/>
        <p:cNvGrpSpPr/>
        <p:nvPr/>
      </p:nvGrpSpPr>
      <p:grpSpPr>
        <a:xfrm>
          <a:off x="0" y="0"/>
          <a:ext cx="0" cy="0"/>
          <a:chOff x="0" y="0"/>
          <a:chExt cx="0" cy="0"/>
        </a:xfrm>
      </p:grpSpPr>
      <p:sp>
        <p:nvSpPr>
          <p:cNvPr id="249" name=""/>
          <p:cNvSpPr/>
          <p:nvPr/>
        </p:nvSpPr>
        <p:spPr>
          <a:xfrm rot="0" flipH="0" flipV="0">
            <a:off x="0" y="0"/>
            <a:ext cx="12192000" cy="6858000"/>
          </a:xfrm>
          <a:prstGeom prst="rect">
            <a:avLst/>
          </a:prstGeom>
          <a:solidFill>
            <a:srgbClr val="07060B"/>
          </a:solidFill>
          <a:ln/>
        </p:spPr>
        <p:txBody>
          <a:bodyPr/>
          <a:p>
            <a:pPr/>
            <a:endParaRPr/>
          </a:p>
        </p:txBody>
      </p:sp>
      <p:sp>
        <p:nvSpPr>
          <p:cNvPr id="250" name="" descr="{&quot;isTemplate&quot;:true,&quot;type&quot;:&quot;text&quot;}"/>
          <p:cNvSpPr txBox="1"/>
          <p:nvPr/>
        </p:nvSpPr>
        <p:spPr>
          <a:xfrm rot="0" flipH="0" flipV="0">
            <a:off x="685800" y="190500"/>
            <a:ext cx="3009900" cy="142875"/>
          </a:xfrm>
          <a:prstGeom prst="rect"/>
        </p:spPr>
        <p:txBody>
          <a:bodyPr wrap="none" lIns="0" tIns="0" rIns="0" bIns="0"/>
          <a:p>
            <a:pPr>
              <a:lnSpc>
                <a:spcPct val="100000"/>
              </a:lnSpc>
            </a:pPr>
            <a:r>
              <a:rPr lang="en-US" sz="900" b="1" spc="180">
                <a:solidFill>
                  <a:srgbClr val="F2C96D"/>
                </a:solidFill>
                <a:latin typeface="Microsoft YaHei"/>
                <a:ea typeface="Microsoft YaHei"/>
              </a:rPr>
              <a:t>THE TERMINAL</a:t>
            </a:r>
            <a:endParaRPr/>
          </a:p>
        </p:txBody>
      </p:sp>
      <p:sp>
        <p:nvSpPr>
          <p:cNvPr id="251" name="" descr="{&quot;isTemplate&quot;:true,&quot;type&quot;:&quot;text&quot;}"/>
          <p:cNvSpPr txBox="1"/>
          <p:nvPr/>
        </p:nvSpPr>
        <p:spPr>
          <a:xfrm rot="0" flipH="0" flipV="0">
            <a:off x="685800" y="409575"/>
            <a:ext cx="3009900" cy="485775"/>
          </a:xfrm>
          <a:prstGeom prst="rect"/>
        </p:spPr>
        <p:txBody>
          <a:bodyPr wrap="none" lIns="0" tIns="0" rIns="0" bIns="0"/>
          <a:p>
            <a:pPr>
              <a:lnSpc>
                <a:spcPct val="110000"/>
              </a:lnSpc>
            </a:pPr>
            <a:r>
              <a:rPr lang="en-US" sz="2850">
                <a:solidFill>
                  <a:srgbClr val="F7F1E8"/>
                </a:solidFill>
                <a:latin typeface="Impact"/>
                <a:ea typeface="Impact"/>
              </a:rPr>
              <a:t>Dense on purpose.</a:t>
            </a:r>
            <a:endParaRPr/>
          </a:p>
        </p:txBody>
      </p:sp>
      <p:sp>
        <p:nvSpPr>
          <p:cNvPr id="252" name="" descr="{&quot;isTemplate&quot;:true,&quot;type&quot;:&quot;text&quot;}"/>
          <p:cNvSpPr txBox="1"/>
          <p:nvPr/>
        </p:nvSpPr>
        <p:spPr>
          <a:xfrm rot="0" flipH="0" flipV="0">
            <a:off x="9029700" y="190500"/>
            <a:ext cx="2476500" cy="209550"/>
          </a:xfrm>
          <a:prstGeom prst="rect"/>
        </p:spPr>
        <p:txBody>
          <a:bodyPr wrap="none" lIns="0" tIns="42863" rIns="0" bIns="0"/>
          <a:p>
            <a:pPr>
              <a:lnSpc>
                <a:spcPct val="100000"/>
              </a:lnSpc>
            </a:pPr>
            <a:r>
              <a:rPr lang="en-US" sz="975" spc="120">
                <a:solidFill>
                  <a:srgbClr val="F7F1E8">
                    <a:alpha val="50000"/>
                  </a:srgbClr>
                </a:solidFill>
                <a:latin typeface="Microsoft YaHei"/>
                <a:ea typeface="Microsoft YaHei"/>
              </a:rPr>
              <a:t>SCREENSHOT · LIVE DEPLOYMENT</a:t>
            </a:r>
            <a:endParaRPr/>
          </a:p>
        </p:txBody>
      </p:sp>
      <p:sp>
        <p:nvSpPr>
          <p:cNvPr id="253" name=""/>
          <p:cNvSpPr/>
          <p:nvPr/>
        </p:nvSpPr>
        <p:spPr>
          <a:xfrm rot="0" flipH="0" flipV="0">
            <a:off x="685800" y="1333500"/>
            <a:ext cx="7124700" cy="4210050"/>
          </a:xfrm>
          <a:prstGeom prst="rect">
            <a:avLst/>
          </a:prstGeom>
          <a:ln w="12700">
            <a:solidFill>
              <a:srgbClr val="F7F1E8">
                <a:alpha val="14000"/>
              </a:srgbClr>
            </a:solidFill>
            <a:prstDash val="solid"/>
          </a:ln>
        </p:spPr>
        <p:txBody>
          <a:bodyPr/>
          <a:p>
            <a:pPr/>
            <a:endParaRPr/>
          </a:p>
        </p:txBody>
      </p:sp>
      <p:pic>
        <p:nvPicPr>
          <p:cNvPr id="254" name=""/>
          <p:cNvPicPr>
            <a:picLocks noChangeAspect="1"/>
          </p:cNvPicPr>
          <p:nvPr/>
        </p:nvPicPr>
        <p:blipFill>
          <a:blip r:embed="rId1"/>
          <a:srcRect l="0" t="2727" r="0" b="2727"/>
          <a:stretch>
            <a:fillRect/>
          </a:stretch>
        </p:blipFill>
        <p:spPr>
          <a:xfrm rot="0" flipH="0" flipV="0">
            <a:off x="685800" y="1333500"/>
            <a:ext cx="7124700" cy="4210050"/>
          </a:xfrm>
          <a:prstGeom prst="roundRect">
            <a:avLst>
              <a:gd name="adj" fmla="val 2262"/>
            </a:avLst>
          </a:prstGeom>
          <a:ln/>
          <a:effectLst>
            <a:outerShdw blurRad="571500" dist="228600" dir="5400000">
              <a:srgbClr val="000000">
                <a:alpha val="55000"/>
              </a:srgbClr>
            </a:outerShdw>
          </a:effectLst>
        </p:spPr>
      </p:pic>
      <p:sp>
        <p:nvSpPr>
          <p:cNvPr id="255" name="" descr="{&quot;isTemplate&quot;:true,&quot;type&quot;:&quot;text&quot;}"/>
          <p:cNvSpPr txBox="1"/>
          <p:nvPr/>
        </p:nvSpPr>
        <p:spPr>
          <a:xfrm rot="0" flipH="0" flipV="0">
            <a:off x="685800" y="5657850"/>
            <a:ext cx="2905125" cy="152400"/>
          </a:xfrm>
          <a:prstGeom prst="rect"/>
        </p:spPr>
        <p:txBody>
          <a:bodyPr wrap="none" lIns="0" tIns="0" rIns="0" bIns="0"/>
          <a:p>
            <a:pPr>
              <a:lnSpc>
                <a:spcPct val="100000"/>
              </a:lnSpc>
            </a:pPr>
            <a:r>
              <a:rPr lang="en-US" sz="975">
                <a:solidFill>
                  <a:srgbClr val="F7F1E8">
                    <a:alpha val="55000"/>
                  </a:srgbClr>
                </a:solidFill>
                <a:latin typeface="Microsoft YaHei"/>
                <a:ea typeface="Microsoft YaHei"/>
              </a:rPr>
              <a:t>The Obsidian Table · room ONXBW · tick 9 of 600</a:t>
            </a:r>
            <a:endParaRPr/>
          </a:p>
        </p:txBody>
      </p:sp>
      <p:sp>
        <p:nvSpPr>
          <p:cNvPr id="256" name="" descr="{&quot;isTemplate&quot;:true,&quot;type&quot;:&quot;text&quot;}"/>
          <p:cNvSpPr txBox="1"/>
          <p:nvPr/>
        </p:nvSpPr>
        <p:spPr>
          <a:xfrm rot="0" flipH="0" flipV="0">
            <a:off x="6076950" y="5657850"/>
            <a:ext cx="1733550" cy="152400"/>
          </a:xfrm>
          <a:prstGeom prst="rect"/>
        </p:spPr>
        <p:txBody>
          <a:bodyPr wrap="none" lIns="0" tIns="0" rIns="0" bIns="0"/>
          <a:p>
            <a:pPr>
              <a:lnSpc>
                <a:spcPct val="100000"/>
              </a:lnSpc>
            </a:pPr>
            <a:r>
              <a:rPr lang="en-US" sz="975">
                <a:solidFill>
                  <a:srgbClr val="F7F1E8">
                    <a:alpha val="55000"/>
                  </a:srgbClr>
                </a:solidFill>
                <a:latin typeface="Microsoft YaHei"/>
                <a:ea typeface="Microsoft YaHei"/>
              </a:rPr>
              <a:t>1440 × 900, production build</a:t>
            </a:r>
            <a:endParaRPr/>
          </a:p>
        </p:txBody>
      </p:sp>
      <p:sp>
        <p:nvSpPr>
          <p:cNvPr id="257" name="" descr="{&quot;isTemplate&quot;:true,&quot;type&quot;:&quot;text&quot;}"/>
          <p:cNvSpPr txBox="1"/>
          <p:nvPr/>
        </p:nvSpPr>
        <p:spPr>
          <a:xfrm rot="0" flipH="0" flipV="0">
            <a:off x="8115300" y="1333500"/>
            <a:ext cx="3390900" cy="647700"/>
          </a:xfrm>
          <a:prstGeom prst="rect"/>
        </p:spPr>
        <p:txBody>
          <a:bodyPr wrap="square" lIns="0" tIns="0" rIns="0" bIns="0">
            <a:normAutofit/>
          </a:bodyPr>
          <a:p>
            <a:pPr>
              <a:lnSpc>
                <a:spcPct val="140000"/>
              </a:lnSpc>
            </a:pPr>
            <a:r>
              <a:rPr lang="en-US" sz="1500" b="1">
                <a:solidFill>
                  <a:srgbClr val="F7F1E8"/>
                </a:solidFill>
                <a:latin typeface="Microsoft YaHei"/>
                <a:ea typeface="Microsoft YaHei"/>
              </a:rPr>
              <a:t>Everything a trader needs, and nothing that flatters them.</a:t>
            </a:r>
            <a:endParaRPr/>
          </a:p>
        </p:txBody>
      </p:sp>
      <p:sp>
        <p:nvSpPr>
          <p:cNvPr id="258" name="" descr="{&quot;isTemplate&quot;:true,&quot;type&quot;:&quot;text&quot;}"/>
          <p:cNvSpPr txBox="1"/>
          <p:nvPr/>
        </p:nvSpPr>
        <p:spPr>
          <a:xfrm rot="0" flipH="0" flipV="0">
            <a:off x="8115300" y="2114550"/>
            <a:ext cx="3390900" cy="1143000"/>
          </a:xfrm>
          <a:prstGeom prst="rect"/>
        </p:spPr>
        <p:txBody>
          <a:bodyPr wrap="square" lIns="0" tIns="0" rIns="0" bIns="0">
            <a:normAutofit/>
          </a:bodyPr>
          <a:p>
            <a:pPr>
              <a:lnSpc>
                <a:spcPct val="155000"/>
              </a:lnSpc>
            </a:pPr>
            <a:r>
              <a:rPr lang="en-US" sz="1200">
                <a:solidFill>
                  <a:srgbClr val="F7F1E8">
                    <a:alpha val="70000"/>
                  </a:srgbClr>
                </a:solidFill>
                <a:latin typeface="Microsoft YaHei"/>
                <a:ea typeface="Microsoft YaHei"/>
              </a:rPr>
              <a:t>Candles and volume, a live order book split into House and player liquidity, market and limit orders, open orders you can cancel, and a fill tape that never rounds in your favour.</a:t>
            </a:r>
            <a:endParaRPr/>
          </a:p>
        </p:txBody>
      </p:sp>
      <p:sp>
        <p:nvSpPr>
          <p:cNvPr id="259" name=""/>
          <p:cNvSpPr/>
          <p:nvPr/>
        </p:nvSpPr>
        <p:spPr>
          <a:xfrm rot="0" flipH="0" flipV="0">
            <a:off x="8115300" y="4105275"/>
            <a:ext cx="3390900" cy="371475"/>
          </a:xfrm>
          <a:custGeom>
            <a:pathLst>
              <a:path w="356" h="39">
                <a:moveTo>
                  <a:pt x="0" y="38"/>
                </a:moveTo>
                <a:lnTo>
                  <a:pt x="356" y="38"/>
                </a:lnTo>
                <a:lnTo>
                  <a:pt x="356" y="39"/>
                </a:lnTo>
                <a:lnTo>
                  <a:pt x="0" y="39"/>
                </a:lnTo>
                <a:close/>
              </a:path>
            </a:pathLst>
          </a:custGeom>
          <a:solidFill>
            <a:srgbClr val="F7F1E8">
              <a:alpha val="12000"/>
            </a:srgbClr>
          </a:solidFill>
          <a:ln/>
        </p:spPr>
        <p:txBody>
          <a:bodyPr/>
          <a:p>
            <a:pPr/>
            <a:endParaRPr/>
          </a:p>
        </p:txBody>
      </p:sp>
      <p:sp>
        <p:nvSpPr>
          <p:cNvPr id="260" name="" descr="{&quot;isTemplate&quot;:true,&quot;type&quot;:&quot;text&quot;}"/>
          <p:cNvSpPr txBox="1"/>
          <p:nvPr/>
        </p:nvSpPr>
        <p:spPr>
          <a:xfrm rot="0" flipH="0" flipV="0">
            <a:off x="8115300" y="4105275"/>
            <a:ext cx="1371600" cy="257175"/>
          </a:xfrm>
          <a:prstGeom prst="rect"/>
        </p:spPr>
        <p:txBody>
          <a:bodyPr wrap="none" lIns="0" tIns="0" rIns="0" bIns="0"/>
          <a:p>
            <a:pPr>
              <a:lnSpc>
                <a:spcPct val="100000"/>
              </a:lnSpc>
            </a:pPr>
            <a:r>
              <a:rPr lang="en-US" sz="1050" spc="90">
                <a:solidFill>
                  <a:srgbClr val="F7F1E8">
                    <a:alpha val="60000"/>
                  </a:srgbClr>
                </a:solidFill>
                <a:latin typeface="Microsoft YaHei"/>
                <a:ea typeface="Microsoft YaHei"/>
              </a:rPr>
              <a:t>SPREAD ON NEON</a:t>
            </a:r>
            <a:endParaRPr/>
          </a:p>
        </p:txBody>
      </p:sp>
      <p:sp>
        <p:nvSpPr>
          <p:cNvPr id="261" name="" descr="{&quot;isTemplate&quot;:true,&quot;type&quot;:&quot;text&quot;}"/>
          <p:cNvSpPr txBox="1"/>
          <p:nvPr/>
        </p:nvSpPr>
        <p:spPr>
          <a:xfrm rot="0" flipH="0" flipV="0">
            <a:off x="10934700" y="4105275"/>
            <a:ext cx="571500" cy="257175"/>
          </a:xfrm>
          <a:prstGeom prst="rect"/>
        </p:spPr>
        <p:txBody>
          <a:bodyPr wrap="none" lIns="0" tIns="0" rIns="0" bIns="0"/>
          <a:p>
            <a:pPr>
              <a:lnSpc>
                <a:spcPct val="100000"/>
              </a:lnSpc>
            </a:pPr>
            <a:r>
              <a:rPr lang="en-US" sz="1650" b="1">
                <a:solidFill>
                  <a:srgbClr val="F7F1E8"/>
                </a:solidFill>
                <a:latin typeface="Microsoft YaHei"/>
                <a:ea typeface="Microsoft YaHei"/>
              </a:rPr>
              <a:t>₹0.30</a:t>
            </a:r>
            <a:endParaRPr/>
          </a:p>
        </p:txBody>
      </p:sp>
      <p:sp>
        <p:nvSpPr>
          <p:cNvPr id="262" name=""/>
          <p:cNvSpPr/>
          <p:nvPr/>
        </p:nvSpPr>
        <p:spPr>
          <a:xfrm rot="0" flipH="0" flipV="0">
            <a:off x="8115300" y="4619625"/>
            <a:ext cx="3390900" cy="371475"/>
          </a:xfrm>
          <a:custGeom>
            <a:pathLst>
              <a:path w="356" h="39">
                <a:moveTo>
                  <a:pt x="0" y="38"/>
                </a:moveTo>
                <a:lnTo>
                  <a:pt x="356" y="38"/>
                </a:lnTo>
                <a:lnTo>
                  <a:pt x="356" y="39"/>
                </a:lnTo>
                <a:lnTo>
                  <a:pt x="0" y="39"/>
                </a:lnTo>
                <a:close/>
              </a:path>
            </a:pathLst>
          </a:custGeom>
          <a:solidFill>
            <a:srgbClr val="F7F1E8">
              <a:alpha val="12000"/>
            </a:srgbClr>
          </a:solidFill>
          <a:ln/>
        </p:spPr>
        <p:txBody>
          <a:bodyPr/>
          <a:p>
            <a:pPr/>
            <a:endParaRPr/>
          </a:p>
        </p:txBody>
      </p:sp>
      <p:sp>
        <p:nvSpPr>
          <p:cNvPr id="263" name="" descr="{&quot;isTemplate&quot;:true,&quot;type&quot;:&quot;text&quot;}"/>
          <p:cNvSpPr txBox="1"/>
          <p:nvPr/>
        </p:nvSpPr>
        <p:spPr>
          <a:xfrm rot="0" flipH="0" flipV="0">
            <a:off x="8115300" y="4619625"/>
            <a:ext cx="1781175" cy="257175"/>
          </a:xfrm>
          <a:prstGeom prst="rect"/>
        </p:spPr>
        <p:txBody>
          <a:bodyPr wrap="none" lIns="0" tIns="0" rIns="0" bIns="0"/>
          <a:p>
            <a:pPr>
              <a:lnSpc>
                <a:spcPct val="100000"/>
              </a:lnSpc>
            </a:pPr>
            <a:r>
              <a:rPr lang="en-US" sz="1050" spc="90">
                <a:solidFill>
                  <a:srgbClr val="F7F1E8">
                    <a:alpha val="60000"/>
                  </a:srgbClr>
                </a:solidFill>
                <a:latin typeface="Microsoft YaHei"/>
                <a:ea typeface="Microsoft YaHei"/>
              </a:rPr>
              <a:t>CASH RESERVED ON A LIMIT</a:t>
            </a:r>
            <a:endParaRPr/>
          </a:p>
        </p:txBody>
      </p:sp>
      <p:sp>
        <p:nvSpPr>
          <p:cNvPr id="264" name="" descr="{&quot;isTemplate&quot;:true,&quot;type&quot;:&quot;text&quot;}"/>
          <p:cNvSpPr txBox="1"/>
          <p:nvPr/>
        </p:nvSpPr>
        <p:spPr>
          <a:xfrm rot="0" flipH="0" flipV="0">
            <a:off x="9896475" y="4619625"/>
            <a:ext cx="1609725" cy="257175"/>
          </a:xfrm>
          <a:prstGeom prst="rect"/>
        </p:spPr>
        <p:txBody>
          <a:bodyPr wrap="none" lIns="0" tIns="0" rIns="0" bIns="0"/>
          <a:p>
            <a:pPr>
              <a:lnSpc>
                <a:spcPct val="100000"/>
              </a:lnSpc>
            </a:pPr>
            <a:r>
              <a:rPr lang="en-US" sz="1650" b="1">
                <a:solidFill>
                  <a:srgbClr val="F7F1E8"/>
                </a:solidFill>
                <a:latin typeface="Microsoft YaHei"/>
                <a:ea typeface="Microsoft YaHei"/>
              </a:rPr>
              <a:t>Exact, to the paise</a:t>
            </a:r>
            <a:endParaRPr/>
          </a:p>
        </p:txBody>
      </p:sp>
      <p:sp>
        <p:nvSpPr>
          <p:cNvPr id="265" name=""/>
          <p:cNvSpPr/>
          <p:nvPr/>
        </p:nvSpPr>
        <p:spPr>
          <a:xfrm rot="0" flipH="0" flipV="0">
            <a:off x="8115300" y="5133975"/>
            <a:ext cx="3390900" cy="371475"/>
          </a:xfrm>
          <a:custGeom>
            <a:pathLst>
              <a:path w="356" h="39">
                <a:moveTo>
                  <a:pt x="0" y="38"/>
                </a:moveTo>
                <a:lnTo>
                  <a:pt x="356" y="38"/>
                </a:lnTo>
                <a:lnTo>
                  <a:pt x="356" y="39"/>
                </a:lnTo>
                <a:lnTo>
                  <a:pt x="0" y="39"/>
                </a:lnTo>
                <a:close/>
              </a:path>
            </a:pathLst>
          </a:custGeom>
          <a:solidFill>
            <a:srgbClr val="F7F1E8">
              <a:alpha val="12000"/>
            </a:srgbClr>
          </a:solidFill>
          <a:ln/>
        </p:spPr>
        <p:txBody>
          <a:bodyPr/>
          <a:p>
            <a:pPr/>
            <a:endParaRPr/>
          </a:p>
        </p:txBody>
      </p:sp>
      <p:sp>
        <p:nvSpPr>
          <p:cNvPr id="266" name="" descr="{&quot;isTemplate&quot;:true,&quot;type&quot;:&quot;text&quot;}"/>
          <p:cNvSpPr txBox="1"/>
          <p:nvPr/>
        </p:nvSpPr>
        <p:spPr>
          <a:xfrm rot="0" flipH="0" flipV="0">
            <a:off x="8115300" y="5133975"/>
            <a:ext cx="2209800" cy="257175"/>
          </a:xfrm>
          <a:prstGeom prst="rect"/>
        </p:spPr>
        <p:txBody>
          <a:bodyPr wrap="none" lIns="0" tIns="0" rIns="0" bIns="0"/>
          <a:p>
            <a:pPr>
              <a:lnSpc>
                <a:spcPct val="100000"/>
              </a:lnSpc>
            </a:pPr>
            <a:r>
              <a:rPr lang="en-US" sz="1050" spc="90">
                <a:solidFill>
                  <a:srgbClr val="F7F1E8">
                    <a:alpha val="60000"/>
                  </a:srgbClr>
                </a:solidFill>
                <a:latin typeface="Microsoft YaHei"/>
                <a:ea typeface="Microsoft YaHei"/>
              </a:rPr>
              <a:t>ORDER BOOK LEVELS SHOWN</a:t>
            </a:r>
            <a:endParaRPr/>
          </a:p>
        </p:txBody>
      </p:sp>
      <p:sp>
        <p:nvSpPr>
          <p:cNvPr id="267" name="" descr="{&quot;isTemplate&quot;:true,&quot;type&quot;:&quot;text&quot;}"/>
          <p:cNvSpPr txBox="1"/>
          <p:nvPr/>
        </p:nvSpPr>
        <p:spPr>
          <a:xfrm rot="0" flipH="0" flipV="0">
            <a:off x="10467975" y="5133975"/>
            <a:ext cx="1038225" cy="257175"/>
          </a:xfrm>
          <a:prstGeom prst="rect"/>
        </p:spPr>
        <p:txBody>
          <a:bodyPr wrap="none" lIns="0" tIns="0" rIns="0" bIns="0"/>
          <a:p>
            <a:pPr>
              <a:lnSpc>
                <a:spcPct val="100000"/>
              </a:lnSpc>
            </a:pPr>
            <a:r>
              <a:rPr lang="en-US" sz="1650" b="1">
                <a:solidFill>
                  <a:srgbClr val="F7F1E8"/>
                </a:solidFill>
                <a:latin typeface="Microsoft YaHei"/>
                <a:ea typeface="Microsoft YaHei"/>
              </a:rPr>
              <a:t>7 per side</a:t>
            </a:r>
            <a:endParaRPr/>
          </a:p>
        </p:txBody>
      </p:sp>
      <p:sp>
        <p:nvSpPr>
          <p:cNvPr id="268" name="" descr="{&quot;isTemplate&quot;:true,&quot;type&quot;:&quot;text&quot;}"/>
          <p:cNvSpPr txBox="1"/>
          <p:nvPr/>
        </p:nvSpPr>
        <p:spPr>
          <a:xfrm rot="0" flipH="0" flipV="0">
            <a:off x="8115300" y="5648325"/>
            <a:ext cx="581025" cy="257175"/>
          </a:xfrm>
          <a:prstGeom prst="rect"/>
        </p:spPr>
        <p:txBody>
          <a:bodyPr wrap="none" lIns="0" tIns="0" rIns="0" bIns="0"/>
          <a:p>
            <a:pPr>
              <a:lnSpc>
                <a:spcPct val="100000"/>
              </a:lnSpc>
            </a:pPr>
            <a:r>
              <a:rPr lang="en-US" sz="1050" spc="90">
                <a:solidFill>
                  <a:srgbClr val="F7F1E8">
                    <a:alpha val="60000"/>
                  </a:srgbClr>
                </a:solidFill>
                <a:latin typeface="Microsoft YaHei"/>
                <a:ea typeface="Microsoft YaHei"/>
              </a:rPr>
              <a:t>MOBILE</a:t>
            </a:r>
            <a:endParaRPr/>
          </a:p>
        </p:txBody>
      </p:sp>
      <p:sp>
        <p:nvSpPr>
          <p:cNvPr id="269" name="" descr="{&quot;isTemplate&quot;:true,&quot;type&quot;:&quot;text&quot;}"/>
          <p:cNvSpPr txBox="1"/>
          <p:nvPr/>
        </p:nvSpPr>
        <p:spPr>
          <a:xfrm rot="0" flipH="0" flipV="0">
            <a:off x="9334500" y="5648325"/>
            <a:ext cx="2171700" cy="257175"/>
          </a:xfrm>
          <a:prstGeom prst="rect"/>
        </p:spPr>
        <p:txBody>
          <a:bodyPr wrap="none" lIns="0" tIns="0" rIns="0" bIns="0"/>
          <a:p>
            <a:pPr>
              <a:lnSpc>
                <a:spcPct val="100000"/>
              </a:lnSpc>
            </a:pPr>
            <a:r>
              <a:rPr lang="en-US" sz="1650" b="1">
                <a:solidFill>
                  <a:srgbClr val="F2C96D"/>
                </a:solidFill>
                <a:latin typeface="Microsoft YaHei"/>
                <a:ea typeface="Microsoft YaHei"/>
              </a:rPr>
              <a:t>Tabbed, no overflow</a:t>
            </a:r>
            <a:endParaRPr/>
          </a:p>
        </p:txBody>
      </p:sp>
      <p:sp>
        <p:nvSpPr>
          <p:cNvPr id="270" name=""/>
          <p:cNvSpPr/>
          <p:nvPr/>
        </p:nvSpPr>
        <p:spPr>
          <a:xfrm rot="0" flipH="0" flipV="0">
            <a:off x="685800" y="6096000"/>
            <a:ext cx="10820400" cy="571500"/>
          </a:xfrm>
          <a:custGeom>
            <a:pathLst>
              <a:path w="1136" h="60">
                <a:moveTo>
                  <a:pt x="0" y="0"/>
                </a:moveTo>
                <a:lnTo>
                  <a:pt x="1136" y="0"/>
                </a:lnTo>
                <a:lnTo>
                  <a:pt x="1136" y="1"/>
                </a:lnTo>
                <a:lnTo>
                  <a:pt x="0" y="1"/>
                </a:lnTo>
                <a:close/>
              </a:path>
            </a:pathLst>
          </a:custGeom>
          <a:solidFill>
            <a:srgbClr val="F7F1E8">
              <a:alpha val="10000"/>
            </a:srgbClr>
          </a:solidFill>
          <a:ln/>
        </p:spPr>
        <p:txBody>
          <a:bodyPr/>
          <a:p>
            <a:pPr/>
            <a:endParaRPr/>
          </a:p>
        </p:txBody>
      </p:sp>
      <p:sp>
        <p:nvSpPr>
          <p:cNvPr id="271" name="" descr="{&quot;isTemplate&quot;:true,&quot;type&quot;:&quot;text&quot;}"/>
          <p:cNvSpPr txBox="1"/>
          <p:nvPr/>
        </p:nvSpPr>
        <p:spPr>
          <a:xfrm rot="0" flipH="0" flipV="0">
            <a:off x="685800" y="6515100"/>
            <a:ext cx="2819400" cy="152400"/>
          </a:xfrm>
          <a:prstGeom prst="rect"/>
        </p:spPr>
        <p:txBody>
          <a:bodyPr wrap="none" lIns="0" tIns="0" rIns="0" bIns="0"/>
          <a:p>
            <a:pPr>
              <a:lnSpc>
                <a:spcPct val="100000"/>
              </a:lnSpc>
            </a:pPr>
            <a:r>
              <a:rPr lang="en-US" sz="975">
                <a:solidFill>
                  <a:srgbClr val="F7F1E8">
                    <a:alpha val="45000"/>
                  </a:srgbClr>
                </a:solidFill>
                <a:latin typeface="Microsoft YaHei"/>
                <a:ea typeface="Microsoft YaHei"/>
              </a:rPr>
              <a:t>BROKE VEGAS · fictional markets, virtual money</a:t>
            </a:r>
            <a:endParaRPr/>
          </a:p>
        </p:txBody>
      </p:sp>
      <p:sp>
        <p:nvSpPr>
          <p:cNvPr id="272" name="" descr="{&quot;isTemplate&quot;:true,&quot;type&quot;:&quot;text&quot;}"/>
          <p:cNvSpPr txBox="1"/>
          <p:nvPr/>
        </p:nvSpPr>
        <p:spPr>
          <a:xfrm rot="0" flipH="0" flipV="0">
            <a:off x="11087100" y="6515100"/>
            <a:ext cx="419100" cy="152400"/>
          </a:xfrm>
          <a:prstGeom prst="rect"/>
        </p:spPr>
        <p:txBody>
          <a:bodyPr wrap="none" lIns="0" tIns="0" rIns="0" bIns="0"/>
          <a:p>
            <a:pPr>
              <a:lnSpc>
                <a:spcPct val="100000"/>
              </a:lnSpc>
            </a:pPr>
            <a:r>
              <a:rPr lang="en-US" sz="975">
                <a:solidFill>
                  <a:srgbClr val="F7F1E8">
                    <a:alpha val="45000"/>
                  </a:srgbClr>
                </a:solidFill>
                <a:latin typeface="Microsoft YaHei"/>
                <a:ea typeface="Microsoft YaHei"/>
              </a:rPr>
              <a:t>07 / 12</a:t>
            </a:r>
            <a:endParaRPr/>
          </a:p>
        </p:txBody>
      </p:sp>
    </p:spTree>
  </p:cSld>
</p:sld>
</file>

<file path=ppt/slides/slide8.xml><?xml version="1.0" encoding="utf-8"?>
<p:sld xmlns:p="http://schemas.openxmlformats.org/presentationml/2006/main" xmlns:a="http://schemas.openxmlformats.org/drawingml/2006/main" xmlns:r="http://schemas.openxmlformats.org/officeDocument/2006/relationships">
  <p:cSld>
    <p:spTree>
      <p:nvGrpSpPr>
        <p:cNvPr id="273" name=""/>
        <p:cNvGrpSpPr/>
        <p:nvPr/>
      </p:nvGrpSpPr>
      <p:grpSpPr>
        <a:xfrm>
          <a:off x="0" y="0"/>
          <a:ext cx="0" cy="0"/>
          <a:chOff x="0" y="0"/>
          <a:chExt cx="0" cy="0"/>
        </a:xfrm>
      </p:grpSpPr>
      <p:sp>
        <p:nvSpPr>
          <p:cNvPr id="274" name=""/>
          <p:cNvSpPr/>
          <p:nvPr/>
        </p:nvSpPr>
        <p:spPr>
          <a:xfrm rot="0" flipH="0" flipV="0">
            <a:off x="0" y="0"/>
            <a:ext cx="12192000" cy="6858000"/>
          </a:xfrm>
          <a:prstGeom prst="rect">
            <a:avLst/>
          </a:prstGeom>
          <a:solidFill>
            <a:srgbClr val="07060B"/>
          </a:solidFill>
          <a:ln/>
        </p:spPr>
        <p:txBody>
          <a:bodyPr/>
          <a:p>
            <a:pPr/>
            <a:endParaRPr/>
          </a:p>
        </p:txBody>
      </p:sp>
      <p:sp>
        <p:nvSpPr>
          <p:cNvPr id="275" name="" descr="{&quot;isTemplate&quot;:true,&quot;type&quot;:&quot;text&quot;}"/>
          <p:cNvSpPr txBox="1"/>
          <p:nvPr/>
        </p:nvSpPr>
        <p:spPr>
          <a:xfrm rot="0" flipH="0" flipV="0">
            <a:off x="685800" y="190500"/>
            <a:ext cx="5267325" cy="142875"/>
          </a:xfrm>
          <a:prstGeom prst="rect"/>
        </p:spPr>
        <p:txBody>
          <a:bodyPr wrap="none" lIns="0" tIns="0" rIns="0" bIns="0"/>
          <a:p>
            <a:pPr>
              <a:lnSpc>
                <a:spcPct val="100000"/>
              </a:lnSpc>
            </a:pPr>
            <a:r>
              <a:rPr lang="en-US" sz="900" b="1" spc="180">
                <a:solidFill>
                  <a:srgbClr val="F2C96D"/>
                </a:solidFill>
                <a:latin typeface="Microsoft YaHei"/>
                <a:ea typeface="Microsoft YaHei"/>
              </a:rPr>
              <a:t>THE MELTDOWN</a:t>
            </a:r>
            <a:endParaRPr/>
          </a:p>
        </p:txBody>
      </p:sp>
      <p:sp>
        <p:nvSpPr>
          <p:cNvPr id="276" name="" descr="{&quot;isTemplate&quot;:true,&quot;type&quot;:&quot;text&quot;}"/>
          <p:cNvSpPr txBox="1"/>
          <p:nvPr/>
        </p:nvSpPr>
        <p:spPr>
          <a:xfrm rot="0" flipH="0" flipV="0">
            <a:off x="685800" y="409575"/>
            <a:ext cx="5267325" cy="485775"/>
          </a:xfrm>
          <a:prstGeom prst="rect"/>
        </p:spPr>
        <p:txBody>
          <a:bodyPr wrap="none" lIns="0" tIns="0" rIns="0" bIns="0"/>
          <a:p>
            <a:pPr>
              <a:lnSpc>
                <a:spcPct val="110000"/>
              </a:lnSpc>
            </a:pPr>
            <a:r>
              <a:rPr lang="en-US" sz="2850">
                <a:solidFill>
                  <a:srgbClr val="F7F1E8"/>
                </a:solidFill>
                <a:latin typeface="Impact"/>
                <a:ea typeface="Impact"/>
              </a:rPr>
              <a:t>One button ruins the group chat.</a:t>
            </a:r>
            <a:endParaRPr/>
          </a:p>
        </p:txBody>
      </p:sp>
      <p:sp>
        <p:nvSpPr>
          <p:cNvPr id="277" name="" descr="{&quot;isTemplate&quot;:true,&quot;type&quot;:&quot;text&quot;}"/>
          <p:cNvSpPr txBox="1"/>
          <p:nvPr/>
        </p:nvSpPr>
        <p:spPr>
          <a:xfrm rot="0" flipH="0" flipV="0">
            <a:off x="8963025" y="190500"/>
            <a:ext cx="2543175" cy="209550"/>
          </a:xfrm>
          <a:prstGeom prst="rect"/>
        </p:spPr>
        <p:txBody>
          <a:bodyPr wrap="none" lIns="0" tIns="42863" rIns="0" bIns="0"/>
          <a:p>
            <a:pPr>
              <a:lnSpc>
                <a:spcPct val="100000"/>
              </a:lnSpc>
            </a:pPr>
            <a:r>
              <a:rPr lang="en-US" sz="975" spc="120">
                <a:solidFill>
                  <a:srgbClr val="F7F1E8">
                    <a:alpha val="50000"/>
                  </a:srgbClr>
                </a:solidFill>
                <a:latin typeface="Microsoft YaHei"/>
                <a:ea typeface="Microsoft YaHei"/>
              </a:rPr>
              <a:t>HOST-ONLY · 20-TICK COOLDOWN</a:t>
            </a:r>
            <a:endParaRPr/>
          </a:p>
        </p:txBody>
      </p:sp>
      <p:sp>
        <p:nvSpPr>
          <p:cNvPr id="278" name=""/>
          <p:cNvSpPr/>
          <p:nvPr/>
        </p:nvSpPr>
        <p:spPr>
          <a:xfrm rot="0" flipH="0" flipV="0">
            <a:off x="685800" y="1333500"/>
            <a:ext cx="5753100" cy="3600450"/>
          </a:xfrm>
          <a:prstGeom prst="rect">
            <a:avLst/>
          </a:prstGeom>
          <a:ln w="12700">
            <a:solidFill>
              <a:srgbClr val="E73555">
                <a:alpha val="35000"/>
              </a:srgbClr>
            </a:solidFill>
            <a:prstDash val="solid"/>
          </a:ln>
        </p:spPr>
        <p:txBody>
          <a:bodyPr/>
          <a:p>
            <a:pPr/>
            <a:endParaRPr/>
          </a:p>
        </p:txBody>
      </p:sp>
      <p:pic>
        <p:nvPicPr>
          <p:cNvPr id="279" name=""/>
          <p:cNvPicPr>
            <a:picLocks noChangeAspect="1"/>
          </p:cNvPicPr>
          <p:nvPr/>
        </p:nvPicPr>
        <p:blipFill>
          <a:blip r:embed="rId1"/>
          <a:srcRect l="66" t="0" r="66" b="0"/>
          <a:stretch>
            <a:fillRect/>
          </a:stretch>
        </p:blipFill>
        <p:spPr>
          <a:xfrm rot="0" flipH="0" flipV="0">
            <a:off x="685800" y="1333500"/>
            <a:ext cx="5753100" cy="3600450"/>
          </a:xfrm>
          <a:prstGeom prst="roundRect">
            <a:avLst>
              <a:gd name="adj" fmla="val 2646"/>
            </a:avLst>
          </a:prstGeom>
          <a:ln/>
          <a:effectLst>
            <a:outerShdw blurRad="571500" dist="228600" dir="5400000">
              <a:srgbClr val="000000">
                <a:alpha val="55000"/>
              </a:srgbClr>
            </a:outerShdw>
          </a:effectLst>
        </p:spPr>
      </p:pic>
      <p:sp>
        <p:nvSpPr>
          <p:cNvPr id="280" name="" descr="{&quot;isTemplate&quot;:true,&quot;type&quot;:&quot;text&quot;}"/>
          <p:cNvSpPr txBox="1"/>
          <p:nvPr/>
        </p:nvSpPr>
        <p:spPr>
          <a:xfrm rot="0" flipH="0" flipV="0">
            <a:off x="685800" y="5067300"/>
            <a:ext cx="5753100" cy="514350"/>
          </a:xfrm>
          <a:prstGeom prst="rect"/>
        </p:spPr>
        <p:txBody>
          <a:bodyPr wrap="square" lIns="0" tIns="0" rIns="0" bIns="0">
            <a:normAutofit/>
          </a:bodyPr>
          <a:p>
            <a:pPr>
              <a:lnSpc>
                <a:spcPct val="150000"/>
              </a:lnSpc>
            </a:pPr>
            <a:r>
              <a:rPr lang="en-US" sz="1125">
                <a:solidFill>
                  <a:srgbClr val="F7F1E8">
                    <a:alpha val="62000"/>
                  </a:srgbClr>
                </a:solidFill>
                <a:latin typeface="Microsoft YaHei"/>
                <a:ea typeface="Microsoft YaHei"/>
              </a:rPr>
              <a:t>The House re-quotes mid-crash. Resting player orders fill at the new quote — limit-or-better — while the tape keeps printing.</a:t>
            </a:r>
            <a:endParaRPr/>
          </a:p>
        </p:txBody>
      </p:sp>
      <p:sp>
        <p:nvSpPr>
          <p:cNvPr id="281" name="" descr="{&quot;isTemplate&quot;:true,&quot;type&quot;:&quot;text&quot;}"/>
          <p:cNvSpPr txBox="1"/>
          <p:nvPr/>
        </p:nvSpPr>
        <p:spPr>
          <a:xfrm rot="0" flipH="0" flipV="0">
            <a:off x="6781800" y="1333500"/>
            <a:ext cx="4724400" cy="152400"/>
          </a:xfrm>
          <a:prstGeom prst="rect"/>
        </p:spPr>
        <p:txBody>
          <a:bodyPr wrap="none" lIns="0" tIns="0" rIns="0" bIns="0"/>
          <a:p>
            <a:pPr>
              <a:lnSpc>
                <a:spcPct val="100000"/>
              </a:lnSpc>
            </a:pPr>
            <a:r>
              <a:rPr lang="en-US" sz="975" b="1" spc="150">
                <a:solidFill>
                  <a:srgbClr val="F7F1E8">
                    <a:alpha val="55000"/>
                  </a:srgbClr>
                </a:solidFill>
                <a:latin typeface="Microsoft YaHei"/>
                <a:ea typeface="Microsoft YaHei"/>
              </a:rPr>
              <a:t>NET EQUITY, ONE TICK AFTER THE SHOCK</a:t>
            </a:r>
            <a:endParaRPr/>
          </a:p>
        </p:txBody>
      </p:sp>
      <p:sp>
        <p:nvSpPr>
          <p:cNvPr id="282" name="" descr="{&quot;isTemplate&quot;:true,&quot;type&quot;:&quot;text&quot;}"/>
          <p:cNvSpPr txBox="1"/>
          <p:nvPr/>
        </p:nvSpPr>
        <p:spPr>
          <a:xfrm rot="0" flipH="0" flipV="0">
            <a:off x="6781800" y="1543050"/>
            <a:ext cx="2333625" cy="714375"/>
          </a:xfrm>
          <a:prstGeom prst="rect"/>
        </p:spPr>
        <p:txBody>
          <a:bodyPr wrap="none" lIns="0" tIns="0" rIns="0" bIns="0"/>
          <a:p>
            <a:pPr>
              <a:lnSpc>
                <a:spcPct val="100000"/>
              </a:lnSpc>
            </a:pPr>
            <a:r>
              <a:rPr lang="en-US" sz="4650" b="1">
                <a:solidFill>
                  <a:srgbClr val="E73555"/>
                </a:solidFill>
                <a:latin typeface="Microsoft YaHei"/>
                <a:ea typeface="Microsoft YaHei"/>
              </a:rPr>
              <a:t>₹98,775</a:t>
            </a:r>
            <a:endParaRPr/>
          </a:p>
        </p:txBody>
      </p:sp>
      <p:sp>
        <p:nvSpPr>
          <p:cNvPr id="283" name="" descr="{&quot;isTemplate&quot;:true,&quot;type&quot;:&quot;text&quot;}"/>
          <p:cNvSpPr txBox="1"/>
          <p:nvPr/>
        </p:nvSpPr>
        <p:spPr>
          <a:xfrm rot="0" flipH="0" flipV="0">
            <a:off x="9267825" y="1543050"/>
            <a:ext cx="876300" cy="714375"/>
          </a:xfrm>
          <a:prstGeom prst="rect"/>
        </p:spPr>
        <p:txBody>
          <a:bodyPr wrap="none" lIns="0" tIns="0" rIns="0" bIns="0"/>
          <a:p>
            <a:pPr>
              <a:lnSpc>
                <a:spcPct val="100000"/>
              </a:lnSpc>
            </a:pPr>
            <a:r>
              <a:rPr lang="en-US" sz="1800" b="1">
                <a:solidFill>
                  <a:srgbClr val="E73555"/>
                </a:solidFill>
                <a:latin typeface="Microsoft YaHei"/>
                <a:ea typeface="Microsoft YaHei"/>
              </a:rPr>
              <a:t>−1.23%</a:t>
            </a:r>
            <a:endParaRPr/>
          </a:p>
        </p:txBody>
      </p:sp>
      <p:sp>
        <p:nvSpPr>
          <p:cNvPr id="284" name="" descr="{&quot;isTemplate&quot;:true,&quot;type&quot;:&quot;text&quot;}"/>
          <p:cNvSpPr txBox="1"/>
          <p:nvPr/>
        </p:nvSpPr>
        <p:spPr>
          <a:xfrm rot="0" flipH="0" flipV="0">
            <a:off x="6781800" y="2314575"/>
            <a:ext cx="4724400" cy="371475"/>
          </a:xfrm>
          <a:prstGeom prst="rect"/>
        </p:spPr>
        <p:txBody>
          <a:bodyPr wrap="square" lIns="0" tIns="0" rIns="0" bIns="0">
            <a:normAutofit/>
          </a:bodyPr>
          <a:p>
            <a:pPr>
              <a:lnSpc>
                <a:spcPct val="100000"/>
              </a:lnSpc>
            </a:pPr>
            <a:r>
              <a:rPr lang="en-US" sz="1200">
                <a:solidFill>
                  <a:srgbClr val="F7F1E8">
                    <a:alpha val="65000"/>
                  </a:srgbClr>
                </a:solidFill>
                <a:latin typeface="Microsoft YaHei"/>
                <a:ea typeface="Microsoft YaHei"/>
              </a:rPr>
              <a:t>From ₹1,00,000 · severity 79/100 · a 25-share position held straight through it</a:t>
            </a:r>
            <a:endParaRPr/>
          </a:p>
        </p:txBody>
      </p:sp>
      <p:sp>
        <p:nvSpPr>
          <p:cNvPr id="285" name="" descr="{&quot;isTemplate&quot;:true,&quot;type&quot;:&quot;text&quot;}"/>
          <p:cNvSpPr txBox="1"/>
          <p:nvPr/>
        </p:nvSpPr>
        <p:spPr>
          <a:xfrm rot="0" flipH="0" flipV="0">
            <a:off x="6781800" y="3314700"/>
            <a:ext cx="4724400" cy="152400"/>
          </a:xfrm>
          <a:prstGeom prst="rect"/>
        </p:spPr>
        <p:txBody>
          <a:bodyPr wrap="none" lIns="0" tIns="0" rIns="0" bIns="0"/>
          <a:p>
            <a:pPr>
              <a:lnSpc>
                <a:spcPct val="100000"/>
              </a:lnSpc>
            </a:pPr>
            <a:r>
              <a:rPr lang="en-US" sz="975" b="1" spc="150">
                <a:solidFill>
                  <a:srgbClr val="F7F1E8">
                    <a:alpha val="55000"/>
                  </a:srgbClr>
                </a:solidFill>
                <a:latin typeface="Microsoft YaHei"/>
                <a:ea typeface="Microsoft YaHei"/>
              </a:rPr>
              <a:t>LEADERBOARD AT TICK 21 · MARKED TO THE SAME MID</a:t>
            </a:r>
            <a:endParaRPr/>
          </a:p>
        </p:txBody>
      </p:sp>
      <p:sp>
        <p:nvSpPr>
          <p:cNvPr id="286" name=""/>
          <p:cNvSpPr/>
          <p:nvPr/>
        </p:nvSpPr>
        <p:spPr>
          <a:xfrm rot="0" flipH="0" flipV="0">
            <a:off x="6781800" y="3524250"/>
            <a:ext cx="4724400" cy="390525"/>
          </a:xfrm>
          <a:custGeom>
            <a:pathLst>
              <a:path w="496" h="41">
                <a:moveTo>
                  <a:pt x="0" y="40"/>
                </a:moveTo>
                <a:lnTo>
                  <a:pt x="496" y="40"/>
                </a:lnTo>
                <a:lnTo>
                  <a:pt x="496" y="41"/>
                </a:lnTo>
                <a:lnTo>
                  <a:pt x="0" y="41"/>
                </a:lnTo>
                <a:close/>
              </a:path>
            </a:pathLst>
          </a:custGeom>
          <a:solidFill>
            <a:srgbClr val="F7F1E8">
              <a:alpha val="12000"/>
            </a:srgbClr>
          </a:solidFill>
          <a:ln/>
        </p:spPr>
        <p:txBody>
          <a:bodyPr/>
          <a:p>
            <a:pPr/>
            <a:endParaRPr/>
          </a:p>
        </p:txBody>
      </p:sp>
      <p:sp>
        <p:nvSpPr>
          <p:cNvPr id="287" name="" descr="{&quot;isTemplate&quot;:true,&quot;type&quot;:&quot;text&quot;}"/>
          <p:cNvSpPr txBox="1"/>
          <p:nvPr/>
        </p:nvSpPr>
        <p:spPr>
          <a:xfrm rot="0" flipH="0" flipV="0">
            <a:off x="6781800" y="3609975"/>
            <a:ext cx="1333500" cy="200025"/>
          </a:xfrm>
          <a:prstGeom prst="rect"/>
        </p:spPr>
        <p:txBody>
          <a:bodyPr wrap="none" lIns="0" tIns="0" rIns="0" bIns="0"/>
          <a:p>
            <a:pPr>
              <a:lnSpc>
                <a:spcPct val="100000"/>
              </a:lnSpc>
            </a:pPr>
            <a:r>
              <a:rPr lang="en-US" sz="1275">
                <a:solidFill>
                  <a:srgbClr val="F7F1E8"/>
                </a:solidFill>
                <a:latin typeface="Microsoft YaHei"/>
                <a:ea typeface="Microsoft YaHei"/>
              </a:rPr>
              <a:t>1 · Reversion Rita</a:t>
            </a:r>
            <a:endParaRPr/>
          </a:p>
        </p:txBody>
      </p:sp>
      <p:sp>
        <p:nvSpPr>
          <p:cNvPr id="288" name="" descr="{&quot;isTemplate&quot;:true,&quot;type&quot;:&quot;text&quot;}"/>
          <p:cNvSpPr txBox="1"/>
          <p:nvPr/>
        </p:nvSpPr>
        <p:spPr>
          <a:xfrm rot="0" flipH="0" flipV="0">
            <a:off x="10077450" y="3609975"/>
            <a:ext cx="1428750" cy="200025"/>
          </a:xfrm>
          <a:prstGeom prst="rect"/>
        </p:spPr>
        <p:txBody>
          <a:bodyPr wrap="none" lIns="0" tIns="0" rIns="0" bIns="0"/>
          <a:p>
            <a:pPr>
              <a:lnSpc>
                <a:spcPct val="100000"/>
              </a:lnSpc>
            </a:pPr>
            <a:r>
              <a:rPr lang="en-US" sz="1275" b="1">
                <a:solidFill>
                  <a:srgbClr val="F7F1E8">
                    <a:alpha val="80000"/>
                  </a:srgbClr>
                </a:solidFill>
                <a:latin typeface="Microsoft YaHei"/>
                <a:ea typeface="Microsoft YaHei"/>
              </a:rPr>
              <a:t>₹99,812 · −0.19%</a:t>
            </a:r>
            <a:endParaRPr/>
          </a:p>
        </p:txBody>
      </p:sp>
      <p:sp>
        <p:nvSpPr>
          <p:cNvPr id="289" name=""/>
          <p:cNvSpPr/>
          <p:nvPr/>
        </p:nvSpPr>
        <p:spPr>
          <a:xfrm rot="0" flipH="0" flipV="0">
            <a:off x="6781800" y="3962400"/>
            <a:ext cx="4724400" cy="390525"/>
          </a:xfrm>
          <a:custGeom>
            <a:pathLst>
              <a:path w="496" h="41">
                <a:moveTo>
                  <a:pt x="0" y="40"/>
                </a:moveTo>
                <a:lnTo>
                  <a:pt x="496" y="40"/>
                </a:lnTo>
                <a:lnTo>
                  <a:pt x="496" y="41"/>
                </a:lnTo>
                <a:lnTo>
                  <a:pt x="0" y="41"/>
                </a:lnTo>
                <a:close/>
              </a:path>
            </a:pathLst>
          </a:custGeom>
          <a:solidFill>
            <a:srgbClr val="F7F1E8">
              <a:alpha val="12000"/>
            </a:srgbClr>
          </a:solidFill>
          <a:ln/>
        </p:spPr>
        <p:txBody>
          <a:bodyPr/>
          <a:p>
            <a:pPr/>
            <a:endParaRPr/>
          </a:p>
        </p:txBody>
      </p:sp>
      <p:sp>
        <p:nvSpPr>
          <p:cNvPr id="290" name="" descr="{&quot;isTemplate&quot;:true,&quot;type&quot;:&quot;text&quot;}"/>
          <p:cNvSpPr txBox="1"/>
          <p:nvPr/>
        </p:nvSpPr>
        <p:spPr>
          <a:xfrm rot="0" flipH="0" flipV="0">
            <a:off x="6781800" y="4048125"/>
            <a:ext cx="1571625" cy="200025"/>
          </a:xfrm>
          <a:prstGeom prst="rect"/>
        </p:spPr>
        <p:txBody>
          <a:bodyPr wrap="none" lIns="0" tIns="0" rIns="0" bIns="0"/>
          <a:p>
            <a:pPr>
              <a:lnSpc>
                <a:spcPct val="100000"/>
              </a:lnSpc>
            </a:pPr>
            <a:r>
              <a:rPr lang="en-US" sz="1275">
                <a:solidFill>
                  <a:srgbClr val="F7F1E8"/>
                </a:solidFill>
                <a:latin typeface="Microsoft YaHei"/>
                <a:ea typeface="Microsoft YaHei"/>
              </a:rPr>
              <a:t>2 · Momentum Mick</a:t>
            </a:r>
            <a:endParaRPr/>
          </a:p>
        </p:txBody>
      </p:sp>
      <p:sp>
        <p:nvSpPr>
          <p:cNvPr id="291" name="" descr="{&quot;isTemplate&quot;:true,&quot;type&quot;:&quot;text&quot;}"/>
          <p:cNvSpPr txBox="1"/>
          <p:nvPr/>
        </p:nvSpPr>
        <p:spPr>
          <a:xfrm rot="0" flipH="0" flipV="0">
            <a:off x="10077450" y="4048125"/>
            <a:ext cx="1428750" cy="200025"/>
          </a:xfrm>
          <a:prstGeom prst="rect"/>
        </p:spPr>
        <p:txBody>
          <a:bodyPr wrap="none" lIns="0" tIns="0" rIns="0" bIns="0"/>
          <a:p>
            <a:pPr>
              <a:lnSpc>
                <a:spcPct val="100000"/>
              </a:lnSpc>
            </a:pPr>
            <a:r>
              <a:rPr lang="en-US" sz="1275" b="1">
                <a:solidFill>
                  <a:srgbClr val="F7F1E8">
                    <a:alpha val="80000"/>
                  </a:srgbClr>
                </a:solidFill>
                <a:latin typeface="Microsoft YaHei"/>
                <a:ea typeface="Microsoft YaHei"/>
              </a:rPr>
              <a:t>₹99,618 · −0.38%</a:t>
            </a:r>
            <a:endParaRPr/>
          </a:p>
        </p:txBody>
      </p:sp>
      <p:sp>
        <p:nvSpPr>
          <p:cNvPr id="292" name="" descr="{&quot;isTemplate&quot;:true,&quot;type&quot;:&quot;text&quot;}"/>
          <p:cNvSpPr txBox="1"/>
          <p:nvPr/>
        </p:nvSpPr>
        <p:spPr>
          <a:xfrm rot="0" flipH="0" flipV="0">
            <a:off x="6781800" y="4486275"/>
            <a:ext cx="523875" cy="200025"/>
          </a:xfrm>
          <a:prstGeom prst="rect"/>
        </p:spPr>
        <p:txBody>
          <a:bodyPr wrap="none" lIns="0" tIns="0" rIns="0" bIns="0"/>
          <a:p>
            <a:pPr>
              <a:lnSpc>
                <a:spcPct val="100000"/>
              </a:lnSpc>
            </a:pPr>
            <a:r>
              <a:rPr lang="en-US" sz="1275">
                <a:solidFill>
                  <a:srgbClr val="F7F1E8"/>
                </a:solidFill>
                <a:latin typeface="Microsoft YaHei"/>
                <a:ea typeface="Microsoft YaHei"/>
              </a:rPr>
              <a:t>3 · You</a:t>
            </a:r>
            <a:endParaRPr/>
          </a:p>
        </p:txBody>
      </p:sp>
      <p:sp>
        <p:nvSpPr>
          <p:cNvPr id="293" name="" descr="{&quot;isTemplate&quot;:true,&quot;type&quot;:&quot;text&quot;}"/>
          <p:cNvSpPr txBox="1"/>
          <p:nvPr/>
        </p:nvSpPr>
        <p:spPr>
          <a:xfrm rot="0" flipH="0" flipV="0">
            <a:off x="10077450" y="4486275"/>
            <a:ext cx="1428750" cy="200025"/>
          </a:xfrm>
          <a:prstGeom prst="rect"/>
        </p:spPr>
        <p:txBody>
          <a:bodyPr wrap="none" lIns="0" tIns="0" rIns="0" bIns="0"/>
          <a:p>
            <a:pPr>
              <a:lnSpc>
                <a:spcPct val="100000"/>
              </a:lnSpc>
            </a:pPr>
            <a:r>
              <a:rPr lang="en-US" sz="1275" b="1">
                <a:solidFill>
                  <a:srgbClr val="E73555"/>
                </a:solidFill>
                <a:latin typeface="Microsoft YaHei"/>
                <a:ea typeface="Microsoft YaHei"/>
              </a:rPr>
              <a:t>₹98,984 · −1.00%</a:t>
            </a:r>
            <a:endParaRPr/>
          </a:p>
        </p:txBody>
      </p:sp>
      <p:sp>
        <p:nvSpPr>
          <p:cNvPr id="294" name="" descr="{&quot;isTemplate&quot;:true,&quot;type&quot;:&quot;text&quot;}"/>
          <p:cNvSpPr txBox="1"/>
          <p:nvPr/>
        </p:nvSpPr>
        <p:spPr>
          <a:xfrm rot="0" flipH="0" flipV="0">
            <a:off x="6781800" y="5391150"/>
            <a:ext cx="4724400" cy="514350"/>
          </a:xfrm>
          <a:prstGeom prst="rect"/>
        </p:spPr>
        <p:txBody>
          <a:bodyPr wrap="square" lIns="0" tIns="0" rIns="0" bIns="0">
            <a:normAutofit/>
          </a:bodyPr>
          <a:p>
            <a:pPr>
              <a:lnSpc>
                <a:spcPct val="150000"/>
              </a:lnSpc>
            </a:pPr>
            <a:r>
              <a:rPr lang="en-US" sz="1125">
                <a:solidFill>
                  <a:srgbClr val="F7F1E8">
                    <a:alpha val="60000"/>
                  </a:srgbClr>
                </a:solidFill>
                <a:latin typeface="Microsoft YaHei"/>
                <a:ea typeface="Microsoft YaHei"/>
              </a:rPr>
              <a:t>All three equity curves cross inside the crash window. Nobody is repriced later, and nobody is repriced privately.</a:t>
            </a:r>
            <a:endParaRPr/>
          </a:p>
        </p:txBody>
      </p:sp>
      <p:sp>
        <p:nvSpPr>
          <p:cNvPr id="295" name=""/>
          <p:cNvSpPr/>
          <p:nvPr/>
        </p:nvSpPr>
        <p:spPr>
          <a:xfrm rot="0" flipH="0" flipV="0">
            <a:off x="685800" y="6096000"/>
            <a:ext cx="10820400" cy="571500"/>
          </a:xfrm>
          <a:custGeom>
            <a:pathLst>
              <a:path w="1136" h="60">
                <a:moveTo>
                  <a:pt x="0" y="0"/>
                </a:moveTo>
                <a:lnTo>
                  <a:pt x="1136" y="0"/>
                </a:lnTo>
                <a:lnTo>
                  <a:pt x="1136" y="1"/>
                </a:lnTo>
                <a:lnTo>
                  <a:pt x="0" y="1"/>
                </a:lnTo>
                <a:close/>
              </a:path>
            </a:pathLst>
          </a:custGeom>
          <a:solidFill>
            <a:srgbClr val="F7F1E8">
              <a:alpha val="10000"/>
            </a:srgbClr>
          </a:solidFill>
          <a:ln/>
        </p:spPr>
        <p:txBody>
          <a:bodyPr/>
          <a:p>
            <a:pPr/>
            <a:endParaRPr/>
          </a:p>
        </p:txBody>
      </p:sp>
      <p:sp>
        <p:nvSpPr>
          <p:cNvPr id="296" name="" descr="{&quot;isTemplate&quot;:true,&quot;type&quot;:&quot;text&quot;}"/>
          <p:cNvSpPr txBox="1"/>
          <p:nvPr/>
        </p:nvSpPr>
        <p:spPr>
          <a:xfrm rot="0" flipH="0" flipV="0">
            <a:off x="685800" y="6515100"/>
            <a:ext cx="2819400" cy="152400"/>
          </a:xfrm>
          <a:prstGeom prst="rect"/>
        </p:spPr>
        <p:txBody>
          <a:bodyPr wrap="none" lIns="0" tIns="0" rIns="0" bIns="0"/>
          <a:p>
            <a:pPr>
              <a:lnSpc>
                <a:spcPct val="100000"/>
              </a:lnSpc>
            </a:pPr>
            <a:r>
              <a:rPr lang="en-US" sz="975">
                <a:solidFill>
                  <a:srgbClr val="F7F1E8">
                    <a:alpha val="45000"/>
                  </a:srgbClr>
                </a:solidFill>
                <a:latin typeface="Microsoft YaHei"/>
                <a:ea typeface="Microsoft YaHei"/>
              </a:rPr>
              <a:t>BROKE VEGAS · fictional markets, virtual money</a:t>
            </a:r>
            <a:endParaRPr/>
          </a:p>
        </p:txBody>
      </p:sp>
      <p:sp>
        <p:nvSpPr>
          <p:cNvPr id="297" name="" descr="{&quot;isTemplate&quot;:true,&quot;type&quot;:&quot;text&quot;}"/>
          <p:cNvSpPr txBox="1"/>
          <p:nvPr/>
        </p:nvSpPr>
        <p:spPr>
          <a:xfrm rot="0" flipH="0" flipV="0">
            <a:off x="11087100" y="6515100"/>
            <a:ext cx="419100" cy="152400"/>
          </a:xfrm>
          <a:prstGeom prst="rect"/>
        </p:spPr>
        <p:txBody>
          <a:bodyPr wrap="none" lIns="0" tIns="0" rIns="0" bIns="0"/>
          <a:p>
            <a:pPr>
              <a:lnSpc>
                <a:spcPct val="100000"/>
              </a:lnSpc>
            </a:pPr>
            <a:r>
              <a:rPr lang="en-US" sz="975">
                <a:solidFill>
                  <a:srgbClr val="F7F1E8">
                    <a:alpha val="45000"/>
                  </a:srgbClr>
                </a:solidFill>
                <a:latin typeface="Microsoft YaHei"/>
                <a:ea typeface="Microsoft YaHei"/>
              </a:rPr>
              <a:t>08 / 12</a:t>
            </a:r>
            <a:endParaRPr/>
          </a:p>
        </p:txBody>
      </p:sp>
    </p:spTree>
  </p:cSld>
</p:sld>
</file>

<file path=ppt/slides/slide9.xml><?xml version="1.0" encoding="utf-8"?>
<p:sld xmlns:p="http://schemas.openxmlformats.org/presentationml/2006/main" xmlns:a="http://schemas.openxmlformats.org/drawingml/2006/main" xmlns:r="http://schemas.openxmlformats.org/officeDocument/2006/relationships">
  <p:cSld>
    <p:spTree>
      <p:nvGrpSpPr>
        <p:cNvPr id="298" name=""/>
        <p:cNvGrpSpPr/>
        <p:nvPr/>
      </p:nvGrpSpPr>
      <p:grpSpPr>
        <a:xfrm>
          <a:off x="0" y="0"/>
          <a:ext cx="0" cy="0"/>
          <a:chOff x="0" y="0"/>
          <a:chExt cx="0" cy="0"/>
        </a:xfrm>
      </p:grpSpPr>
      <p:sp>
        <p:nvSpPr>
          <p:cNvPr id="299" name=""/>
          <p:cNvSpPr/>
          <p:nvPr/>
        </p:nvSpPr>
        <p:spPr>
          <a:xfrm rot="0" flipH="0" flipV="0">
            <a:off x="0" y="0"/>
            <a:ext cx="12192000" cy="6858000"/>
          </a:xfrm>
          <a:prstGeom prst="rect">
            <a:avLst/>
          </a:prstGeom>
          <a:solidFill>
            <a:srgbClr val="07060B"/>
          </a:solidFill>
          <a:ln/>
        </p:spPr>
        <p:txBody>
          <a:bodyPr/>
          <a:p>
            <a:pPr/>
            <a:endParaRPr/>
          </a:p>
        </p:txBody>
      </p:sp>
      <p:sp>
        <p:nvSpPr>
          <p:cNvPr id="300" name="" descr="{&quot;isTemplate&quot;:true,&quot;type&quot;:&quot;text&quot;}"/>
          <p:cNvSpPr txBox="1"/>
          <p:nvPr/>
        </p:nvSpPr>
        <p:spPr>
          <a:xfrm rot="0" flipH="0" flipV="0">
            <a:off x="685800" y="190500"/>
            <a:ext cx="5467350" cy="142875"/>
          </a:xfrm>
          <a:prstGeom prst="rect"/>
        </p:spPr>
        <p:txBody>
          <a:bodyPr wrap="none" lIns="0" tIns="0" rIns="0" bIns="0"/>
          <a:p>
            <a:pPr>
              <a:lnSpc>
                <a:spcPct val="100000"/>
              </a:lnSpc>
            </a:pPr>
            <a:r>
              <a:rPr lang="en-US" sz="900" b="1" spc="180">
                <a:solidFill>
                  <a:srgbClr val="F2C96D"/>
                </a:solidFill>
                <a:latin typeface="Microsoft YaHei"/>
                <a:ea typeface="Microsoft YaHei"/>
              </a:rPr>
              <a:t>VERIFICATION</a:t>
            </a:r>
            <a:endParaRPr/>
          </a:p>
        </p:txBody>
      </p:sp>
      <p:sp>
        <p:nvSpPr>
          <p:cNvPr id="301" name="" descr="{&quot;isTemplate&quot;:true,&quot;type&quot;:&quot;text&quot;}"/>
          <p:cNvSpPr txBox="1"/>
          <p:nvPr/>
        </p:nvSpPr>
        <p:spPr>
          <a:xfrm rot="0" flipH="0" flipV="0">
            <a:off x="685800" y="409575"/>
            <a:ext cx="5467350" cy="485775"/>
          </a:xfrm>
          <a:prstGeom prst="rect"/>
        </p:spPr>
        <p:txBody>
          <a:bodyPr wrap="none" lIns="0" tIns="0" rIns="0" bIns="0"/>
          <a:p>
            <a:pPr>
              <a:lnSpc>
                <a:spcPct val="110000"/>
              </a:lnSpc>
            </a:pPr>
            <a:r>
              <a:rPr lang="en-US" sz="2850">
                <a:solidFill>
                  <a:srgbClr val="F7F1E8"/>
                </a:solidFill>
                <a:latin typeface="Impact"/>
                <a:ea typeface="Impact"/>
              </a:rPr>
              <a:t>Don't trust the dealer. Replay him.</a:t>
            </a:r>
            <a:endParaRPr/>
          </a:p>
        </p:txBody>
      </p:sp>
      <p:sp>
        <p:nvSpPr>
          <p:cNvPr id="302" name="" descr="{&quot;isTemplate&quot;:true,&quot;type&quot;:&quot;text&quot;}"/>
          <p:cNvSpPr txBox="1"/>
          <p:nvPr/>
        </p:nvSpPr>
        <p:spPr>
          <a:xfrm rot="0" flipH="0" flipV="0">
            <a:off x="8820150" y="190500"/>
            <a:ext cx="2686050" cy="209550"/>
          </a:xfrm>
          <a:prstGeom prst="rect"/>
        </p:spPr>
        <p:txBody>
          <a:bodyPr wrap="none" lIns="0" tIns="42863" rIns="0" bIns="0"/>
          <a:p>
            <a:pPr>
              <a:lnSpc>
                <a:spcPct val="100000"/>
              </a:lnSpc>
            </a:pPr>
            <a:r>
              <a:rPr lang="en-US" sz="975" spc="120">
                <a:solidFill>
                  <a:srgbClr val="F7F1E8">
                    <a:alpha val="50000"/>
                  </a:srgbClr>
                </a:solidFill>
                <a:latin typeface="Microsoft YaHei"/>
                <a:ea typeface="Microsoft YaHei"/>
              </a:rPr>
              <a:t>EVENT-SOURCED · HASH COMPARED</a:t>
            </a:r>
            <a:endParaRPr/>
          </a:p>
        </p:txBody>
      </p:sp>
      <p:sp>
        <p:nvSpPr>
          <p:cNvPr id="303" name="" descr="{&quot;isTemplate&quot;:true,&quot;type&quot;:&quot;text&quot;}"/>
          <p:cNvSpPr txBox="1"/>
          <p:nvPr/>
        </p:nvSpPr>
        <p:spPr>
          <a:xfrm rot="0" flipH="0" flipV="0">
            <a:off x="685800" y="1333500"/>
            <a:ext cx="5715000" cy="1047750"/>
          </a:xfrm>
          <a:prstGeom prst="rect"/>
        </p:spPr>
        <p:txBody>
          <a:bodyPr wrap="square" lIns="0" tIns="0" rIns="0" bIns="0">
            <a:normAutofit/>
          </a:bodyPr>
          <a:p>
            <a:pPr>
              <a:lnSpc>
                <a:spcPct val="160000"/>
              </a:lnSpc>
            </a:pPr>
            <a:r>
              <a:rPr lang="en-US" sz="1425">
                <a:solidFill>
                  <a:srgbClr val="F7F1E8">
                    <a:alpha val="76000"/>
                  </a:srgbClr>
                </a:solidFill>
                <a:latin typeface="Microsoft YaHei"/>
                <a:ea typeface="Microsoft YaHei"/>
              </a:rPr>
              <a:t>Every match records its seed, its intents and its ticks. The replay rebuilds the final state from that log alone and compares SHA-256 hashes. If they differ, the badge says so.</a:t>
            </a:r>
            <a:endParaRPr/>
          </a:p>
        </p:txBody>
      </p:sp>
      <p:sp>
        <p:nvSpPr>
          <p:cNvPr id="304" name=""/>
          <p:cNvSpPr/>
          <p:nvPr/>
        </p:nvSpPr>
        <p:spPr>
          <a:xfrm rot="0" flipH="0" flipV="0">
            <a:off x="685800" y="2533650"/>
            <a:ext cx="5715000" cy="1238250"/>
          </a:xfrm>
          <a:prstGeom prst="rect">
            <a:avLst/>
          </a:prstGeom>
          <a:solidFill>
            <a:srgbClr val="F7F1E8">
              <a:alpha val="4500"/>
            </a:srgbClr>
          </a:solidFill>
          <a:ln w="12700">
            <a:solidFill>
              <a:srgbClr val="F7F1E8">
                <a:alpha val="10000"/>
              </a:srgbClr>
            </a:solidFill>
            <a:prstDash val="solid"/>
          </a:ln>
        </p:spPr>
        <p:txBody>
          <a:bodyPr/>
          <a:p>
            <a:pPr/>
            <a:endParaRPr/>
          </a:p>
        </p:txBody>
      </p:sp>
      <p:sp>
        <p:nvSpPr>
          <p:cNvPr id="305" name="" descr="{&quot;isTemplate&quot;:true,&quot;type&quot;:&quot;text&quot;}"/>
          <p:cNvSpPr txBox="1"/>
          <p:nvPr/>
        </p:nvSpPr>
        <p:spPr>
          <a:xfrm rot="0" flipH="0" flipV="0">
            <a:off x="857250" y="2686050"/>
            <a:ext cx="5372100" cy="142875"/>
          </a:xfrm>
          <a:prstGeom prst="rect"/>
        </p:spPr>
        <p:txBody>
          <a:bodyPr wrap="none" lIns="0" tIns="0" rIns="0" bIns="0"/>
          <a:p>
            <a:pPr>
              <a:lnSpc>
                <a:spcPct val="100000"/>
              </a:lnSpc>
            </a:pPr>
            <a:r>
              <a:rPr lang="en-US" sz="900" spc="150">
                <a:solidFill>
                  <a:srgbClr val="F7F1E8">
                    <a:alpha val="50000"/>
                  </a:srgbClr>
                </a:solidFill>
                <a:latin typeface="Microsoft YaHei"/>
                <a:ea typeface="Microsoft YaHei"/>
              </a:rPr>
              <a:t>SEED COMMITMENT · SHA-256</a:t>
            </a:r>
            <a:endParaRPr/>
          </a:p>
        </p:txBody>
      </p:sp>
      <p:sp>
        <p:nvSpPr>
          <p:cNvPr id="306" name="" descr="{&quot;isTemplate&quot;:true,&quot;type&quot;:&quot;text&quot;}"/>
          <p:cNvSpPr txBox="1"/>
          <p:nvPr/>
        </p:nvSpPr>
        <p:spPr>
          <a:xfrm rot="0" flipH="0" flipV="0">
            <a:off x="857250" y="2924175"/>
            <a:ext cx="5372100" cy="161925"/>
          </a:xfrm>
          <a:prstGeom prst="rect"/>
        </p:spPr>
        <p:txBody>
          <a:bodyPr wrap="none" lIns="0" tIns="0" rIns="0" bIns="0"/>
          <a:p>
            <a:pPr>
              <a:lnSpc>
                <a:spcPct val="100000"/>
              </a:lnSpc>
            </a:pPr>
            <a:r>
              <a:rPr lang="en-US" sz="1050" spc="45">
                <a:solidFill>
                  <a:srgbClr val="F2C96D"/>
                </a:solidFill>
                <a:latin typeface="Microsoft YaHei"/>
                <a:ea typeface="Microsoft YaHei"/>
              </a:rPr>
              <a:t>4524bc66845f0df34c56b14cdc9df636</a:t>
            </a:r>
            <a:endParaRPr/>
          </a:p>
        </p:txBody>
      </p:sp>
      <p:sp>
        <p:nvSpPr>
          <p:cNvPr id="307" name="" descr="{&quot;isTemplate&quot;:true,&quot;type&quot;:&quot;text&quot;}"/>
          <p:cNvSpPr txBox="1"/>
          <p:nvPr/>
        </p:nvSpPr>
        <p:spPr>
          <a:xfrm rot="0" flipH="0" flipV="0">
            <a:off x="857250" y="3219450"/>
            <a:ext cx="5372100" cy="142875"/>
          </a:xfrm>
          <a:prstGeom prst="rect"/>
        </p:spPr>
        <p:txBody>
          <a:bodyPr wrap="none" lIns="0" tIns="0" rIns="0" bIns="0"/>
          <a:p>
            <a:pPr>
              <a:lnSpc>
                <a:spcPct val="100000"/>
              </a:lnSpc>
            </a:pPr>
            <a:r>
              <a:rPr lang="en-US" sz="900" spc="150">
                <a:solidFill>
                  <a:srgbClr val="F7F1E8">
                    <a:alpha val="50000"/>
                  </a:srgbClr>
                </a:solidFill>
                <a:latin typeface="Microsoft YaHei"/>
                <a:ea typeface="Microsoft YaHei"/>
              </a:rPr>
              <a:t>REVEALED AFTER CLOSE</a:t>
            </a:r>
            <a:endParaRPr/>
          </a:p>
        </p:txBody>
      </p:sp>
      <p:sp>
        <p:nvSpPr>
          <p:cNvPr id="308" name="" descr="{&quot;isTemplate&quot;:true,&quot;type&quot;:&quot;text&quot;}"/>
          <p:cNvSpPr txBox="1"/>
          <p:nvPr/>
        </p:nvSpPr>
        <p:spPr>
          <a:xfrm rot="0" flipH="0" flipV="0">
            <a:off x="857250" y="3457575"/>
            <a:ext cx="5372100" cy="161925"/>
          </a:xfrm>
          <a:prstGeom prst="rect"/>
        </p:spPr>
        <p:txBody>
          <a:bodyPr wrap="none" lIns="0" tIns="0" rIns="0" bIns="0"/>
          <a:p>
            <a:pPr>
              <a:lnSpc>
                <a:spcPct val="100000"/>
              </a:lnSpc>
            </a:pPr>
            <a:r>
              <a:rPr lang="en-US" sz="1050" spc="45">
                <a:solidFill>
                  <a:srgbClr val="F7F1E8"/>
                </a:solidFill>
                <a:latin typeface="Microsoft YaHei"/>
                <a:ea typeface="Microsoft YaHei"/>
              </a:rPr>
              <a:t>demo-ONXBW-42</a:t>
            </a:r>
            <a:endParaRPr/>
          </a:p>
        </p:txBody>
      </p:sp>
      <p:sp>
        <p:nvSpPr>
          <p:cNvPr id="309" name="" descr="{&quot;isTemplate&quot;:true,&quot;type&quot;:&quot;text&quot;}"/>
          <p:cNvSpPr txBox="1"/>
          <p:nvPr/>
        </p:nvSpPr>
        <p:spPr>
          <a:xfrm rot="0" flipH="0" flipV="0">
            <a:off x="685800" y="5276850"/>
            <a:ext cx="1657350" cy="457200"/>
          </a:xfrm>
          <a:prstGeom prst="rect"/>
        </p:spPr>
        <p:txBody>
          <a:bodyPr wrap="none" lIns="0" tIns="0" rIns="0" bIns="0"/>
          <a:p>
            <a:pPr>
              <a:lnSpc>
                <a:spcPct val="100000"/>
              </a:lnSpc>
            </a:pPr>
            <a:r>
              <a:rPr lang="en-US" sz="3000" b="1">
                <a:solidFill>
                  <a:srgbClr val="F7F1E8"/>
                </a:solidFill>
                <a:latin typeface="Microsoft YaHei"/>
                <a:ea typeface="Microsoft YaHei"/>
              </a:rPr>
              <a:t>12</a:t>
            </a:r>
            <a:endParaRPr/>
          </a:p>
        </p:txBody>
      </p:sp>
      <p:sp>
        <p:nvSpPr>
          <p:cNvPr id="310" name="" descr="{&quot;isTemplate&quot;:true,&quot;type&quot;:&quot;text&quot;}"/>
          <p:cNvSpPr txBox="1"/>
          <p:nvPr/>
        </p:nvSpPr>
        <p:spPr>
          <a:xfrm rot="0" flipH="0" flipV="0">
            <a:off x="685800" y="5753100"/>
            <a:ext cx="1657350" cy="152400"/>
          </a:xfrm>
          <a:prstGeom prst="rect"/>
        </p:spPr>
        <p:txBody>
          <a:bodyPr wrap="none" lIns="0" tIns="0" rIns="0" bIns="0"/>
          <a:p>
            <a:pPr>
              <a:lnSpc>
                <a:spcPct val="100000"/>
              </a:lnSpc>
            </a:pPr>
            <a:r>
              <a:rPr lang="en-US" sz="975" spc="90">
                <a:solidFill>
                  <a:srgbClr val="F7F1E8">
                    <a:alpha val="55000"/>
                  </a:srgbClr>
                </a:solidFill>
                <a:latin typeface="Microsoft YaHei"/>
                <a:ea typeface="Microsoft YaHei"/>
              </a:rPr>
              <a:t>ENGINE TESTS PASSING</a:t>
            </a:r>
            <a:endParaRPr/>
          </a:p>
        </p:txBody>
      </p:sp>
      <p:sp>
        <p:nvSpPr>
          <p:cNvPr id="311" name="" descr="{&quot;isTemplate&quot;:true,&quot;type&quot;:&quot;text&quot;}"/>
          <p:cNvSpPr txBox="1"/>
          <p:nvPr/>
        </p:nvSpPr>
        <p:spPr>
          <a:xfrm rot="0" flipH="0" flipV="0">
            <a:off x="2628900" y="5276850"/>
            <a:ext cx="1704975" cy="457200"/>
          </a:xfrm>
          <a:prstGeom prst="rect"/>
        </p:spPr>
        <p:txBody>
          <a:bodyPr wrap="none" lIns="0" tIns="0" rIns="0" bIns="0"/>
          <a:p>
            <a:pPr>
              <a:lnSpc>
                <a:spcPct val="100000"/>
              </a:lnSpc>
            </a:pPr>
            <a:r>
              <a:rPr lang="en-US" sz="3000" b="1">
                <a:solidFill>
                  <a:srgbClr val="F7F1E8"/>
                </a:solidFill>
                <a:latin typeface="Microsoft YaHei"/>
                <a:ea typeface="Microsoft YaHei"/>
              </a:rPr>
              <a:t>0</a:t>
            </a:r>
            <a:endParaRPr/>
          </a:p>
        </p:txBody>
      </p:sp>
      <p:sp>
        <p:nvSpPr>
          <p:cNvPr id="312" name="" descr="{&quot;isTemplate&quot;:true,&quot;type&quot;:&quot;text&quot;}"/>
          <p:cNvSpPr txBox="1"/>
          <p:nvPr/>
        </p:nvSpPr>
        <p:spPr>
          <a:xfrm rot="0" flipH="0" flipV="0">
            <a:off x="2628900" y="5753100"/>
            <a:ext cx="1704975" cy="152400"/>
          </a:xfrm>
          <a:prstGeom prst="rect"/>
        </p:spPr>
        <p:txBody>
          <a:bodyPr wrap="none" lIns="0" tIns="0" rIns="0" bIns="0"/>
          <a:p>
            <a:pPr>
              <a:lnSpc>
                <a:spcPct val="100000"/>
              </a:lnSpc>
            </a:pPr>
            <a:r>
              <a:rPr lang="en-US" sz="975" spc="90">
                <a:solidFill>
                  <a:srgbClr val="F7F1E8">
                    <a:alpha val="55000"/>
                  </a:srgbClr>
                </a:solidFill>
                <a:latin typeface="Microsoft YaHei"/>
                <a:ea typeface="Microsoft YaHei"/>
              </a:rPr>
              <a:t>INVARIANT VIOLATIONS</a:t>
            </a:r>
            <a:endParaRPr/>
          </a:p>
        </p:txBody>
      </p:sp>
      <p:sp>
        <p:nvSpPr>
          <p:cNvPr id="313" name="" descr="{&quot;isTemplate&quot;:true,&quot;type&quot;:&quot;text&quot;}"/>
          <p:cNvSpPr txBox="1"/>
          <p:nvPr/>
        </p:nvSpPr>
        <p:spPr>
          <a:xfrm rot="0" flipH="0" flipV="0">
            <a:off x="4619625" y="5276850"/>
            <a:ext cx="1676400" cy="457200"/>
          </a:xfrm>
          <a:prstGeom prst="rect"/>
        </p:spPr>
        <p:txBody>
          <a:bodyPr wrap="none" lIns="0" tIns="0" rIns="0" bIns="0"/>
          <a:p>
            <a:pPr>
              <a:lnSpc>
                <a:spcPct val="100000"/>
              </a:lnSpc>
            </a:pPr>
            <a:r>
              <a:rPr lang="en-US" sz="3000" b="1">
                <a:solidFill>
                  <a:srgbClr val="F7F1E8"/>
                </a:solidFill>
                <a:latin typeface="Microsoft YaHei"/>
                <a:ea typeface="Microsoft YaHei"/>
              </a:rPr>
              <a:t>34</a:t>
            </a:r>
            <a:endParaRPr/>
          </a:p>
        </p:txBody>
      </p:sp>
      <p:sp>
        <p:nvSpPr>
          <p:cNvPr id="314" name="" descr="{&quot;isTemplate&quot;:true,&quot;type&quot;:&quot;text&quot;}"/>
          <p:cNvSpPr txBox="1"/>
          <p:nvPr/>
        </p:nvSpPr>
        <p:spPr>
          <a:xfrm rot="0" flipH="0" flipV="0">
            <a:off x="4619625" y="5753100"/>
            <a:ext cx="1676400" cy="152400"/>
          </a:xfrm>
          <a:prstGeom prst="rect"/>
        </p:spPr>
        <p:txBody>
          <a:bodyPr wrap="none" lIns="0" tIns="0" rIns="0" bIns="0"/>
          <a:p>
            <a:pPr>
              <a:lnSpc>
                <a:spcPct val="100000"/>
              </a:lnSpc>
            </a:pPr>
            <a:r>
              <a:rPr lang="en-US" sz="975" spc="90">
                <a:solidFill>
                  <a:srgbClr val="F7F1E8">
                    <a:alpha val="55000"/>
                  </a:srgbClr>
                </a:solidFill>
                <a:latin typeface="Microsoft YaHei"/>
                <a:ea typeface="Microsoft YaHei"/>
              </a:rPr>
              <a:t>LOG ENTRIES REPLAYED</a:t>
            </a:r>
            <a:endParaRPr/>
          </a:p>
        </p:txBody>
      </p:sp>
      <p:sp>
        <p:nvSpPr>
          <p:cNvPr id="315" name=""/>
          <p:cNvSpPr/>
          <p:nvPr/>
        </p:nvSpPr>
        <p:spPr>
          <a:xfrm rot="0" flipH="0" flipV="0">
            <a:off x="6781800" y="1333500"/>
            <a:ext cx="4038600" cy="3810000"/>
          </a:xfrm>
          <a:prstGeom prst="rect">
            <a:avLst/>
          </a:prstGeom>
          <a:ln w="12700">
            <a:solidFill>
              <a:srgbClr val="F7F1E8">
                <a:alpha val="14000"/>
              </a:srgbClr>
            </a:solidFill>
            <a:prstDash val="solid"/>
          </a:ln>
        </p:spPr>
        <p:txBody>
          <a:bodyPr/>
          <a:p>
            <a:pPr/>
            <a:endParaRPr/>
          </a:p>
        </p:txBody>
      </p:sp>
      <p:pic>
        <p:nvPicPr>
          <p:cNvPr id="316" name=""/>
          <p:cNvPicPr>
            <a:picLocks noChangeAspect="1"/>
          </p:cNvPicPr>
          <p:nvPr/>
        </p:nvPicPr>
        <p:blipFill>
          <a:blip r:embed="rId1"/>
          <a:srcRect l="5391" t="0" r="5391" b="0"/>
          <a:stretch>
            <a:fillRect/>
          </a:stretch>
        </p:blipFill>
        <p:spPr>
          <a:xfrm rot="0" flipH="0" flipV="0">
            <a:off x="6781800" y="1333500"/>
            <a:ext cx="4038600" cy="3810000"/>
          </a:xfrm>
          <a:prstGeom prst="roundRect">
            <a:avLst>
              <a:gd name="adj" fmla="val 2500"/>
            </a:avLst>
          </a:prstGeom>
          <a:ln/>
        </p:spPr>
      </p:pic>
      <p:sp>
        <p:nvSpPr>
          <p:cNvPr id="317" name="" descr="{&quot;isTemplate&quot;:true,&quot;type&quot;:&quot;text&quot;}"/>
          <p:cNvSpPr txBox="1"/>
          <p:nvPr/>
        </p:nvSpPr>
        <p:spPr>
          <a:xfrm rot="0" flipH="0" flipV="0">
            <a:off x="6781800" y="5257800"/>
            <a:ext cx="4724400" cy="485775"/>
          </a:xfrm>
          <a:prstGeom prst="rect"/>
        </p:spPr>
        <p:txBody>
          <a:bodyPr wrap="square" lIns="0" tIns="0" rIns="0" bIns="0">
            <a:normAutofit/>
          </a:bodyPr>
          <a:p>
            <a:pPr>
              <a:lnSpc>
                <a:spcPct val="150000"/>
              </a:lnSpc>
            </a:pPr>
            <a:r>
              <a:rPr lang="en-US" sz="1050">
                <a:solidFill>
                  <a:srgbClr val="F7F1E8">
                    <a:alpha val="55000"/>
                  </a:srgbClr>
                </a:solidFill>
                <a:latin typeface="Microsoft YaHei"/>
                <a:ea typeface="Microsoft YaHei"/>
              </a:rPr>
              <a:t>The replay screen, live: scrub the tape, watch the equity curves, confirm the hash.</a:t>
            </a:r>
            <a:endParaRPr/>
          </a:p>
        </p:txBody>
      </p:sp>
      <p:sp>
        <p:nvSpPr>
          <p:cNvPr id="318" name=""/>
          <p:cNvSpPr/>
          <p:nvPr/>
        </p:nvSpPr>
        <p:spPr>
          <a:xfrm rot="0" flipH="0" flipV="0">
            <a:off x="685800" y="6096000"/>
            <a:ext cx="10820400" cy="571500"/>
          </a:xfrm>
          <a:custGeom>
            <a:pathLst>
              <a:path w="1136" h="60">
                <a:moveTo>
                  <a:pt x="0" y="0"/>
                </a:moveTo>
                <a:lnTo>
                  <a:pt x="1136" y="0"/>
                </a:lnTo>
                <a:lnTo>
                  <a:pt x="1136" y="1"/>
                </a:lnTo>
                <a:lnTo>
                  <a:pt x="0" y="1"/>
                </a:lnTo>
                <a:close/>
              </a:path>
            </a:pathLst>
          </a:custGeom>
          <a:solidFill>
            <a:srgbClr val="F7F1E8">
              <a:alpha val="10000"/>
            </a:srgbClr>
          </a:solidFill>
          <a:ln/>
        </p:spPr>
        <p:txBody>
          <a:bodyPr/>
          <a:p>
            <a:pPr/>
            <a:endParaRPr/>
          </a:p>
        </p:txBody>
      </p:sp>
      <p:sp>
        <p:nvSpPr>
          <p:cNvPr id="319" name="" descr="{&quot;isTemplate&quot;:true,&quot;type&quot;:&quot;text&quot;}"/>
          <p:cNvSpPr txBox="1"/>
          <p:nvPr/>
        </p:nvSpPr>
        <p:spPr>
          <a:xfrm rot="0" flipH="0" flipV="0">
            <a:off x="685800" y="6515100"/>
            <a:ext cx="2819400" cy="152400"/>
          </a:xfrm>
          <a:prstGeom prst="rect"/>
        </p:spPr>
        <p:txBody>
          <a:bodyPr wrap="none" lIns="0" tIns="0" rIns="0" bIns="0"/>
          <a:p>
            <a:pPr>
              <a:lnSpc>
                <a:spcPct val="100000"/>
              </a:lnSpc>
            </a:pPr>
            <a:r>
              <a:rPr lang="en-US" sz="975">
                <a:solidFill>
                  <a:srgbClr val="F7F1E8">
                    <a:alpha val="45000"/>
                  </a:srgbClr>
                </a:solidFill>
                <a:latin typeface="Microsoft YaHei"/>
                <a:ea typeface="Microsoft YaHei"/>
              </a:rPr>
              <a:t>BROKE VEGAS · fictional markets, virtual money</a:t>
            </a:r>
            <a:endParaRPr/>
          </a:p>
        </p:txBody>
      </p:sp>
      <p:sp>
        <p:nvSpPr>
          <p:cNvPr id="320" name="" descr="{&quot;isTemplate&quot;:true,&quot;type&quot;:&quot;text&quot;}"/>
          <p:cNvSpPr txBox="1"/>
          <p:nvPr/>
        </p:nvSpPr>
        <p:spPr>
          <a:xfrm rot="0" flipH="0" flipV="0">
            <a:off x="11087100" y="6515100"/>
            <a:ext cx="419100" cy="152400"/>
          </a:xfrm>
          <a:prstGeom prst="rect"/>
        </p:spPr>
        <p:txBody>
          <a:bodyPr wrap="none" lIns="0" tIns="0" rIns="0" bIns="0"/>
          <a:p>
            <a:pPr>
              <a:lnSpc>
                <a:spcPct val="100000"/>
              </a:lnSpc>
            </a:pPr>
            <a:r>
              <a:rPr lang="en-US" sz="975">
                <a:solidFill>
                  <a:srgbClr val="F7F1E8">
                    <a:alpha val="45000"/>
                  </a:srgbClr>
                </a:solidFill>
                <a:latin typeface="Microsoft YaHei"/>
                <a:ea typeface="Microsoft YaHei"/>
              </a:rPr>
              <a:t>09 / 12</a:t>
            </a:r>
            <a:endParaRPr/>
          </a:p>
        </p:txBody>
      </p:sp>
    </p:spTree>
  </p:cSld>
</p:sld>
</file>

<file path=ppt/slides/slide10.xml><?xml version="1.0" encoding="utf-8"?>
<p:sld xmlns:p="http://schemas.openxmlformats.org/presentationml/2006/main" xmlns:a="http://schemas.openxmlformats.org/drawingml/2006/main">
  <p:cSld>
    <p:spTree>
      <p:nvGrpSpPr>
        <p:cNvPr id="21" name=""/>
        <p:cNvGrpSpPr/>
        <p:nvPr/>
      </p:nvGrpSpPr>
      <p:grpSpPr>
        <a:xfrm>
          <a:off x="0" y="0"/>
          <a:ext cx="0" cy="0"/>
          <a:chOff x="0" y="0"/>
          <a:chExt cx="0" cy="0"/>
        </a:xfrm>
      </p:grpSpPr>
      <p:sp>
        <p:nvSpPr>
          <p:cNvPr id="22" name=""/>
          <p:cNvSpPr/>
          <p:nvPr/>
        </p:nvSpPr>
        <p:spPr>
          <a:xfrm rot="0" flipH="0" flipV="0">
            <a:off x="0" y="0"/>
            <a:ext cx="12192000" cy="6858000"/>
          </a:xfrm>
          <a:prstGeom prst="rect">
            <a:avLst/>
          </a:prstGeom>
          <a:solidFill>
            <a:srgbClr val="07060B"/>
          </a:solidFill>
          <a:ln/>
        </p:spPr>
        <p:txBody>
          <a:bodyPr/>
          <a:p>
            <a:pPr/>
            <a:endParaRPr/>
          </a:p>
        </p:txBody>
      </p:sp>
      <p:sp>
        <p:nvSpPr>
          <p:cNvPr id="23" name="" descr="{&quot;isTemplate&quot;:true,&quot;type&quot;:&quot;text&quot;}"/>
          <p:cNvSpPr txBox="1"/>
          <p:nvPr/>
        </p:nvSpPr>
        <p:spPr>
          <a:xfrm rot="0" flipH="0" flipV="0">
            <a:off x="685800" y="190500"/>
            <a:ext cx="4152900" cy="142875"/>
          </a:xfrm>
          <a:prstGeom prst="rect"/>
        </p:spPr>
        <p:txBody>
          <a:bodyPr wrap="none" lIns="0" tIns="0" rIns="0" bIns="0"/>
          <a:p>
            <a:pPr>
              <a:lnSpc>
                <a:spcPct val="100000"/>
              </a:lnSpc>
            </a:pPr>
            <a:r>
              <a:rPr lang="en-US" sz="900" b="1" spc="180">
                <a:solidFill>
                  <a:srgbClr val="F2C96D"/>
                </a:solidFill>
                <a:latin typeface="Microsoft YaHei"/>
                <a:ea typeface="Microsoft YaHei"/>
              </a:rPr>
              <a:t>ARCHITECTURE</a:t>
            </a:r>
            <a:endParaRPr/>
          </a:p>
        </p:txBody>
      </p:sp>
      <p:sp>
        <p:nvSpPr>
          <p:cNvPr id="24" name="" descr="{&quot;isTemplate&quot;:true,&quot;type&quot;:&quot;text&quot;}"/>
          <p:cNvSpPr txBox="1"/>
          <p:nvPr/>
        </p:nvSpPr>
        <p:spPr>
          <a:xfrm rot="0" flipH="0" flipV="0">
            <a:off x="685800" y="409575"/>
            <a:ext cx="4152900" cy="485775"/>
          </a:xfrm>
          <a:prstGeom prst="rect"/>
        </p:spPr>
        <p:txBody>
          <a:bodyPr wrap="none" lIns="0" tIns="0" rIns="0" bIns="0"/>
          <a:p>
            <a:pPr>
              <a:lnSpc>
                <a:spcPct val="110000"/>
              </a:lnSpc>
            </a:pPr>
            <a:r>
              <a:rPr lang="en-US" sz="2850">
                <a:solidFill>
                  <a:srgbClr val="F7F1E8"/>
                </a:solidFill>
                <a:latin typeface="Impact"/>
                <a:ea typeface="Impact"/>
              </a:rPr>
              <a:t>Four layers, one job each.</a:t>
            </a:r>
            <a:endParaRPr/>
          </a:p>
        </p:txBody>
      </p:sp>
      <p:sp>
        <p:nvSpPr>
          <p:cNvPr id="25" name="" descr="{&quot;isTemplate&quot;:true,&quot;type&quot;:&quot;text&quot;}"/>
          <p:cNvSpPr txBox="1"/>
          <p:nvPr/>
        </p:nvSpPr>
        <p:spPr>
          <a:xfrm rot="0" flipH="0" flipV="0">
            <a:off x="9725025" y="190500"/>
            <a:ext cx="1781175" cy="209550"/>
          </a:xfrm>
          <a:prstGeom prst="rect"/>
        </p:spPr>
        <p:txBody>
          <a:bodyPr wrap="none" lIns="0" tIns="42863" rIns="0" bIns="0"/>
          <a:p>
            <a:pPr>
              <a:lnSpc>
                <a:spcPct val="100000"/>
              </a:lnSpc>
            </a:pPr>
            <a:r>
              <a:rPr lang="en-US" sz="975" spc="120">
                <a:solidFill>
                  <a:srgbClr val="F7F1E8">
                    <a:alpha val="50000"/>
                  </a:srgbClr>
                </a:solidFill>
                <a:latin typeface="Microsoft YaHei"/>
                <a:ea typeface="Microsoft YaHei"/>
              </a:rPr>
              <a:t>THE SEAM IS THE POINT</a:t>
            </a:r>
            <a:endParaRPr/>
          </a:p>
        </p:txBody>
      </p:sp>
      <p:sp>
        <p:nvSpPr>
          <p:cNvPr id="26" name=""/>
          <p:cNvSpPr/>
          <p:nvPr/>
        </p:nvSpPr>
        <p:spPr>
          <a:xfrm rot="0" flipH="0" flipV="0">
            <a:off x="685800" y="1333500"/>
            <a:ext cx="9906000" cy="914400"/>
          </a:xfrm>
          <a:prstGeom prst="roundRect">
            <a:avLst>
              <a:gd name="adj" fmla="val 8333"/>
            </a:avLst>
          </a:prstGeom>
          <a:solidFill>
            <a:srgbClr val="F7F1E8">
              <a:alpha val="5500"/>
            </a:srgbClr>
          </a:solidFill>
          <a:ln w="12700">
            <a:solidFill>
              <a:srgbClr val="F7F1E8">
                <a:alpha val="12000"/>
              </a:srgbClr>
            </a:solidFill>
            <a:prstDash val="solid"/>
          </a:ln>
        </p:spPr>
        <p:txBody>
          <a:bodyPr/>
          <a:p>
            <a:pPr/>
            <a:endParaRPr/>
          </a:p>
        </p:txBody>
      </p:sp>
      <p:sp>
        <p:nvSpPr>
          <p:cNvPr id="27" name="" descr="{&quot;isTemplate&quot;:true,&quot;type&quot;:&quot;text&quot;}"/>
          <p:cNvSpPr txBox="1"/>
          <p:nvPr/>
        </p:nvSpPr>
        <p:spPr>
          <a:xfrm rot="0" flipH="0" flipV="0">
            <a:off x="933450" y="1571625"/>
            <a:ext cx="5419725" cy="133350"/>
          </a:xfrm>
          <a:prstGeom prst="rect"/>
        </p:spPr>
        <p:txBody>
          <a:bodyPr wrap="none" lIns="0" tIns="0" rIns="0" bIns="0"/>
          <a:p>
            <a:pPr>
              <a:lnSpc>
                <a:spcPct val="100000"/>
              </a:lnSpc>
            </a:pPr>
            <a:r>
              <a:rPr lang="en-US" sz="825" b="1" spc="165">
                <a:solidFill>
                  <a:srgbClr val="F2C96D"/>
                </a:solidFill>
                <a:latin typeface="Microsoft YaHei"/>
                <a:ea typeface="Microsoft YaHei"/>
              </a:rPr>
              <a:t>01 · INTERFACE</a:t>
            </a:r>
            <a:endParaRPr/>
          </a:p>
        </p:txBody>
      </p:sp>
      <p:sp>
        <p:nvSpPr>
          <p:cNvPr id="28" name="" descr="{&quot;isTemplate&quot;:true,&quot;type&quot;:&quot;text&quot;}"/>
          <p:cNvSpPr txBox="1"/>
          <p:nvPr/>
        </p:nvSpPr>
        <p:spPr>
          <a:xfrm rot="0" flipH="0" flipV="0">
            <a:off x="933450" y="1762125"/>
            <a:ext cx="5419725" cy="257175"/>
          </a:xfrm>
          <a:prstGeom prst="rect"/>
        </p:spPr>
        <p:txBody>
          <a:bodyPr wrap="none" lIns="0" tIns="0" rIns="0" bIns="0"/>
          <a:p>
            <a:pPr>
              <a:lnSpc>
                <a:spcPct val="100000"/>
              </a:lnSpc>
            </a:pPr>
            <a:r>
              <a:rPr lang="en-US" sz="1650" b="1">
                <a:solidFill>
                  <a:srgbClr val="F7F1E8"/>
                </a:solidFill>
                <a:latin typeface="Microsoft YaHei"/>
                <a:ea typeface="Microsoft YaHei"/>
              </a:rPr>
              <a:t>Next.js App Router · terminal, lobby, results, replay</a:t>
            </a:r>
            <a:endParaRPr/>
          </a:p>
        </p:txBody>
      </p:sp>
      <p:sp>
        <p:nvSpPr>
          <p:cNvPr id="29" name="" descr="{&quot;isTemplate&quot;:true,&quot;type&quot;:&quot;text&quot;}"/>
          <p:cNvSpPr txBox="1"/>
          <p:nvPr/>
        </p:nvSpPr>
        <p:spPr>
          <a:xfrm rot="0" flipH="0" flipV="0">
            <a:off x="8058150" y="1628775"/>
            <a:ext cx="2286000" cy="323850"/>
          </a:xfrm>
          <a:prstGeom prst="rect"/>
        </p:spPr>
        <p:txBody>
          <a:bodyPr wrap="square" lIns="0" tIns="0" rIns="0" bIns="0">
            <a:normAutofit/>
          </a:bodyPr>
          <a:p>
            <a:pPr algn="r">
              <a:lnSpc>
                <a:spcPct val="100000"/>
              </a:lnSpc>
            </a:pPr>
            <a:r>
              <a:rPr lang="en-US" sz="1050">
                <a:solidFill>
                  <a:srgbClr val="F7F1E8">
                    <a:alpha val="55000"/>
                  </a:srgbClr>
                </a:solidFill>
                <a:latin typeface="Microsoft YaHei"/>
                <a:ea typeface="Microsoft YaHei"/>
              </a:rPr>
              <a:t>Server shell, client state. No data fetching in the terminal loop.</a:t>
            </a:r>
            <a:endParaRPr/>
          </a:p>
        </p:txBody>
      </p:sp>
      <p:sp>
        <p:nvSpPr>
          <p:cNvPr id="30" name=""/>
          <p:cNvSpPr/>
          <p:nvPr/>
        </p:nvSpPr>
        <p:spPr>
          <a:xfrm rot="0" flipH="0" flipV="0">
            <a:off x="1066800" y="2419350"/>
            <a:ext cx="9144000" cy="914400"/>
          </a:xfrm>
          <a:prstGeom prst="roundRect">
            <a:avLst>
              <a:gd name="adj" fmla="val 8333"/>
            </a:avLst>
          </a:prstGeom>
          <a:solidFill>
            <a:srgbClr val="F7F1E8">
              <a:alpha val="5500"/>
            </a:srgbClr>
          </a:solidFill>
          <a:ln w="12700">
            <a:solidFill>
              <a:srgbClr val="F7F1E8">
                <a:alpha val="12000"/>
              </a:srgbClr>
            </a:solidFill>
            <a:prstDash val="solid"/>
          </a:ln>
        </p:spPr>
        <p:txBody>
          <a:bodyPr/>
          <a:p>
            <a:pPr/>
            <a:endParaRPr/>
          </a:p>
        </p:txBody>
      </p:sp>
      <p:sp>
        <p:nvSpPr>
          <p:cNvPr id="31" name="" descr="{&quot;isTemplate&quot;:true,&quot;type&quot;:&quot;text&quot;}"/>
          <p:cNvSpPr txBox="1"/>
          <p:nvPr/>
        </p:nvSpPr>
        <p:spPr>
          <a:xfrm rot="0" flipH="0" flipV="0">
            <a:off x="1314450" y="2657475"/>
            <a:ext cx="5314950" cy="133350"/>
          </a:xfrm>
          <a:prstGeom prst="rect"/>
        </p:spPr>
        <p:txBody>
          <a:bodyPr wrap="none" lIns="0" tIns="0" rIns="0" bIns="0"/>
          <a:p>
            <a:pPr>
              <a:lnSpc>
                <a:spcPct val="100000"/>
              </a:lnSpc>
            </a:pPr>
            <a:r>
              <a:rPr lang="en-US" sz="825" b="1" spc="165">
                <a:solidFill>
                  <a:srgbClr val="F2C96D"/>
                </a:solidFill>
                <a:latin typeface="Microsoft YaHei"/>
                <a:ea typeface="Microsoft YaHei"/>
              </a:rPr>
              <a:t>02 · GATEWAY</a:t>
            </a:r>
            <a:endParaRPr/>
          </a:p>
        </p:txBody>
      </p:sp>
      <p:sp>
        <p:nvSpPr>
          <p:cNvPr id="32" name="" descr="{&quot;isTemplate&quot;:true,&quot;type&quot;:&quot;text&quot;}"/>
          <p:cNvSpPr txBox="1"/>
          <p:nvPr/>
        </p:nvSpPr>
        <p:spPr>
          <a:xfrm rot="0" flipH="0" flipV="0">
            <a:off x="1314450" y="2847975"/>
            <a:ext cx="5314950" cy="257175"/>
          </a:xfrm>
          <a:prstGeom prst="rect"/>
        </p:spPr>
        <p:txBody>
          <a:bodyPr wrap="none" lIns="0" tIns="0" rIns="0" bIns="0"/>
          <a:p>
            <a:pPr>
              <a:lnSpc>
                <a:spcPct val="100000"/>
              </a:lnSpc>
            </a:pPr>
            <a:r>
              <a:rPr lang="en-US" sz="1650" b="1">
                <a:solidFill>
                  <a:srgbClr val="F7F1E8"/>
                </a:solidFill>
                <a:latin typeface="Microsoft YaHei"/>
                <a:ea typeface="Microsoft YaHei"/>
              </a:rPr>
              <a:t>Web Worker · one interface, two implementations</a:t>
            </a:r>
            <a:endParaRPr/>
          </a:p>
        </p:txBody>
      </p:sp>
      <p:sp>
        <p:nvSpPr>
          <p:cNvPr id="33" name="" descr="{&quot;isTemplate&quot;:true,&quot;type&quot;:&quot;text&quot;}"/>
          <p:cNvSpPr txBox="1"/>
          <p:nvPr/>
        </p:nvSpPr>
        <p:spPr>
          <a:xfrm rot="0" flipH="0" flipV="0">
            <a:off x="7772400" y="2714625"/>
            <a:ext cx="2190750" cy="323850"/>
          </a:xfrm>
          <a:prstGeom prst="rect"/>
        </p:spPr>
        <p:txBody>
          <a:bodyPr wrap="square" lIns="0" tIns="0" rIns="0" bIns="0">
            <a:normAutofit/>
          </a:bodyPr>
          <a:p>
            <a:pPr algn="r">
              <a:lnSpc>
                <a:spcPct val="100000"/>
              </a:lnSpc>
            </a:pPr>
            <a:r>
              <a:rPr lang="en-US" sz="1050">
                <a:solidFill>
                  <a:srgbClr val="F7F1E8">
                    <a:alpha val="55000"/>
                  </a:srgbClr>
                </a:solidFill>
                <a:latin typeface="Microsoft YaHei"/>
                <a:ea typeface="Microsoft YaHei"/>
              </a:rPr>
              <a:t>Demo Mode runs the engine in the browser, off the main thread.</a:t>
            </a:r>
            <a:endParaRPr/>
          </a:p>
        </p:txBody>
      </p:sp>
      <p:sp>
        <p:nvSpPr>
          <p:cNvPr id="34" name=""/>
          <p:cNvSpPr/>
          <p:nvPr/>
        </p:nvSpPr>
        <p:spPr>
          <a:xfrm rot="0" flipH="0" flipV="0">
            <a:off x="1447800" y="3495675"/>
            <a:ext cx="8382000" cy="914400"/>
          </a:xfrm>
          <a:prstGeom prst="roundRect">
            <a:avLst>
              <a:gd name="adj" fmla="val 8333"/>
            </a:avLst>
          </a:prstGeom>
          <a:solidFill>
            <a:srgbClr val="E73555">
              <a:alpha val="10000"/>
            </a:srgbClr>
          </a:solidFill>
          <a:ln w="12700">
            <a:solidFill>
              <a:srgbClr val="E73555">
                <a:alpha val="32000"/>
              </a:srgbClr>
            </a:solidFill>
            <a:prstDash val="solid"/>
          </a:ln>
        </p:spPr>
        <p:txBody>
          <a:bodyPr/>
          <a:p>
            <a:pPr/>
            <a:endParaRPr/>
          </a:p>
        </p:txBody>
      </p:sp>
      <p:sp>
        <p:nvSpPr>
          <p:cNvPr id="35" name="" descr="{&quot;isTemplate&quot;:true,&quot;type&quot;:&quot;text&quot;}"/>
          <p:cNvSpPr txBox="1"/>
          <p:nvPr/>
        </p:nvSpPr>
        <p:spPr>
          <a:xfrm rot="0" flipH="0" flipV="0">
            <a:off x="1695450" y="3733800"/>
            <a:ext cx="4752975" cy="133350"/>
          </a:xfrm>
          <a:prstGeom prst="rect"/>
        </p:spPr>
        <p:txBody>
          <a:bodyPr wrap="none" lIns="0" tIns="0" rIns="0" bIns="0"/>
          <a:p>
            <a:pPr>
              <a:lnSpc>
                <a:spcPct val="100000"/>
              </a:lnSpc>
            </a:pPr>
            <a:r>
              <a:rPr lang="en-US" sz="825" b="1" spc="165">
                <a:solidFill>
                  <a:srgbClr val="E73555"/>
                </a:solidFill>
                <a:latin typeface="Microsoft YaHei"/>
                <a:ea typeface="Microsoft YaHei"/>
              </a:rPr>
              <a:t>03 · ENGINE</a:t>
            </a:r>
            <a:endParaRPr/>
          </a:p>
        </p:txBody>
      </p:sp>
      <p:sp>
        <p:nvSpPr>
          <p:cNvPr id="36" name="" descr="{&quot;isTemplate&quot;:true,&quot;type&quot;:&quot;text&quot;}"/>
          <p:cNvSpPr txBox="1"/>
          <p:nvPr/>
        </p:nvSpPr>
        <p:spPr>
          <a:xfrm rot="0" flipH="0" flipV="0">
            <a:off x="1695450" y="3924300"/>
            <a:ext cx="4752975" cy="257175"/>
          </a:xfrm>
          <a:prstGeom prst="rect"/>
        </p:spPr>
        <p:txBody>
          <a:bodyPr wrap="none" lIns="0" tIns="0" rIns="0" bIns="0"/>
          <a:p>
            <a:pPr>
              <a:lnSpc>
                <a:spcPct val="100000"/>
              </a:lnSpc>
            </a:pPr>
            <a:r>
              <a:rPr lang="en-US" sz="1650" b="1">
                <a:solidFill>
                  <a:srgbClr val="F7F1E8"/>
                </a:solidFill>
                <a:latin typeface="Microsoft YaHei"/>
                <a:ea typeface="Microsoft YaHei"/>
              </a:rPr>
              <a:t>Pure TypeScript · zero runtime dependencies</a:t>
            </a:r>
            <a:endParaRPr/>
          </a:p>
        </p:txBody>
      </p:sp>
      <p:sp>
        <p:nvSpPr>
          <p:cNvPr id="37" name="" descr="{&quot;isTemplate&quot;:true,&quot;type&quot;:&quot;text&quot;}"/>
          <p:cNvSpPr txBox="1"/>
          <p:nvPr/>
        </p:nvSpPr>
        <p:spPr>
          <a:xfrm rot="0" flipH="0" flipV="0">
            <a:off x="7581900" y="3714750"/>
            <a:ext cx="2000250" cy="485775"/>
          </a:xfrm>
          <a:prstGeom prst="rect"/>
        </p:spPr>
        <p:txBody>
          <a:bodyPr wrap="square" lIns="0" tIns="0" rIns="0" bIns="0">
            <a:normAutofit/>
          </a:bodyPr>
          <a:p>
            <a:pPr algn="r">
              <a:lnSpc>
                <a:spcPct val="100000"/>
              </a:lnSpc>
            </a:pPr>
            <a:r>
              <a:rPr lang="en-US" sz="1050">
                <a:solidFill>
                  <a:srgbClr val="F7F1E8">
                    <a:alpha val="60000"/>
                  </a:srgbClr>
                </a:solidFill>
                <a:latin typeface="Microsoft YaHei"/>
                <a:ea typeface="Microsoft YaHei"/>
              </a:rPr>
              <a:t>Prices, matching, accounting, replay. Synchronous and testable.</a:t>
            </a:r>
            <a:endParaRPr/>
          </a:p>
        </p:txBody>
      </p:sp>
      <p:sp>
        <p:nvSpPr>
          <p:cNvPr id="38" name=""/>
          <p:cNvSpPr/>
          <p:nvPr/>
        </p:nvSpPr>
        <p:spPr>
          <a:xfrm rot="0" flipH="0" flipV="0">
            <a:off x="1828800" y="4581525"/>
            <a:ext cx="7620000" cy="914400"/>
          </a:xfrm>
          <a:prstGeom prst="roundRect">
            <a:avLst>
              <a:gd name="adj" fmla="val 8333"/>
            </a:avLst>
          </a:prstGeom>
          <a:solidFill>
            <a:srgbClr val="F7F1E8">
              <a:alpha val="5500"/>
            </a:srgbClr>
          </a:solidFill>
          <a:ln w="12700">
            <a:solidFill>
              <a:srgbClr val="F7F1E8">
                <a:alpha val="12000"/>
              </a:srgbClr>
            </a:solidFill>
            <a:prstDash val="solid"/>
          </a:ln>
        </p:spPr>
        <p:txBody>
          <a:bodyPr/>
          <a:p>
            <a:pPr/>
            <a:endParaRPr/>
          </a:p>
        </p:txBody>
      </p:sp>
      <p:sp>
        <p:nvSpPr>
          <p:cNvPr id="39" name="" descr="{&quot;isTemplate&quot;:true,&quot;type&quot;:&quot;text&quot;}"/>
          <p:cNvSpPr txBox="1"/>
          <p:nvPr/>
        </p:nvSpPr>
        <p:spPr>
          <a:xfrm rot="0" flipH="0" flipV="0">
            <a:off x="2076450" y="4819650"/>
            <a:ext cx="4953000" cy="133350"/>
          </a:xfrm>
          <a:prstGeom prst="rect"/>
        </p:spPr>
        <p:txBody>
          <a:bodyPr wrap="none" lIns="0" tIns="0" rIns="0" bIns="0"/>
          <a:p>
            <a:pPr>
              <a:lnSpc>
                <a:spcPct val="100000"/>
              </a:lnSpc>
            </a:pPr>
            <a:r>
              <a:rPr lang="en-US" sz="825" b="1" spc="165">
                <a:solidFill>
                  <a:srgbClr val="F2C96D"/>
                </a:solidFill>
                <a:latin typeface="Microsoft YaHei"/>
                <a:ea typeface="Microsoft YaHei"/>
              </a:rPr>
              <a:t>04 · DATA</a:t>
            </a:r>
            <a:endParaRPr/>
          </a:p>
        </p:txBody>
      </p:sp>
      <p:sp>
        <p:nvSpPr>
          <p:cNvPr id="40" name="" descr="{&quot;isTemplate&quot;:true,&quot;type&quot;:&quot;text&quot;}"/>
          <p:cNvSpPr txBox="1"/>
          <p:nvPr/>
        </p:nvSpPr>
        <p:spPr>
          <a:xfrm rot="0" flipH="0" flipV="0">
            <a:off x="2076450" y="5010150"/>
            <a:ext cx="4953000" cy="257175"/>
          </a:xfrm>
          <a:prstGeom prst="rect"/>
        </p:spPr>
        <p:txBody>
          <a:bodyPr wrap="none" lIns="0" tIns="0" rIns="0" bIns="0"/>
          <a:p>
            <a:pPr>
              <a:lnSpc>
                <a:spcPct val="100000"/>
              </a:lnSpc>
            </a:pPr>
            <a:r>
              <a:rPr lang="en-US" sz="1650" b="1">
                <a:solidFill>
                  <a:srgbClr val="F7F1E8"/>
                </a:solidFill>
                <a:latin typeface="Microsoft YaHei"/>
                <a:ea typeface="Microsoft YaHei"/>
              </a:rPr>
              <a:t>Supabase Postgres · 15 tables, RLS everywhere</a:t>
            </a:r>
            <a:endParaRPr/>
          </a:p>
        </p:txBody>
      </p:sp>
      <p:sp>
        <p:nvSpPr>
          <p:cNvPr id="41" name="" descr="{&quot;isTemplate&quot;:true,&quot;type&quot;:&quot;text&quot;}"/>
          <p:cNvSpPr txBox="1"/>
          <p:nvPr/>
        </p:nvSpPr>
        <p:spPr>
          <a:xfrm rot="0" flipH="0" flipV="0">
            <a:off x="7391400" y="4876800"/>
            <a:ext cx="1809750" cy="323850"/>
          </a:xfrm>
          <a:prstGeom prst="rect"/>
        </p:spPr>
        <p:txBody>
          <a:bodyPr wrap="square" lIns="0" tIns="0" rIns="0" bIns="0">
            <a:normAutofit/>
          </a:bodyPr>
          <a:p>
            <a:pPr algn="r">
              <a:lnSpc>
                <a:spcPct val="100000"/>
              </a:lnSpc>
            </a:pPr>
            <a:r>
              <a:rPr lang="en-US" sz="1050">
                <a:solidFill>
                  <a:srgbClr val="F7F1E8">
                    <a:alpha val="55000"/>
                  </a:srgbClr>
                </a:solidFill>
                <a:latin typeface="Microsoft YaHei"/>
                <a:ea typeface="Microsoft YaHei"/>
              </a:rPr>
              <a:t>Match secrets have no policy: service role only.</a:t>
            </a:r>
            <a:endParaRPr/>
          </a:p>
        </p:txBody>
      </p:sp>
      <p:sp>
        <p:nvSpPr>
          <p:cNvPr id="42" name=""/>
          <p:cNvSpPr/>
          <p:nvPr/>
        </p:nvSpPr>
        <p:spPr>
          <a:xfrm rot="0" flipH="0" flipV="0">
            <a:off x="685800" y="5657850"/>
            <a:ext cx="10820400" cy="257175"/>
          </a:xfrm>
          <a:custGeom>
            <a:pathLst>
              <a:path w="1136" h="27">
                <a:moveTo>
                  <a:pt x="0" y="0"/>
                </a:moveTo>
                <a:lnTo>
                  <a:pt x="1136" y="0"/>
                </a:lnTo>
                <a:lnTo>
                  <a:pt x="1136" y="1"/>
                </a:lnTo>
                <a:lnTo>
                  <a:pt x="0" y="1"/>
                </a:lnTo>
                <a:close/>
              </a:path>
            </a:pathLst>
          </a:custGeom>
          <a:solidFill>
            <a:srgbClr val="F7F1E8">
              <a:alpha val="10000"/>
            </a:srgbClr>
          </a:solidFill>
          <a:ln/>
        </p:spPr>
        <p:txBody>
          <a:bodyPr/>
          <a:p>
            <a:pPr/>
            <a:endParaRPr/>
          </a:p>
        </p:txBody>
      </p:sp>
      <p:sp>
        <p:nvSpPr>
          <p:cNvPr id="43" name="" descr="{&quot;isTemplate&quot;:true,&quot;type&quot;:&quot;text&quot;}"/>
          <p:cNvSpPr txBox="1"/>
          <p:nvPr/>
        </p:nvSpPr>
        <p:spPr>
          <a:xfrm rot="0" flipH="0" flipV="0">
            <a:off x="685800" y="5772150"/>
            <a:ext cx="1323975" cy="133350"/>
          </a:xfrm>
          <a:prstGeom prst="rect"/>
        </p:spPr>
        <p:txBody>
          <a:bodyPr wrap="none" lIns="0" tIns="0" rIns="0" bIns="0"/>
          <a:p>
            <a:pPr>
              <a:lnSpc>
                <a:spcPct val="100000"/>
              </a:lnSpc>
            </a:pPr>
            <a:r>
              <a:rPr lang="en-US" sz="825" b="1" spc="165">
                <a:solidFill>
                  <a:srgbClr val="F2C96D"/>
                </a:solidFill>
                <a:latin typeface="Microsoft YaHei"/>
                <a:ea typeface="Microsoft YaHei"/>
              </a:rPr>
              <a:t>LOCKED VERSIONS</a:t>
            </a:r>
            <a:endParaRPr/>
          </a:p>
        </p:txBody>
      </p:sp>
      <p:sp>
        <p:nvSpPr>
          <p:cNvPr id="44" name="" descr="{&quot;isTemplate&quot;:true,&quot;type&quot;:&quot;text&quot;}"/>
          <p:cNvSpPr txBox="1"/>
          <p:nvPr/>
        </p:nvSpPr>
        <p:spPr>
          <a:xfrm rot="0" flipH="0" flipV="0">
            <a:off x="4781550" y="5762625"/>
            <a:ext cx="6724650" cy="142875"/>
          </a:xfrm>
          <a:prstGeom prst="rect"/>
        </p:spPr>
        <p:txBody>
          <a:bodyPr wrap="none" lIns="0" tIns="0" rIns="0" bIns="0"/>
          <a:p>
            <a:pPr>
              <a:lnSpc>
                <a:spcPct val="100000"/>
              </a:lnSpc>
            </a:pPr>
            <a:r>
              <a:rPr lang="en-US" sz="900">
                <a:solidFill>
                  <a:srgbClr val="F7F1E8">
                    <a:alpha val="62000"/>
                  </a:srgbClr>
                </a:solidFill>
                <a:latin typeface="Consolas"/>
                <a:ea typeface="Consolas"/>
              </a:rPr>
              <a:t>next 16.4.3 · react 19.3 · typescript 5 · tailwind 4 · three 0.186 · zustand 5 · vitest 5 · playwright 1.64</a:t>
            </a:r>
            <a:endParaRPr/>
          </a:p>
        </p:txBody>
      </p:sp>
      <p:sp>
        <p:nvSpPr>
          <p:cNvPr id="45" name=""/>
          <p:cNvSpPr/>
          <p:nvPr/>
        </p:nvSpPr>
        <p:spPr>
          <a:xfrm rot="0" flipH="0" flipV="0">
            <a:off x="685800" y="6096000"/>
            <a:ext cx="10820400" cy="571500"/>
          </a:xfrm>
          <a:custGeom>
            <a:pathLst>
              <a:path w="1136" h="60">
                <a:moveTo>
                  <a:pt x="0" y="0"/>
                </a:moveTo>
                <a:lnTo>
                  <a:pt x="1136" y="0"/>
                </a:lnTo>
                <a:lnTo>
                  <a:pt x="1136" y="1"/>
                </a:lnTo>
                <a:lnTo>
                  <a:pt x="0" y="1"/>
                </a:lnTo>
                <a:close/>
              </a:path>
            </a:pathLst>
          </a:custGeom>
          <a:solidFill>
            <a:srgbClr val="F7F1E8">
              <a:alpha val="10000"/>
            </a:srgbClr>
          </a:solidFill>
          <a:ln/>
        </p:spPr>
        <p:txBody>
          <a:bodyPr/>
          <a:p>
            <a:pPr/>
            <a:endParaRPr/>
          </a:p>
        </p:txBody>
      </p:sp>
      <p:sp>
        <p:nvSpPr>
          <p:cNvPr id="46" name="" descr="{&quot;isTemplate&quot;:true,&quot;type&quot;:&quot;text&quot;}"/>
          <p:cNvSpPr txBox="1"/>
          <p:nvPr/>
        </p:nvSpPr>
        <p:spPr>
          <a:xfrm rot="0" flipH="0" flipV="0">
            <a:off x="685800" y="6515100"/>
            <a:ext cx="2819400" cy="152400"/>
          </a:xfrm>
          <a:prstGeom prst="rect"/>
        </p:spPr>
        <p:txBody>
          <a:bodyPr wrap="none" lIns="0" tIns="0" rIns="0" bIns="0"/>
          <a:p>
            <a:pPr>
              <a:lnSpc>
                <a:spcPct val="100000"/>
              </a:lnSpc>
            </a:pPr>
            <a:r>
              <a:rPr lang="en-US" sz="975">
                <a:solidFill>
                  <a:srgbClr val="F7F1E8">
                    <a:alpha val="45000"/>
                  </a:srgbClr>
                </a:solidFill>
                <a:latin typeface="Microsoft YaHei"/>
                <a:ea typeface="Microsoft YaHei"/>
              </a:rPr>
              <a:t>BROKE VEGAS · fictional markets, virtual money</a:t>
            </a:r>
            <a:endParaRPr/>
          </a:p>
        </p:txBody>
      </p:sp>
      <p:sp>
        <p:nvSpPr>
          <p:cNvPr id="47" name="" descr="{&quot;isTemplate&quot;:true,&quot;type&quot;:&quot;text&quot;}"/>
          <p:cNvSpPr txBox="1"/>
          <p:nvPr/>
        </p:nvSpPr>
        <p:spPr>
          <a:xfrm rot="0" flipH="0" flipV="0">
            <a:off x="11087100" y="6515100"/>
            <a:ext cx="419100" cy="152400"/>
          </a:xfrm>
          <a:prstGeom prst="rect"/>
        </p:spPr>
        <p:txBody>
          <a:bodyPr wrap="none" lIns="0" tIns="0" rIns="0" bIns="0"/>
          <a:p>
            <a:pPr>
              <a:lnSpc>
                <a:spcPct val="100000"/>
              </a:lnSpc>
            </a:pPr>
            <a:r>
              <a:rPr lang="en-US" sz="975">
                <a:solidFill>
                  <a:srgbClr val="F7F1E8">
                    <a:alpha val="45000"/>
                  </a:srgbClr>
                </a:solidFill>
                <a:latin typeface="Microsoft YaHei"/>
                <a:ea typeface="Microsoft YaHei"/>
              </a:rPr>
              <a:t>10 / 12</a:t>
            </a:r>
            <a:endParaRPr/>
          </a:p>
        </p:txBody>
      </p:sp>
    </p:spTree>
  </p:cSld>
</p:sld>
</file>

<file path=ppt/slides/slide11.xml><?xml version="1.0" encoding="utf-8"?>
<p:sld xmlns:p="http://schemas.openxmlformats.org/presentationml/2006/main" xmlns:a="http://schemas.openxmlformats.org/drawingml/2006/main">
  <p:cSld>
    <p:spTree>
      <p:nvGrpSpPr>
        <p:cNvPr id="48" name="" descr="&lt;Slide style={{ width: 1280, height: 720, background: '#07060B', padding: '20px 72px', display: 'flex', flexDirection: 'column' }}&gt;&#10;    &lt;Box style={{ height: 100, flexDirection: 'row', justifyContent: 'space-between', alignItems: 'flex-start' }}&gt;&#10;        &lt;Box style={{ display: 'flex', flexDirection: 'column', gap: 8 }}&gt;&#10;            &lt;Text style={{ fontSize: 12, fontWeight: 'bold', color: '#F2C96D', letterSpacing: 2.4 }}&gt;SHIPPING STATUS&lt;/Text&gt;&#10;            &lt;Text style={{ fontSize: 38, fontFamily: 'Impact', color: '#F7F1E8', lineHeight: 1.1 }}&gt;What is real, and what is not yet.&lt;/Text&gt;&#10;        &lt;/Box&gt;&#10;        &lt;Text style={{ fontSize: 13, color: 'rgba(247,241,232,0.5)', letterSpacing: 1.6, paddingTop: 6 }}&gt;NO INVENTED INTEGRATIONS&lt;/Text&gt;&#10;    &lt;/Box&gt;&#10;&#10;    &lt;Box style={{ height: 480, marginTop: 20, flexDirection: 'row', gap: 24 }}&gt;&#10;        &lt;Box style={{ width: 424, display: 'flex', flexDirection: 'column', gap: 14, padding: '20px 22px', background: 'rgba(247,241,232,0.06)', borderTop: '3px solid #F2C96D', border: '1px solid rgba(247,241,232,0.14)', borderRadius: 8 }}&gt;&#10;            &lt;Text style={{ fontSize: 12, fontWeight: 'bold', color: '#F2C96D', letterSpacing: 2.2 }}&gt;LIVE NOW&lt;/Text&gt;&#10;            &lt;Text style={{ fontSize: 20, fontWeight: 'bold', color: '#F7F1E8', lineHeight: 1.35 }}&gt;The whole game, playable in a browser&lt;/Text&gt;&#10;            &lt;Text style={{ fontSize: 15, color: 'rgba(247,241,232,0.72)', lineHeight: 1.55 }}&gt;Create a table, ready up, trade against two engine bots, fire the meltdown, end the match, then open the verified replay. Every screen in this deck was captured from that deployment.&lt;/Text&gt;&#10;            &lt;Box style={{ marginTop: 'auto', display: 'flex', flexDirection: 'column', gap: 6 }}&gt;&#10;                &lt;Text style={{ fontSize: 13, color: 'rgba(247,241,232,0.55)', letterSpacing: 1.2 }}&gt;vedinzen.github.io/broke-vegas&lt;/Text&gt;&#10;                &lt;Text style={{ fontSize: 13, color: 'rgba(247,241,232,0.55)', letterSpacing: 1.2 }}&gt;Typecheck clean · lint clean · 12 tests green&lt;/Text&gt;&#10;            &lt;/Box&gt;&#10;        &lt;/Box&gt;&#10;&#10;        &lt;Box style={{ width: 366, display: 'flex', flexDirection: 'column', gap: 14, padding: '20px 22px', background: 'rgba(247,241,232,0.035)', border: '1px solid rgba(247,241,232,0.12)', borderRadius: 8 }}&gt;&#10;            &lt;Text style={{ fontSize: 12, fontWeight: 'bold', color: 'rgba(247,241,232,0.62)', letterSpacing: 2.2 }}&gt;APPLIED, NOT WIRED&lt;/Text&gt;&#10;            &lt;Text style={{ fontSize: 20, fontWeight: 'bold', color: '#F7F1E8', lineHeight: 1.35 }}&gt;The multiplayer schema&lt;/Text&gt;&#10;            &lt;Text style={{ fontSize: 15, color: 'rgba(247,241,232,0.72)', lineHeight: 1.55 }}&gt;Two migrations are applied to a real Supabase project: 15 tables, row-level security on every public one, private membership helpers, and hardened RPCs for room creation and match start.&lt;/Text&gt;&#10;            &lt;Box style={{ marginTop: 'auto', display: 'flex', flexDirection: 'column', gap: 6 }}&gt;&#10;                &lt;Text style={{ fontSize: 13, color: 'rgba(247,241,232,0.55)', letterSpacing: 1.2 }}&gt;Live order writes need a service-role key&lt;/Text&gt;&#10;                &lt;Text style={{ fontSize: 13, color: 'rgba(247,241,232,0.55)', letterSpacing: 1.2 }}&gt;Anonymous auth is disabled on the project&lt;/Text&gt;&#10;            &lt;/Box&gt;&#10;        &lt;/Box&gt;&#10;&#10;        &lt;Box style={{ width: 298, display: 'flex', flexDirection: 'column', gap: 14, padding: '20px 22px', background: 'rgba(231,53,85,0.10)', border: '1px solid rgba(231,53,85,0.34)', borderRadius: 8 }}&gt;&#10;            &lt;Text style={{ fontSize: 12, fontWeight: 'bold', color: '#E73555', letterSpacing: 2.2 }}&gt;BLOCKED&lt;/Text&gt;&#10;            &lt;Text style={{ fontSize: 20, fontWeight: 'bold', color: '#F7F1E8', lineHeight: 1.35 }}&gt;Server routes on a static host&lt;/Text&gt;&#10;            &lt;Text style={{ fontSize: 15, color: 'rgba(247,241,232,0.75)', lineHeight: 1.55 }}&gt;GitHub Pages serves files only. The analyst route returns 404 there, so the Pit Boss falls back to its deterministic review: same numbers, no narration. Response headers cannot be set either, so the CSP ships only with the Node build.&lt;/Text&gt;&#10;            &lt;Box style={{ marginTop: 'auto', display: 'flex', flexDirection: 'column', gap: 6 }}&gt;&#10;                &lt;Text style={{ fontSize: 12, color: '#E73555', letterSpacing: 0.4, lineHeight: 1.5 }}&gt;GET /api/analyst → 404 on Pages&lt;/Text&gt;&#10;                &lt;Text style={{ fontSize: 12, color: 'rgba(247,241,232,0.6)', letterSpacing: 0.4, lineHeight: 1.5 }}&gt;The Netlify target restores the headers&lt;/Text&gt;&#10;            &lt;/Box&gt;&#10;        &lt;/Box&gt;&#10;    &lt;/Box&gt;&#10;&#10;    &lt;Box style={{ height: 60, marginTop: 20, flexDirection: 'row', justifyContent: 'space-between', alignItems: 'flex-end', borderTop: '1px solid rgba(247,241,232,0.10)', paddingTop: 12 }}&gt;&#10;        &lt;Text style={{ fontSize: 13, color: 'rgba(247,241,232,0.45)' }}&gt;BROKE VEGAS · fictional markets, virtual money&lt;/Text&gt;&#10;        &lt;Text style={{ fontSize: 13, color: 'rgba(247,241,232,0.45)' }}&gt;11 / 12&lt;/Text&gt;&#10;    &lt;/Box&gt;&#10;&lt;/Slide&gt;&#10;"/>
        <p:cNvGrpSpPr/>
        <p:nvPr/>
      </p:nvGrpSpPr>
      <p:grpSpPr>
        <a:xfrm>
          <a:off x="0" y="0"/>
          <a:ext cx="0" cy="0"/>
          <a:chOff x="0" y="0"/>
          <a:chExt cx="0" cy="0"/>
        </a:xfrm>
      </p:grpSpPr>
      <p:sp>
        <p:nvSpPr>
          <p:cNvPr id="49" name=""/>
          <p:cNvSpPr/>
          <p:nvPr/>
        </p:nvSpPr>
        <p:spPr>
          <a:xfrm rot="0" flipH="0" flipV="0">
            <a:off x="0" y="0"/>
            <a:ext cx="12192000" cy="6858000"/>
          </a:xfrm>
          <a:prstGeom prst="rect">
            <a:avLst/>
          </a:prstGeom>
          <a:solidFill>
            <a:srgbClr val="07060B"/>
          </a:solidFill>
          <a:ln/>
        </p:spPr>
        <p:txBody>
          <a:bodyPr/>
          <a:p/>
        </p:txBody>
      </p:sp>
      <p:sp>
        <p:nvSpPr>
          <p:cNvPr id="50" name="" descr="{&quot;isTemplate&quot;:true,&quot;type&quot;:&quot;text&quot;}"/>
          <p:cNvSpPr txBox="1"/>
          <p:nvPr/>
        </p:nvSpPr>
        <p:spPr>
          <a:xfrm rot="0" flipH="0" flipV="0">
            <a:off x="685800" y="190500"/>
            <a:ext cx="5314950" cy="142875"/>
          </a:xfrm>
          <a:prstGeom prst="rect"/>
        </p:spPr>
        <p:txBody>
          <a:bodyPr wrap="none" lIns="0" tIns="0" rIns="0" bIns="0"/>
          <a:p>
            <a:pPr>
              <a:lnSpc>
                <a:spcPct val="100000"/>
              </a:lnSpc>
            </a:pPr>
            <a:r>
              <a:rPr lang="en-US" sz="900" b="1" spc="180">
                <a:solidFill>
                  <a:srgbClr val="F2C96D"/>
                </a:solidFill>
                <a:latin typeface="Microsoft YaHei"/>
                <a:ea typeface="Microsoft YaHei"/>
              </a:rPr>
              <a:t>SHIPPING STATUS</a:t>
            </a:r>
            <a:endParaRPr/>
          </a:p>
        </p:txBody>
      </p:sp>
      <p:sp>
        <p:nvSpPr>
          <p:cNvPr id="51" name="" descr="{&quot;isTemplate&quot;:true,&quot;type&quot;:&quot;text&quot;}"/>
          <p:cNvSpPr txBox="1"/>
          <p:nvPr/>
        </p:nvSpPr>
        <p:spPr>
          <a:xfrm rot="0" flipH="0" flipV="0">
            <a:off x="685800" y="409575"/>
            <a:ext cx="5314950" cy="485775"/>
          </a:xfrm>
          <a:prstGeom prst="rect"/>
        </p:spPr>
        <p:txBody>
          <a:bodyPr wrap="none" lIns="0" tIns="0" rIns="0" bIns="0"/>
          <a:p>
            <a:pPr>
              <a:lnSpc>
                <a:spcPct val="110000"/>
              </a:lnSpc>
            </a:pPr>
            <a:r>
              <a:rPr lang="en-US" sz="2850">
                <a:solidFill>
                  <a:srgbClr val="F7F1E8"/>
                </a:solidFill>
                <a:latin typeface="Impact"/>
                <a:ea typeface="Impact"/>
              </a:rPr>
              <a:t>What is real, and what is not yet.</a:t>
            </a:r>
            <a:endParaRPr/>
          </a:p>
        </p:txBody>
      </p:sp>
      <p:sp>
        <p:nvSpPr>
          <p:cNvPr id="52" name="" descr="{&quot;isTemplate&quot;:true,&quot;type&quot;:&quot;text&quot;}"/>
          <p:cNvSpPr txBox="1"/>
          <p:nvPr/>
        </p:nvSpPr>
        <p:spPr>
          <a:xfrm rot="0" flipH="0" flipV="0">
            <a:off x="9324975" y="190500"/>
            <a:ext cx="2181225" cy="209550"/>
          </a:xfrm>
          <a:prstGeom prst="rect"/>
        </p:spPr>
        <p:txBody>
          <a:bodyPr wrap="none" lIns="0" tIns="42863" rIns="0" bIns="0"/>
          <a:p>
            <a:pPr>
              <a:lnSpc>
                <a:spcPct val="100000"/>
              </a:lnSpc>
            </a:pPr>
            <a:r>
              <a:rPr lang="en-US" sz="975" spc="120">
                <a:solidFill>
                  <a:srgbClr val="F7F1E8">
                    <a:alpha val="50000"/>
                  </a:srgbClr>
                </a:solidFill>
                <a:latin typeface="Microsoft YaHei"/>
                <a:ea typeface="Microsoft YaHei"/>
              </a:rPr>
              <a:t>NO INVENTED INTEGRATIONS</a:t>
            </a:r>
            <a:endParaRPr/>
          </a:p>
        </p:txBody>
      </p:sp>
      <p:sp>
        <p:nvSpPr>
          <p:cNvPr id="53" name=""/>
          <p:cNvSpPr/>
          <p:nvPr/>
        </p:nvSpPr>
        <p:spPr>
          <a:xfrm rot="0" flipH="0" flipV="0">
            <a:off x="685800" y="1362075"/>
            <a:ext cx="4038600" cy="4572000"/>
          </a:xfrm>
          <a:prstGeom prst="roundRect">
            <a:avLst>
              <a:gd name="adj" fmla="val 1887"/>
            </a:avLst>
          </a:prstGeom>
          <a:solidFill>
            <a:srgbClr val="F7F1E8">
              <a:alpha val="6000"/>
            </a:srgbClr>
          </a:solidFill>
          <a:ln/>
        </p:spPr>
        <p:txBody>
          <a:bodyPr/>
          <a:p/>
        </p:txBody>
      </p:sp>
      <p:sp>
        <p:nvSpPr>
          <p:cNvPr id="54" name=""/>
          <p:cNvSpPr/>
          <p:nvPr/>
        </p:nvSpPr>
        <p:spPr>
          <a:xfrm rot="0" flipH="0" flipV="0">
            <a:off x="685800" y="1362075"/>
            <a:ext cx="4038600" cy="4572000"/>
          </a:xfrm>
          <a:custGeom>
            <a:pathLst>
              <a:path w="424" h="480">
                <a:moveTo>
                  <a:pt x="416" y="0"/>
                </a:moveTo>
                <a:cubicBezTo>
                  <a:pt x="420" y="0"/>
                  <a:pt x="423" y="3"/>
                  <a:pt x="424" y="7"/>
                </a:cubicBezTo>
                <a:cubicBezTo>
                  <a:pt x="423" y="4"/>
                  <a:pt x="421" y="3"/>
                  <a:pt x="419" y="3"/>
                </a:cubicBezTo>
                <a:lnTo>
                  <a:pt x="5" y="3"/>
                </a:lnTo>
                <a:cubicBezTo>
                  <a:pt x="3" y="3"/>
                  <a:pt x="1" y="5"/>
                  <a:pt x="0" y="7"/>
                </a:cubicBezTo>
                <a:cubicBezTo>
                  <a:pt x="1" y="3"/>
                  <a:pt x="4" y="0"/>
                  <a:pt x="8" y="0"/>
                </a:cubicBezTo>
                <a:lnTo>
                  <a:pt x="416" y="0"/>
                </a:lnTo>
                <a:close/>
              </a:path>
            </a:pathLst>
          </a:custGeom>
          <a:solidFill>
            <a:srgbClr val="F2C96D"/>
          </a:solidFill>
          <a:ln/>
        </p:spPr>
        <p:txBody>
          <a:bodyPr/>
          <a:p/>
        </p:txBody>
      </p:sp>
      <p:sp>
        <p:nvSpPr>
          <p:cNvPr id="55" name="" descr="{&quot;isTemplate&quot;:true,&quot;type&quot;:&quot;text&quot;}"/>
          <p:cNvSpPr txBox="1"/>
          <p:nvPr/>
        </p:nvSpPr>
        <p:spPr>
          <a:xfrm rot="0" flipH="0" flipV="0">
            <a:off x="895350" y="1552575"/>
            <a:ext cx="3619500" cy="142875"/>
          </a:xfrm>
          <a:prstGeom prst="rect"/>
        </p:spPr>
        <p:txBody>
          <a:bodyPr wrap="none" lIns="0" tIns="0" rIns="0" bIns="0"/>
          <a:p>
            <a:pPr>
              <a:lnSpc>
                <a:spcPct val="100000"/>
              </a:lnSpc>
            </a:pPr>
            <a:r>
              <a:rPr lang="en-US" sz="900" b="1" spc="165">
                <a:solidFill>
                  <a:srgbClr val="F2C96D"/>
                </a:solidFill>
                <a:latin typeface="Microsoft YaHei"/>
                <a:ea typeface="Microsoft YaHei"/>
              </a:rPr>
              <a:t>LIVE NOW</a:t>
            </a:r>
            <a:endParaRPr/>
          </a:p>
        </p:txBody>
      </p:sp>
      <p:sp>
        <p:nvSpPr>
          <p:cNvPr id="56" name="" descr="{&quot;isTemplate&quot;:true,&quot;type&quot;:&quot;text&quot;}"/>
          <p:cNvSpPr txBox="1"/>
          <p:nvPr/>
        </p:nvSpPr>
        <p:spPr>
          <a:xfrm rot="0" flipH="0" flipV="0">
            <a:off x="895350" y="1828800"/>
            <a:ext cx="3619500" cy="619125"/>
          </a:xfrm>
          <a:prstGeom prst="rect"/>
        </p:spPr>
        <p:txBody>
          <a:bodyPr wrap="square" lIns="0" tIns="0" rIns="0" bIns="0">
            <a:normAutofit/>
          </a:bodyPr>
          <a:p>
            <a:pPr>
              <a:lnSpc>
                <a:spcPct val="135000"/>
              </a:lnSpc>
            </a:pPr>
            <a:r>
              <a:rPr lang="en-US" sz="1500" b="1">
                <a:solidFill>
                  <a:srgbClr val="F7F1E8"/>
                </a:solidFill>
                <a:latin typeface="Microsoft YaHei"/>
                <a:ea typeface="Microsoft YaHei"/>
              </a:rPr>
              <a:t>The whole game, playable in a browser</a:t>
            </a:r>
            <a:endParaRPr/>
          </a:p>
        </p:txBody>
      </p:sp>
      <p:sp>
        <p:nvSpPr>
          <p:cNvPr id="57" name="" descr="{&quot;isTemplate&quot;:true,&quot;type&quot;:&quot;text&quot;}"/>
          <p:cNvSpPr txBox="1"/>
          <p:nvPr/>
        </p:nvSpPr>
        <p:spPr>
          <a:xfrm rot="0" flipH="0" flipV="0">
            <a:off x="895350" y="2581275"/>
            <a:ext cx="3619500" cy="1066800"/>
          </a:xfrm>
          <a:prstGeom prst="rect"/>
        </p:spPr>
        <p:txBody>
          <a:bodyPr wrap="square" lIns="0" tIns="0" rIns="0" bIns="0">
            <a:normAutofit/>
          </a:bodyPr>
          <a:p>
            <a:pPr>
              <a:lnSpc>
                <a:spcPct val="155000"/>
              </a:lnSpc>
            </a:pPr>
            <a:r>
              <a:rPr lang="en-US" sz="1125">
                <a:solidFill>
                  <a:srgbClr val="F7F1E8">
                    <a:alpha val="72000"/>
                  </a:srgbClr>
                </a:solidFill>
                <a:latin typeface="Microsoft YaHei"/>
                <a:ea typeface="Microsoft YaHei"/>
              </a:rPr>
              <a:t>Create a table, ready up, trade against two engine bots, fire the meltdown, end the match, then open the verified replay. Every screen in this deck was captured from that deployment.</a:t>
            </a:r>
            <a:endParaRPr/>
          </a:p>
        </p:txBody>
      </p:sp>
      <p:sp>
        <p:nvSpPr>
          <p:cNvPr id="58" name="" descr="{&quot;isTemplate&quot;:true,&quot;type&quot;:&quot;text&quot;}"/>
          <p:cNvSpPr txBox="1"/>
          <p:nvPr/>
        </p:nvSpPr>
        <p:spPr>
          <a:xfrm rot="0" flipH="0" flipV="0">
            <a:off x="895350" y="5353050"/>
            <a:ext cx="3619500" cy="152400"/>
          </a:xfrm>
          <a:prstGeom prst="rect"/>
        </p:spPr>
        <p:txBody>
          <a:bodyPr wrap="none" lIns="0" tIns="0" rIns="0" bIns="0"/>
          <a:p>
            <a:pPr>
              <a:lnSpc>
                <a:spcPct val="100000"/>
              </a:lnSpc>
            </a:pPr>
            <a:r>
              <a:rPr lang="en-US" sz="975" spc="90">
                <a:solidFill>
                  <a:srgbClr val="F7F1E8">
                    <a:alpha val="55000"/>
                  </a:srgbClr>
                </a:solidFill>
                <a:latin typeface="Microsoft YaHei"/>
                <a:ea typeface="Microsoft YaHei"/>
              </a:rPr>
              <a:t>vedinzen.github.io/broke-vegas</a:t>
            </a:r>
            <a:endParaRPr/>
          </a:p>
        </p:txBody>
      </p:sp>
      <p:sp>
        <p:nvSpPr>
          <p:cNvPr id="59" name="" descr="{&quot;isTemplate&quot;:true,&quot;type&quot;:&quot;text&quot;}"/>
          <p:cNvSpPr txBox="1"/>
          <p:nvPr/>
        </p:nvSpPr>
        <p:spPr>
          <a:xfrm rot="0" flipH="0" flipV="0">
            <a:off x="895350" y="5562600"/>
            <a:ext cx="3619500" cy="152400"/>
          </a:xfrm>
          <a:prstGeom prst="rect"/>
        </p:spPr>
        <p:txBody>
          <a:bodyPr wrap="none" lIns="0" tIns="0" rIns="0" bIns="0"/>
          <a:p>
            <a:pPr>
              <a:lnSpc>
                <a:spcPct val="100000"/>
              </a:lnSpc>
            </a:pPr>
            <a:r>
              <a:rPr lang="en-US" sz="975" spc="90">
                <a:solidFill>
                  <a:srgbClr val="F7F1E8">
                    <a:alpha val="55000"/>
                  </a:srgbClr>
                </a:solidFill>
                <a:latin typeface="Microsoft YaHei"/>
                <a:ea typeface="Microsoft YaHei"/>
              </a:rPr>
              <a:t>Typecheck clean · lint clean · 12 tests green</a:t>
            </a:r>
            <a:endParaRPr/>
          </a:p>
        </p:txBody>
      </p:sp>
      <p:sp>
        <p:nvSpPr>
          <p:cNvPr id="60" name=""/>
          <p:cNvSpPr/>
          <p:nvPr/>
        </p:nvSpPr>
        <p:spPr>
          <a:xfrm rot="0" flipH="0" flipV="0">
            <a:off x="4953000" y="1333500"/>
            <a:ext cx="3486150" cy="4572000"/>
          </a:xfrm>
          <a:prstGeom prst="roundRect">
            <a:avLst>
              <a:gd name="adj" fmla="val 2186"/>
            </a:avLst>
          </a:prstGeom>
          <a:solidFill>
            <a:srgbClr val="F7F1E8">
              <a:alpha val="3500"/>
            </a:srgbClr>
          </a:solidFill>
          <a:ln w="12700">
            <a:solidFill>
              <a:srgbClr val="F7F1E8">
                <a:alpha val="12000"/>
              </a:srgbClr>
            </a:solidFill>
            <a:prstDash val="solid"/>
          </a:ln>
        </p:spPr>
        <p:txBody>
          <a:bodyPr/>
          <a:p/>
        </p:txBody>
      </p:sp>
      <p:sp>
        <p:nvSpPr>
          <p:cNvPr id="61" name="" descr="{&quot;isTemplate&quot;:true,&quot;type&quot;:&quot;text&quot;}"/>
          <p:cNvSpPr txBox="1"/>
          <p:nvPr/>
        </p:nvSpPr>
        <p:spPr>
          <a:xfrm rot="0" flipH="0" flipV="0">
            <a:off x="5162550" y="1524000"/>
            <a:ext cx="3067050" cy="142875"/>
          </a:xfrm>
          <a:prstGeom prst="rect"/>
        </p:spPr>
        <p:txBody>
          <a:bodyPr wrap="none" lIns="0" tIns="0" rIns="0" bIns="0"/>
          <a:p>
            <a:pPr>
              <a:lnSpc>
                <a:spcPct val="100000"/>
              </a:lnSpc>
            </a:pPr>
            <a:r>
              <a:rPr lang="en-US" sz="900" b="1" spc="165">
                <a:solidFill>
                  <a:srgbClr val="F7F1E8">
                    <a:alpha val="62000"/>
                  </a:srgbClr>
                </a:solidFill>
                <a:latin typeface="Microsoft YaHei"/>
                <a:ea typeface="Microsoft YaHei"/>
              </a:rPr>
              <a:t>APPLIED, NOT WIRED</a:t>
            </a:r>
            <a:endParaRPr/>
          </a:p>
        </p:txBody>
      </p:sp>
      <p:sp>
        <p:nvSpPr>
          <p:cNvPr id="62" name="" descr="{&quot;isTemplate&quot;:true,&quot;type&quot;:&quot;text&quot;}"/>
          <p:cNvSpPr txBox="1"/>
          <p:nvPr/>
        </p:nvSpPr>
        <p:spPr>
          <a:xfrm rot="0" flipH="0" flipV="0">
            <a:off x="5162550" y="1800225"/>
            <a:ext cx="3067050" cy="314325"/>
          </a:xfrm>
          <a:prstGeom prst="rect"/>
        </p:spPr>
        <p:txBody>
          <a:bodyPr wrap="none" lIns="0" tIns="0" rIns="0" bIns="0"/>
          <a:p>
            <a:pPr>
              <a:lnSpc>
                <a:spcPct val="135000"/>
              </a:lnSpc>
            </a:pPr>
            <a:r>
              <a:rPr lang="en-US" sz="1500" b="1">
                <a:solidFill>
                  <a:srgbClr val="F7F1E8"/>
                </a:solidFill>
                <a:latin typeface="Microsoft YaHei"/>
                <a:ea typeface="Microsoft YaHei"/>
              </a:rPr>
              <a:t>The multiplayer schema</a:t>
            </a:r>
            <a:endParaRPr/>
          </a:p>
        </p:txBody>
      </p:sp>
      <p:sp>
        <p:nvSpPr>
          <p:cNvPr id="63" name="" descr="{&quot;isTemplate&quot;:true,&quot;type&quot;:&quot;text&quot;}"/>
          <p:cNvSpPr txBox="1"/>
          <p:nvPr/>
        </p:nvSpPr>
        <p:spPr>
          <a:xfrm rot="0" flipH="0" flipV="0">
            <a:off x="5162550" y="2247900"/>
            <a:ext cx="3067050" cy="1333500"/>
          </a:xfrm>
          <a:prstGeom prst="rect"/>
        </p:spPr>
        <p:txBody>
          <a:bodyPr wrap="square" lIns="0" tIns="0" rIns="0" bIns="0">
            <a:normAutofit/>
          </a:bodyPr>
          <a:p>
            <a:pPr>
              <a:lnSpc>
                <a:spcPct val="155000"/>
              </a:lnSpc>
            </a:pPr>
            <a:r>
              <a:rPr lang="en-US" sz="1125">
                <a:solidFill>
                  <a:srgbClr val="F7F1E8">
                    <a:alpha val="72000"/>
                  </a:srgbClr>
                </a:solidFill>
                <a:latin typeface="Microsoft YaHei"/>
                <a:ea typeface="Microsoft YaHei"/>
              </a:rPr>
              <a:t>Two migrations are applied to a real Supabase project: 15 tables, row-level security on every public one, private membership helpers, and hardened RPCs for room creation and match start.</a:t>
            </a:r>
            <a:endParaRPr/>
          </a:p>
        </p:txBody>
      </p:sp>
      <p:sp>
        <p:nvSpPr>
          <p:cNvPr id="64" name="" descr="{&quot;isTemplate&quot;:true,&quot;type&quot;:&quot;text&quot;}"/>
          <p:cNvSpPr txBox="1"/>
          <p:nvPr/>
        </p:nvSpPr>
        <p:spPr>
          <a:xfrm rot="0" flipH="0" flipV="0">
            <a:off x="5162550" y="5353050"/>
            <a:ext cx="3067050" cy="152400"/>
          </a:xfrm>
          <a:prstGeom prst="rect"/>
        </p:spPr>
        <p:txBody>
          <a:bodyPr wrap="none" lIns="0" tIns="0" rIns="0" bIns="0"/>
          <a:p>
            <a:pPr>
              <a:lnSpc>
                <a:spcPct val="100000"/>
              </a:lnSpc>
            </a:pPr>
            <a:r>
              <a:rPr lang="en-US" sz="975" spc="90">
                <a:solidFill>
                  <a:srgbClr val="F7F1E8">
                    <a:alpha val="55000"/>
                  </a:srgbClr>
                </a:solidFill>
                <a:latin typeface="Microsoft YaHei"/>
                <a:ea typeface="Microsoft YaHei"/>
              </a:rPr>
              <a:t>Live order writes need a service-role key</a:t>
            </a:r>
            <a:endParaRPr/>
          </a:p>
        </p:txBody>
      </p:sp>
      <p:sp>
        <p:nvSpPr>
          <p:cNvPr id="65" name="" descr="{&quot;isTemplate&quot;:true,&quot;type&quot;:&quot;text&quot;}"/>
          <p:cNvSpPr txBox="1"/>
          <p:nvPr/>
        </p:nvSpPr>
        <p:spPr>
          <a:xfrm rot="0" flipH="0" flipV="0">
            <a:off x="5162550" y="5562600"/>
            <a:ext cx="3067050" cy="152400"/>
          </a:xfrm>
          <a:prstGeom prst="rect"/>
        </p:spPr>
        <p:txBody>
          <a:bodyPr wrap="none" lIns="0" tIns="0" rIns="0" bIns="0"/>
          <a:p>
            <a:pPr>
              <a:lnSpc>
                <a:spcPct val="100000"/>
              </a:lnSpc>
            </a:pPr>
            <a:r>
              <a:rPr lang="en-US" sz="975" spc="90">
                <a:solidFill>
                  <a:srgbClr val="F7F1E8">
                    <a:alpha val="55000"/>
                  </a:srgbClr>
                </a:solidFill>
                <a:latin typeface="Microsoft YaHei"/>
                <a:ea typeface="Microsoft YaHei"/>
              </a:rPr>
              <a:t>Anonymous auth is disabled on the project</a:t>
            </a:r>
            <a:endParaRPr/>
          </a:p>
        </p:txBody>
      </p:sp>
      <p:sp>
        <p:nvSpPr>
          <p:cNvPr id="66" name=""/>
          <p:cNvSpPr/>
          <p:nvPr/>
        </p:nvSpPr>
        <p:spPr>
          <a:xfrm rot="0" flipH="0" flipV="0">
            <a:off x="8667750" y="1333500"/>
            <a:ext cx="2838450" cy="4572000"/>
          </a:xfrm>
          <a:prstGeom prst="roundRect">
            <a:avLst>
              <a:gd name="adj" fmla="val 2685"/>
            </a:avLst>
          </a:prstGeom>
          <a:solidFill>
            <a:srgbClr val="E73555">
              <a:alpha val="10000"/>
            </a:srgbClr>
          </a:solidFill>
          <a:ln w="12700">
            <a:solidFill>
              <a:srgbClr val="E73555">
                <a:alpha val="34000"/>
              </a:srgbClr>
            </a:solidFill>
            <a:prstDash val="solid"/>
          </a:ln>
        </p:spPr>
        <p:txBody>
          <a:bodyPr/>
          <a:p/>
        </p:txBody>
      </p:sp>
      <p:sp>
        <p:nvSpPr>
          <p:cNvPr id="67" name="" descr="{&quot;isTemplate&quot;:true,&quot;type&quot;:&quot;text&quot;}"/>
          <p:cNvSpPr txBox="1"/>
          <p:nvPr/>
        </p:nvSpPr>
        <p:spPr>
          <a:xfrm rot="0" flipH="0" flipV="0">
            <a:off x="8877300" y="1524000"/>
            <a:ext cx="2419350" cy="142875"/>
          </a:xfrm>
          <a:prstGeom prst="rect"/>
        </p:spPr>
        <p:txBody>
          <a:bodyPr wrap="none" lIns="0" tIns="0" rIns="0" bIns="0"/>
          <a:p>
            <a:pPr>
              <a:lnSpc>
                <a:spcPct val="100000"/>
              </a:lnSpc>
            </a:pPr>
            <a:r>
              <a:rPr lang="en-US" sz="900" b="1" spc="165">
                <a:solidFill>
                  <a:srgbClr val="E73555"/>
                </a:solidFill>
                <a:latin typeface="Microsoft YaHei"/>
                <a:ea typeface="Microsoft YaHei"/>
              </a:rPr>
              <a:t>BLOCKED</a:t>
            </a:r>
            <a:endParaRPr/>
          </a:p>
        </p:txBody>
      </p:sp>
      <p:sp>
        <p:nvSpPr>
          <p:cNvPr id="68" name="" descr="{&quot;isTemplate&quot;:true,&quot;type&quot;:&quot;text&quot;}"/>
          <p:cNvSpPr txBox="1"/>
          <p:nvPr/>
        </p:nvSpPr>
        <p:spPr>
          <a:xfrm rot="0" flipH="0" flipV="0">
            <a:off x="8877300" y="1800225"/>
            <a:ext cx="2419350" cy="619125"/>
          </a:xfrm>
          <a:prstGeom prst="rect"/>
        </p:spPr>
        <p:txBody>
          <a:bodyPr wrap="square" lIns="0" tIns="0" rIns="0" bIns="0">
            <a:normAutofit/>
          </a:bodyPr>
          <a:p>
            <a:pPr>
              <a:lnSpc>
                <a:spcPct val="135000"/>
              </a:lnSpc>
            </a:pPr>
            <a:r>
              <a:rPr lang="en-US" sz="1500" b="1">
                <a:solidFill>
                  <a:srgbClr val="F7F1E8"/>
                </a:solidFill>
                <a:latin typeface="Microsoft YaHei"/>
                <a:ea typeface="Microsoft YaHei"/>
              </a:rPr>
              <a:t>Server routes on a static host</a:t>
            </a:r>
            <a:endParaRPr/>
          </a:p>
        </p:txBody>
      </p:sp>
      <p:sp>
        <p:nvSpPr>
          <p:cNvPr id="69" name="" descr="{&quot;isTemplate&quot;:true,&quot;type&quot;:&quot;text&quot;}"/>
          <p:cNvSpPr txBox="1"/>
          <p:nvPr/>
        </p:nvSpPr>
        <p:spPr>
          <a:xfrm rot="0" flipH="0" flipV="0">
            <a:off x="8877300" y="2552700"/>
            <a:ext cx="2419350" cy="2133600"/>
          </a:xfrm>
          <a:prstGeom prst="rect"/>
        </p:spPr>
        <p:txBody>
          <a:bodyPr wrap="square" lIns="0" tIns="0" rIns="0" bIns="0">
            <a:normAutofit/>
          </a:bodyPr>
          <a:p>
            <a:pPr>
              <a:lnSpc>
                <a:spcPct val="155000"/>
              </a:lnSpc>
            </a:pPr>
            <a:r>
              <a:rPr lang="en-US" sz="1125">
                <a:solidFill>
                  <a:srgbClr val="F7F1E8">
                    <a:alpha val="75000"/>
                  </a:srgbClr>
                </a:solidFill>
                <a:latin typeface="Microsoft YaHei"/>
                <a:ea typeface="Microsoft YaHei"/>
              </a:rPr>
              <a:t>GitHub Pages serves files only. The analyst route returns 404 there, so the Pit Boss falls back to its deterministic review: same numbers, no narration. Response headers cannot be set either, so the CSP ships only with the Node build.</a:t>
            </a:r>
            <a:endParaRPr/>
          </a:p>
        </p:txBody>
      </p:sp>
      <p:sp>
        <p:nvSpPr>
          <p:cNvPr id="70" name="" descr="{&quot;isTemplate&quot;:true,&quot;type&quot;:&quot;text&quot;}"/>
          <p:cNvSpPr txBox="1"/>
          <p:nvPr/>
        </p:nvSpPr>
        <p:spPr>
          <a:xfrm rot="0" flipH="0" flipV="0">
            <a:off x="8877300" y="5238750"/>
            <a:ext cx="2419350" cy="209550"/>
          </a:xfrm>
          <a:prstGeom prst="rect"/>
        </p:spPr>
        <p:txBody>
          <a:bodyPr wrap="none" lIns="0" tIns="0" rIns="0" bIns="0"/>
          <a:p>
            <a:pPr>
              <a:lnSpc>
                <a:spcPct val="150000"/>
              </a:lnSpc>
            </a:pPr>
            <a:r>
              <a:rPr lang="en-US" sz="900" spc="30">
                <a:solidFill>
                  <a:srgbClr val="E73555"/>
                </a:solidFill>
                <a:latin typeface="Microsoft YaHei"/>
                <a:ea typeface="Microsoft YaHei"/>
              </a:rPr>
              <a:t>GET /api/analyst → 404 on Pages</a:t>
            </a:r>
            <a:endParaRPr/>
          </a:p>
        </p:txBody>
      </p:sp>
      <p:sp>
        <p:nvSpPr>
          <p:cNvPr id="71" name="" descr="{&quot;isTemplate&quot;:true,&quot;type&quot;:&quot;text&quot;}"/>
          <p:cNvSpPr txBox="1"/>
          <p:nvPr/>
        </p:nvSpPr>
        <p:spPr>
          <a:xfrm rot="0" flipH="0" flipV="0">
            <a:off x="8877300" y="5505450"/>
            <a:ext cx="2419350" cy="209550"/>
          </a:xfrm>
          <a:prstGeom prst="rect"/>
        </p:spPr>
        <p:txBody>
          <a:bodyPr wrap="none" lIns="0" tIns="0" rIns="0" bIns="0"/>
          <a:p>
            <a:pPr>
              <a:lnSpc>
                <a:spcPct val="150000"/>
              </a:lnSpc>
            </a:pPr>
            <a:r>
              <a:rPr lang="en-US" sz="900" spc="30">
                <a:solidFill>
                  <a:srgbClr val="F7F1E8">
                    <a:alpha val="60000"/>
                  </a:srgbClr>
                </a:solidFill>
                <a:latin typeface="Microsoft YaHei"/>
                <a:ea typeface="Microsoft YaHei"/>
              </a:rPr>
              <a:t>The Netlify target restores the headers</a:t>
            </a:r>
            <a:endParaRPr/>
          </a:p>
        </p:txBody>
      </p:sp>
      <p:sp>
        <p:nvSpPr>
          <p:cNvPr id="72" name=""/>
          <p:cNvSpPr/>
          <p:nvPr/>
        </p:nvSpPr>
        <p:spPr>
          <a:xfrm rot="0" flipH="0" flipV="0">
            <a:off x="685800" y="6096000"/>
            <a:ext cx="10820400" cy="571500"/>
          </a:xfrm>
          <a:custGeom>
            <a:pathLst>
              <a:path w="1136" h="60">
                <a:moveTo>
                  <a:pt x="0" y="0"/>
                </a:moveTo>
                <a:lnTo>
                  <a:pt x="1136" y="0"/>
                </a:lnTo>
                <a:lnTo>
                  <a:pt x="1136" y="1"/>
                </a:lnTo>
                <a:lnTo>
                  <a:pt x="0" y="1"/>
                </a:lnTo>
                <a:close/>
              </a:path>
            </a:pathLst>
          </a:custGeom>
          <a:solidFill>
            <a:srgbClr val="F7F1E8">
              <a:alpha val="10000"/>
            </a:srgbClr>
          </a:solidFill>
          <a:ln/>
        </p:spPr>
        <p:txBody>
          <a:bodyPr/>
          <a:p/>
        </p:txBody>
      </p:sp>
      <p:sp>
        <p:nvSpPr>
          <p:cNvPr id="73" name="" descr="{&quot;isTemplate&quot;:true,&quot;type&quot;:&quot;text&quot;}"/>
          <p:cNvSpPr txBox="1"/>
          <p:nvPr/>
        </p:nvSpPr>
        <p:spPr>
          <a:xfrm rot="0" flipH="0" flipV="0">
            <a:off x="685800" y="6515100"/>
            <a:ext cx="2819400" cy="152400"/>
          </a:xfrm>
          <a:prstGeom prst="rect"/>
        </p:spPr>
        <p:txBody>
          <a:bodyPr wrap="none" lIns="0" tIns="0" rIns="0" bIns="0"/>
          <a:p>
            <a:pPr>
              <a:lnSpc>
                <a:spcPct val="100000"/>
              </a:lnSpc>
            </a:pPr>
            <a:r>
              <a:rPr lang="en-US" sz="975">
                <a:solidFill>
                  <a:srgbClr val="F7F1E8">
                    <a:alpha val="45000"/>
                  </a:srgbClr>
                </a:solidFill>
                <a:latin typeface="Microsoft YaHei"/>
                <a:ea typeface="Microsoft YaHei"/>
              </a:rPr>
              <a:t>BROKE VEGAS · fictional markets, virtual money</a:t>
            </a:r>
            <a:endParaRPr/>
          </a:p>
        </p:txBody>
      </p:sp>
      <p:sp>
        <p:nvSpPr>
          <p:cNvPr id="74" name="" descr="{&quot;isTemplate&quot;:true,&quot;type&quot;:&quot;text&quot;}"/>
          <p:cNvSpPr txBox="1"/>
          <p:nvPr/>
        </p:nvSpPr>
        <p:spPr>
          <a:xfrm rot="0" flipH="0" flipV="0">
            <a:off x="11087100" y="6515100"/>
            <a:ext cx="419100" cy="152400"/>
          </a:xfrm>
          <a:prstGeom prst="rect"/>
        </p:spPr>
        <p:txBody>
          <a:bodyPr wrap="none" lIns="0" tIns="0" rIns="0" bIns="0"/>
          <a:p>
            <a:pPr>
              <a:lnSpc>
                <a:spcPct val="100000"/>
              </a:lnSpc>
            </a:pPr>
            <a:r>
              <a:rPr lang="en-US" sz="975">
                <a:solidFill>
                  <a:srgbClr val="F7F1E8">
                    <a:alpha val="45000"/>
                  </a:srgbClr>
                </a:solidFill>
                <a:latin typeface="Microsoft YaHei"/>
                <a:ea typeface="Microsoft YaHei"/>
              </a:rPr>
              <a:t>11 / 12</a:t>
            </a:r>
            <a:endParaRPr/>
          </a:p>
        </p:txBody>
      </p:sp>
    </p:spTree>
  </p:cSld>
</p:sld>
</file>

<file path=ppt/slides/slide12.xml><?xml version="1.0" encoding="utf-8"?>
<p:sld xmlns:p="http://schemas.openxmlformats.org/presentationml/2006/main" xmlns:a="http://schemas.openxmlformats.org/drawingml/2006/main">
  <p:cSld>
    <p:spTree>
      <p:nvGrpSpPr>
        <p:cNvPr id="75" name=""/>
        <p:cNvGrpSpPr/>
        <p:nvPr/>
      </p:nvGrpSpPr>
      <p:grpSpPr>
        <a:xfrm>
          <a:off x="0" y="0"/>
          <a:ext cx="0" cy="0"/>
          <a:chOff x="0" y="0"/>
          <a:chExt cx="0" cy="0"/>
        </a:xfrm>
      </p:grpSpPr>
      <p:sp>
        <p:nvSpPr>
          <p:cNvPr id="76" name=""/>
          <p:cNvSpPr/>
          <p:nvPr/>
        </p:nvSpPr>
        <p:spPr>
          <a:xfrm rot="0" flipH="0" flipV="0">
            <a:off x="0" y="0"/>
            <a:ext cx="12192000" cy="6858000"/>
          </a:xfrm>
          <a:prstGeom prst="rect">
            <a:avLst/>
          </a:prstGeom>
          <a:solidFill>
            <a:srgbClr val="07060B"/>
          </a:solidFill>
          <a:ln/>
        </p:spPr>
        <p:txBody>
          <a:bodyPr/>
          <a:p>
            <a:pPr/>
            <a:endParaRPr/>
          </a:p>
        </p:txBody>
      </p:sp>
      <p:sp>
        <p:nvSpPr>
          <p:cNvPr id="77" name=""/>
          <p:cNvSpPr/>
          <p:nvPr/>
        </p:nvSpPr>
        <p:spPr>
          <a:xfrm rot="0" flipH="0" flipV="0">
            <a:off x="6286500" y="0"/>
            <a:ext cx="5905500" cy="6858000"/>
          </a:xfrm>
          <a:prstGeom prst="rect">
            <a:avLst/>
          </a:prstGeom>
          <a:gradFill>
            <a:gsLst>
              <a:gs pos="0">
                <a:srgbClr val="E73555">
                  <a:alpha val="22000"/>
                </a:srgbClr>
              </a:gs>
              <a:gs pos="66000">
                <a:srgbClr val="07060B">
                  <a:alpha val="0"/>
                </a:srgbClr>
              </a:gs>
            </a:gsLst>
            <a:path path="circle">
              <a:fillToRect l="78000" t="50000" r="22000" b="50000"/>
            </a:path>
          </a:gradFill>
          <a:ln/>
        </p:spPr>
        <p:txBody>
          <a:bodyPr/>
          <a:p>
            <a:pPr/>
            <a:endParaRPr/>
          </a:p>
        </p:txBody>
      </p:sp>
      <p:sp>
        <p:nvSpPr>
          <p:cNvPr id="78" name=""/>
          <p:cNvSpPr/>
          <p:nvPr/>
        </p:nvSpPr>
        <p:spPr>
          <a:xfrm rot="0" flipH="0" flipV="0">
            <a:off x="12115800" y="0"/>
            <a:ext cx="76200" cy="6858000"/>
          </a:xfrm>
          <a:prstGeom prst="rect">
            <a:avLst/>
          </a:prstGeom>
          <a:solidFill>
            <a:srgbClr val="E73555"/>
          </a:solidFill>
          <a:ln/>
        </p:spPr>
        <p:txBody>
          <a:bodyPr/>
          <a:p>
            <a:pPr/>
            <a:endParaRPr/>
          </a:p>
        </p:txBody>
      </p:sp>
      <p:sp>
        <p:nvSpPr>
          <p:cNvPr id="79" name=""/>
          <p:cNvSpPr/>
          <p:nvPr/>
        </p:nvSpPr>
        <p:spPr>
          <a:xfrm rot="0" flipH="0" flipV="0">
            <a:off x="685800" y="552450"/>
            <a:ext cx="85725" cy="85725"/>
          </a:xfrm>
          <a:prstGeom prst="roundRect">
            <a:avLst>
              <a:gd name="adj" fmla="val 100000"/>
            </a:avLst>
          </a:prstGeom>
          <a:solidFill>
            <a:srgbClr val="F2C96D"/>
          </a:solidFill>
          <a:ln/>
        </p:spPr>
        <p:txBody>
          <a:bodyPr/>
          <a:p>
            <a:pPr/>
            <a:endParaRPr/>
          </a:p>
        </p:txBody>
      </p:sp>
      <p:sp>
        <p:nvSpPr>
          <p:cNvPr id="80" name="" descr="{&quot;isTemplate&quot;:true,&quot;type&quot;:&quot;text&quot;}"/>
          <p:cNvSpPr txBox="1"/>
          <p:nvPr/>
        </p:nvSpPr>
        <p:spPr>
          <a:xfrm rot="0" flipH="0" flipV="0">
            <a:off x="904875" y="514350"/>
            <a:ext cx="3067050" cy="152400"/>
          </a:xfrm>
          <a:prstGeom prst="rect"/>
        </p:spPr>
        <p:txBody>
          <a:bodyPr wrap="none" lIns="0" tIns="0" rIns="0" bIns="0"/>
          <a:p>
            <a:pPr>
              <a:lnSpc>
                <a:spcPct val="100000"/>
              </a:lnSpc>
            </a:pPr>
            <a:r>
              <a:rPr lang="en-US" sz="975" b="1" spc="195">
                <a:solidFill>
                  <a:srgbClr val="F2C96D"/>
                </a:solidFill>
                <a:latin typeface="Microsoft YaHei"/>
                <a:ea typeface="Microsoft YaHei"/>
              </a:rPr>
              <a:t>BROKE VEGAS · LIVE AND PLAYABLE</a:t>
            </a:r>
            <a:endParaRPr/>
          </a:p>
        </p:txBody>
      </p:sp>
      <p:sp>
        <p:nvSpPr>
          <p:cNvPr id="81" name="" descr="{&quot;isTemplate&quot;:true,&quot;type&quot;:&quot;text&quot;}"/>
          <p:cNvSpPr txBox="1"/>
          <p:nvPr/>
        </p:nvSpPr>
        <p:spPr>
          <a:xfrm rot="0" flipH="0" flipV="0">
            <a:off x="685800" y="2019300"/>
            <a:ext cx="10820400" cy="1466850"/>
          </a:xfrm>
          <a:prstGeom prst="rect"/>
        </p:spPr>
        <p:txBody>
          <a:bodyPr wrap="none" lIns="0" tIns="0" rIns="0" bIns="0"/>
          <a:p>
            <a:pPr>
              <a:lnSpc>
                <a:spcPct val="100000"/>
              </a:lnSpc>
            </a:pPr>
            <a:r>
              <a:rPr lang="en-US" sz="4800">
                <a:solidFill>
                  <a:srgbClr val="F7F1E8"/>
                </a:solidFill>
                <a:latin typeface="Impact"/>
                <a:ea typeface="Impact"/>
              </a:rPr>
              <a:t>PLACE YOUR BETS.</a:t>
            </a:r>
            <a:endParaRPr/>
          </a:p>
          <a:p>
            <a:pPr>
              <a:lnSpc>
                <a:spcPct val="100000"/>
              </a:lnSpc>
            </a:pPr>
            <a:r>
              <a:rPr lang="en-US" sz="4800">
                <a:solidFill>
                  <a:srgbClr val="F7F1E8"/>
                </a:solidFill>
                <a:latin typeface="Impact"/>
                <a:ea typeface="Impact"/>
              </a:rPr>
              <a:t>PLACE YOUR ORDERS.</a:t>
            </a:r>
            <a:endParaRPr/>
          </a:p>
        </p:txBody>
      </p:sp>
      <p:sp>
        <p:nvSpPr>
          <p:cNvPr id="82" name="" descr="{&quot;isTemplate&quot;:true,&quot;type&quot;:&quot;text&quot;}"/>
          <p:cNvSpPr txBox="1"/>
          <p:nvPr/>
        </p:nvSpPr>
        <p:spPr>
          <a:xfrm rot="0" flipH="0" flipV="0">
            <a:off x="685800" y="3695700"/>
            <a:ext cx="5905500" cy="685800"/>
          </a:xfrm>
          <a:prstGeom prst="rect"/>
        </p:spPr>
        <p:txBody>
          <a:bodyPr wrap="square" lIns="0" tIns="0" rIns="0" bIns="0">
            <a:normAutofit/>
          </a:bodyPr>
          <a:p>
            <a:pPr>
              <a:lnSpc>
                <a:spcPct val="150000"/>
              </a:lnSpc>
            </a:pPr>
            <a:r>
              <a:rPr lang="en-US" sz="1500">
                <a:solidFill>
                  <a:srgbClr val="F7F1E8">
                    <a:alpha val="70000"/>
                  </a:srgbClr>
                </a:solidFill>
                <a:latin typeface="Microsoft YaHei"/>
                <a:ea typeface="Microsoft YaHei"/>
              </a:rPr>
              <a:t>Six fictional tickers. Three seats. One meltdown button that somebody will press too early. Bring people you enjoy losing to.</a:t>
            </a:r>
            <a:endParaRPr/>
          </a:p>
        </p:txBody>
      </p:sp>
      <p:sp>
        <p:nvSpPr>
          <p:cNvPr id="83" name=""/>
          <p:cNvSpPr/>
          <p:nvPr/>
        </p:nvSpPr>
        <p:spPr>
          <a:xfrm rot="0" flipH="0" flipV="0">
            <a:off x="685800" y="5724525"/>
            <a:ext cx="7239000" cy="9525"/>
          </a:xfrm>
          <a:prstGeom prst="rect">
            <a:avLst/>
          </a:prstGeom>
          <a:solidFill>
            <a:srgbClr val="F7F1E8">
              <a:alpha val="22000"/>
            </a:srgbClr>
          </a:solidFill>
          <a:ln/>
        </p:spPr>
        <p:txBody>
          <a:bodyPr/>
          <a:p>
            <a:pPr/>
            <a:endParaRPr/>
          </a:p>
        </p:txBody>
      </p:sp>
      <p:sp>
        <p:nvSpPr>
          <p:cNvPr id="84" name="" descr="{&quot;isTemplate&quot;:true,&quot;type&quot;:&quot;text&quot;}"/>
          <p:cNvSpPr txBox="1"/>
          <p:nvPr/>
        </p:nvSpPr>
        <p:spPr>
          <a:xfrm rot="0" flipH="0" flipV="0">
            <a:off x="685800" y="5867400"/>
            <a:ext cx="3800475" cy="142875"/>
          </a:xfrm>
          <a:prstGeom prst="rect"/>
        </p:spPr>
        <p:txBody>
          <a:bodyPr wrap="none" lIns="0" tIns="0" rIns="0" bIns="0"/>
          <a:p>
            <a:pPr>
              <a:lnSpc>
                <a:spcPct val="100000"/>
              </a:lnSpc>
            </a:pPr>
            <a:r>
              <a:rPr lang="en-US" sz="900" spc="165">
                <a:solidFill>
                  <a:srgbClr val="F7F1E8">
                    <a:alpha val="50000"/>
                  </a:srgbClr>
                </a:solidFill>
                <a:latin typeface="Microsoft YaHei"/>
                <a:ea typeface="Microsoft YaHei"/>
              </a:rPr>
              <a:t>OPEN THE ARENA</a:t>
            </a:r>
            <a:endParaRPr/>
          </a:p>
        </p:txBody>
      </p:sp>
      <p:sp>
        <p:nvSpPr>
          <p:cNvPr id="85" name="" descr="{&quot;isTemplate&quot;:true,&quot;type&quot;:&quot;text&quot;}"/>
          <p:cNvSpPr txBox="1"/>
          <p:nvPr/>
        </p:nvSpPr>
        <p:spPr>
          <a:xfrm rot="0" flipH="0" flipV="0">
            <a:off x="685800" y="6067425"/>
            <a:ext cx="3800475" cy="276225"/>
          </a:xfrm>
          <a:prstGeom prst="rect"/>
        </p:spPr>
        <p:txBody>
          <a:bodyPr wrap="none" lIns="0" tIns="0" rIns="0" bIns="0"/>
          <a:p>
            <a:pPr>
              <a:lnSpc>
                <a:spcPct val="100000"/>
              </a:lnSpc>
            </a:pPr>
            <a:r>
              <a:rPr lang="en-US" sz="1800" b="1" spc="30">
                <a:solidFill>
                  <a:srgbClr val="F2C96D"/>
                </a:solidFill>
                <a:latin typeface="Microsoft YaHei"/>
                <a:ea typeface="Microsoft YaHei"/>
              </a:rPr>
              <a:t>vedinzen.github.io/broke-vegas</a:t>
            </a:r>
            <a:endParaRPr/>
          </a:p>
        </p:txBody>
      </p:sp>
      <p:sp>
        <p:nvSpPr>
          <p:cNvPr id="86" name="" descr="{&quot;isTemplate&quot;:true,&quot;type&quot;:&quot;text&quot;}"/>
          <p:cNvSpPr txBox="1"/>
          <p:nvPr/>
        </p:nvSpPr>
        <p:spPr>
          <a:xfrm rot="0" flipH="0" flipV="0">
            <a:off x="7115175" y="5934075"/>
            <a:ext cx="809625" cy="142875"/>
          </a:xfrm>
          <a:prstGeom prst="rect"/>
        </p:spPr>
        <p:txBody>
          <a:bodyPr wrap="none" lIns="0" tIns="0" rIns="0" bIns="0"/>
          <a:p>
            <a:pPr>
              <a:lnSpc>
                <a:spcPct val="100000"/>
              </a:lnSpc>
            </a:pPr>
            <a:r>
              <a:rPr lang="en-US" sz="900" spc="165">
                <a:solidFill>
                  <a:srgbClr val="F7F1E8">
                    <a:alpha val="50000"/>
                  </a:srgbClr>
                </a:solidFill>
                <a:latin typeface="Microsoft YaHei"/>
                <a:ea typeface="Microsoft YaHei"/>
              </a:rPr>
              <a:t>REMEMBER</a:t>
            </a:r>
            <a:endParaRPr/>
          </a:p>
        </p:txBody>
      </p:sp>
      <p:sp>
        <p:nvSpPr>
          <p:cNvPr id="87" name="" descr="{&quot;isTemplate&quot;:true,&quot;type&quot;:&quot;text&quot;}"/>
          <p:cNvSpPr txBox="1"/>
          <p:nvPr/>
        </p:nvSpPr>
        <p:spPr>
          <a:xfrm rot="0" flipH="0" flipV="0">
            <a:off x="5276850" y="6134100"/>
            <a:ext cx="2647950" cy="209550"/>
          </a:xfrm>
          <a:prstGeom prst="rect"/>
        </p:spPr>
        <p:txBody>
          <a:bodyPr wrap="none" lIns="0" tIns="0" rIns="0" bIns="0"/>
          <a:p>
            <a:pPr>
              <a:lnSpc>
                <a:spcPct val="100000"/>
              </a:lnSpc>
            </a:pPr>
            <a:r>
              <a:rPr lang="en-US" sz="1350" b="1">
                <a:solidFill>
                  <a:srgbClr val="E73555"/>
                </a:solidFill>
                <a:latin typeface="Microsoft YaHei"/>
                <a:ea typeface="Microsoft YaHei"/>
              </a:rPr>
              <a:t>Virtual money only. No advice.</a:t>
            </a:r>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2026-10-26T21:04:30Z</dcterms:created>
  <dcterms:modified xsi:type="dcterms:W3CDTF">2026-10-26T21:04:30Z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{"AIGC":{"Label":"1","ContentProducer":"00119111010856365494821B355","ProduceID":"01a1779862a9769e984b4ebc5df22d1b","ReservedCode1":"","ContentPropagator":"00119111010856365494821B355","PropagateID":"01a1779862a9769e984b4ebc5df22d1b","ReservedCode2":""}}</vt:lpwstr>
  </property>
</Properties>
</file>